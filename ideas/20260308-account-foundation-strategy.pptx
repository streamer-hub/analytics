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Text 0"/>
          <p:cNvSpPr/>
          <p:nvPr/>
        </p:nvSpPr>
        <p:spPr>
          <a:xfrm>
            <a:off x="6350050" y="0"/>
            <a:ext cx="2793950" cy="5143500"/>
          </a:xfrm>
          <a:prstGeom prst="rect">
            <a:avLst/>
          </a:prstGeom>
          <a:solidFill>
            <a:srgbClr val="243040"/>
          </a:solidFill>
          <a:ln/>
        </p:spPr>
        <p:txBody>
          <a:bodyPr wrap="square" rtlCol="0" anchor="ctr"/>
          <a:lstStyle/>
          <a:p>
            <a:pPr indent="0" marL="0">
              <a:buNone/>
            </a:pPr>
            <a:endParaRPr lang="en-US" dirty="0"/>
          </a:p>
        </p:txBody>
      </p:sp>
      <p:sp>
        <p:nvSpPr>
          <p:cNvPr id="3" name="Text 1"/>
          <p:cNvSpPr/>
          <p:nvPr/>
        </p:nvSpPr>
        <p:spPr>
          <a:xfrm>
            <a:off x="7521029" y="876449"/>
            <a:ext cx="461031" cy="466725"/>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13</a:t>
            </a:r>
            <a:endParaRPr lang="en-US" sz="3200" dirty="0"/>
          </a:p>
        </p:txBody>
      </p:sp>
      <p:sp>
        <p:nvSpPr>
          <p:cNvPr id="4" name="Text 2"/>
          <p:cNvSpPr/>
          <p:nvPr/>
        </p:nvSpPr>
        <p:spPr>
          <a:xfrm>
            <a:off x="7358481" y="1393924"/>
            <a:ext cx="777088" cy="200025"/>
          </a:xfrm>
          <a:prstGeom prst="rect">
            <a:avLst/>
          </a:prstGeom>
          <a:noFill/>
          <a:ln/>
        </p:spPr>
        <p:txBody>
          <a:bodyPr wrap="square" lIns="0" tIns="0" rIns="0" bIns="0" rtlCol="0" anchor="t"/>
          <a:lstStyle/>
          <a:p>
            <a:pPr algn="ctr" indent="0" marL="0">
              <a:spcBef>
                <a:spcPts val="400"/>
              </a:spcBef>
              <a:buNone/>
            </a:pPr>
            <a:r>
              <a:rPr lang="en-US" sz="1000" dirty="0">
                <a:solidFill>
                  <a:srgbClr val="607080"/>
                </a:solidFill>
                <a:latin typeface="Arial" pitchFamily="34" charset="0"/>
                <a:ea typeface="Arial" pitchFamily="34" charset="-122"/>
                <a:cs typeface="Arial" pitchFamily="34" charset="-120"/>
              </a:rPr>
              <a:t>フォロワー数</a:t>
            </a:r>
            <a:endParaRPr lang="en-US" sz="1000" dirty="0"/>
          </a:p>
        </p:txBody>
      </p:sp>
      <p:sp>
        <p:nvSpPr>
          <p:cNvPr id="5" name="Text 3"/>
          <p:cNvSpPr/>
          <p:nvPr/>
        </p:nvSpPr>
        <p:spPr>
          <a:xfrm>
            <a:off x="7493050" y="1797100"/>
            <a:ext cx="507950" cy="12650"/>
          </a:xfrm>
          <a:prstGeom prst="rect">
            <a:avLst/>
          </a:prstGeom>
          <a:solidFill>
            <a:srgbClr val="3A4A5A"/>
          </a:solidFill>
          <a:ln/>
        </p:spPr>
        <p:txBody>
          <a:bodyPr wrap="square" rtlCol="0" anchor="ctr"/>
          <a:lstStyle/>
          <a:p>
            <a:pPr indent="0" marL="0">
              <a:buNone/>
            </a:pPr>
            <a:endParaRPr lang="en-US" dirty="0"/>
          </a:p>
        </p:txBody>
      </p:sp>
      <p:sp>
        <p:nvSpPr>
          <p:cNvPr id="6" name="Text 4"/>
          <p:cNvSpPr/>
          <p:nvPr/>
        </p:nvSpPr>
        <p:spPr>
          <a:xfrm>
            <a:off x="7407920" y="2012900"/>
            <a:ext cx="691622" cy="466725"/>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379</a:t>
            </a:r>
            <a:endParaRPr lang="en-US" sz="3200" dirty="0"/>
          </a:p>
        </p:txBody>
      </p:sp>
      <p:sp>
        <p:nvSpPr>
          <p:cNvPr id="7" name="Text 5"/>
          <p:cNvSpPr/>
          <p:nvPr/>
        </p:nvSpPr>
        <p:spPr>
          <a:xfrm>
            <a:off x="7269676" y="2530376"/>
            <a:ext cx="954548" cy="400050"/>
          </a:xfrm>
          <a:prstGeom prst="rect">
            <a:avLst/>
          </a:prstGeom>
          <a:noFill/>
          <a:ln/>
        </p:spPr>
        <p:txBody>
          <a:bodyPr wrap="square" lIns="0" tIns="0" rIns="0" bIns="0" rtlCol="0" anchor="t"/>
          <a:lstStyle/>
          <a:p>
            <a:pPr algn="ctr" indent="0" marL="0">
              <a:spcBef>
                <a:spcPts val="400"/>
              </a:spcBef>
              <a:buNone/>
            </a:pPr>
            <a:r>
              <a:rPr lang="en-US" sz="1000" dirty="0">
                <a:solidFill>
                  <a:srgbClr val="607080"/>
                </a:solidFill>
                <a:latin typeface="Arial" pitchFamily="34" charset="0"/>
                <a:ea typeface="Arial" pitchFamily="34" charset="-122"/>
                <a:cs typeface="Arial" pitchFamily="34" charset="-120"/>
              </a:rPr>
              <a:t>NEWTOWN期間</a:t>
            </a:r>
            <a:endParaRPr lang="en-US" sz="1000" dirty="0"/>
          </a:p>
          <a:p>
            <a:pPr algn="ctr" indent="0" marL="0">
              <a:spcBef>
                <a:spcPts val="400"/>
              </a:spcBef>
              <a:buNone/>
            </a:pPr>
            <a:r>
              <a:rPr lang="en-US" sz="1000" dirty="0">
                <a:solidFill>
                  <a:srgbClr val="607080"/>
                </a:solidFill>
                <a:latin typeface="Arial" pitchFamily="34" charset="0"/>
                <a:ea typeface="Arial" pitchFamily="34" charset="-122"/>
                <a:cs typeface="Arial" pitchFamily="34" charset="-120"/>
              </a:rPr>
              <a:t>X流入ユーザー</a:t>
            </a:r>
            <a:endParaRPr lang="en-US" sz="1000" dirty="0"/>
          </a:p>
        </p:txBody>
      </p:sp>
      <p:sp>
        <p:nvSpPr>
          <p:cNvPr id="8" name="Text 6"/>
          <p:cNvSpPr/>
          <p:nvPr/>
        </p:nvSpPr>
        <p:spPr>
          <a:xfrm>
            <a:off x="7493050" y="3133576"/>
            <a:ext cx="507950" cy="12650"/>
          </a:xfrm>
          <a:prstGeom prst="rect">
            <a:avLst/>
          </a:prstGeom>
          <a:solidFill>
            <a:srgbClr val="3A4A5A"/>
          </a:solidFill>
          <a:ln/>
        </p:spPr>
        <p:txBody>
          <a:bodyPr wrap="square" rtlCol="0" anchor="ctr"/>
          <a:lstStyle/>
          <a:p>
            <a:pPr indent="0" marL="0">
              <a:buNone/>
            </a:pPr>
            <a:endParaRPr lang="en-US" dirty="0"/>
          </a:p>
        </p:txBody>
      </p:sp>
      <p:sp>
        <p:nvSpPr>
          <p:cNvPr id="9" name="Text 7"/>
          <p:cNvSpPr/>
          <p:nvPr/>
        </p:nvSpPr>
        <p:spPr>
          <a:xfrm>
            <a:off x="7633841" y="3349377"/>
            <a:ext cx="230591" cy="466725"/>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0</a:t>
            </a:r>
            <a:endParaRPr lang="en-US" sz="3200" dirty="0"/>
          </a:p>
        </p:txBody>
      </p:sp>
      <p:sp>
        <p:nvSpPr>
          <p:cNvPr id="10" name="Text 8"/>
          <p:cNvSpPr/>
          <p:nvPr/>
        </p:nvSpPr>
        <p:spPr>
          <a:xfrm>
            <a:off x="7293662" y="3866852"/>
            <a:ext cx="906578" cy="400050"/>
          </a:xfrm>
          <a:prstGeom prst="rect">
            <a:avLst/>
          </a:prstGeom>
          <a:noFill/>
          <a:ln/>
        </p:spPr>
        <p:txBody>
          <a:bodyPr wrap="square" lIns="0" tIns="0" rIns="0" bIns="0" rtlCol="0" anchor="t"/>
          <a:lstStyle/>
          <a:p>
            <a:pPr algn="ctr" indent="0" marL="0">
              <a:spcBef>
                <a:spcPts val="400"/>
              </a:spcBef>
              <a:buNone/>
            </a:pPr>
            <a:r>
              <a:rPr lang="en-US" sz="1000" dirty="0">
                <a:solidFill>
                  <a:srgbClr val="607080"/>
                </a:solidFill>
                <a:latin typeface="Arial" pitchFamily="34" charset="0"/>
                <a:ea typeface="Arial" pitchFamily="34" charset="-122"/>
                <a:cs typeface="Arial" pitchFamily="34" charset="-120"/>
              </a:rPr>
              <a:t>イベント後</a:t>
            </a:r>
            <a:endParaRPr lang="en-US" sz="1000" dirty="0"/>
          </a:p>
          <a:p>
            <a:pPr algn="ctr" indent="0" marL="0">
              <a:spcBef>
                <a:spcPts val="400"/>
              </a:spcBef>
              <a:buNone/>
            </a:pPr>
            <a:r>
              <a:rPr lang="en-US" sz="1000" dirty="0">
                <a:solidFill>
                  <a:srgbClr val="607080"/>
                </a:solidFill>
                <a:latin typeface="Arial" pitchFamily="34" charset="0"/>
                <a:ea typeface="Arial" pitchFamily="34" charset="-122"/>
                <a:cs typeface="Arial" pitchFamily="34" charset="-120"/>
              </a:rPr>
              <a:t>フォロワー増加</a:t>
            </a:r>
            <a:endParaRPr lang="en-US" sz="1000" dirty="0"/>
          </a:p>
        </p:txBody>
      </p:sp>
      <p:sp>
        <p:nvSpPr>
          <p:cNvPr id="11" name="Text 9"/>
          <p:cNvSpPr/>
          <p:nvPr/>
        </p:nvSpPr>
        <p:spPr>
          <a:xfrm>
            <a:off x="812750" y="884783"/>
            <a:ext cx="81275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12" name="Text 10"/>
          <p:cNvSpPr/>
          <p:nvPr/>
        </p:nvSpPr>
        <p:spPr>
          <a:xfrm>
            <a:off x="812750" y="1214884"/>
            <a:ext cx="1790233" cy="200025"/>
          </a:xfrm>
          <a:prstGeom prst="rect">
            <a:avLst/>
          </a:prstGeom>
          <a:noFill/>
          <a:ln/>
        </p:spPr>
        <p:txBody>
          <a:bodyPr wrap="square" lIns="0" tIns="0" rIns="0" bIns="0" rtlCol="0" anchor="t"/>
          <a:lstStyle/>
          <a:p>
            <a:pPr algn="l" indent="0" marL="0">
              <a:spcAft>
                <a:spcPts val="1000"/>
              </a:spcAft>
              <a:buNone/>
            </a:pPr>
            <a:r>
              <a:rPr lang="en-US" sz="1300" b="1" dirty="0">
                <a:solidFill>
                  <a:srgbClr val="00B4D8"/>
                </a:solidFill>
                <a:latin typeface="Arial" pitchFamily="34" charset="0"/>
                <a:ea typeface="Arial" pitchFamily="34" charset="-122"/>
                <a:cs typeface="Arial" pitchFamily="34" charset="-120"/>
              </a:rPr>
              <a:t>@StreamerHubJP</a:t>
            </a:r>
            <a:endParaRPr lang="en-US" sz="1300" dirty="0"/>
          </a:p>
        </p:txBody>
      </p:sp>
      <p:sp>
        <p:nvSpPr>
          <p:cNvPr id="13" name="Text 11"/>
          <p:cNvSpPr/>
          <p:nvPr/>
        </p:nvSpPr>
        <p:spPr>
          <a:xfrm>
            <a:off x="812750" y="1541859"/>
            <a:ext cx="2953208" cy="1158180"/>
          </a:xfrm>
          <a:prstGeom prst="rect">
            <a:avLst/>
          </a:prstGeom>
          <a:noFill/>
          <a:ln/>
        </p:spPr>
        <p:txBody>
          <a:bodyPr wrap="square" lIns="0" tIns="0" rIns="0" bIns="0" rtlCol="0" anchor="t"/>
          <a:lstStyle/>
          <a:p>
            <a:pPr algn="l" indent="0" marL="0">
              <a:lnSpc>
                <a:spcPts val="4560"/>
              </a:lnSpc>
              <a:spcAft>
                <a:spcPts val="1000"/>
              </a:spcAft>
              <a:buNone/>
            </a:pPr>
            <a:r>
              <a:rPr lang="en-US" sz="3800" dirty="0">
                <a:solidFill>
                  <a:srgbClr val="FFFFFF"/>
                </a:solidFill>
                <a:latin typeface="Arial" pitchFamily="34" charset="0"/>
                <a:ea typeface="Arial" pitchFamily="34" charset="-122"/>
                <a:cs typeface="Arial" pitchFamily="34" charset="-120"/>
              </a:rPr>
              <a:t>アカウント</a:t>
            </a:r>
            <a:endParaRPr lang="en-US" sz="3800" dirty="0"/>
          </a:p>
          <a:p>
            <a:pPr algn="l" indent="0" marL="0">
              <a:lnSpc>
                <a:spcPts val="4560"/>
              </a:lnSpc>
              <a:spcAft>
                <a:spcPts val="1000"/>
              </a:spcAft>
              <a:buNone/>
            </a:pPr>
            <a:r>
              <a:rPr lang="en-US" sz="3800" dirty="0">
                <a:solidFill>
                  <a:srgbClr val="FFFFFF"/>
                </a:solidFill>
                <a:latin typeface="Arial" pitchFamily="34" charset="0"/>
                <a:ea typeface="Arial" pitchFamily="34" charset="-122"/>
                <a:cs typeface="Arial" pitchFamily="34" charset="-120"/>
              </a:rPr>
              <a:t>土台構築戦略</a:t>
            </a:r>
            <a:endParaRPr lang="en-US" sz="3800" dirty="0"/>
          </a:p>
        </p:txBody>
      </p:sp>
      <p:sp>
        <p:nvSpPr>
          <p:cNvPr id="14" name="Text 12"/>
          <p:cNvSpPr/>
          <p:nvPr/>
        </p:nvSpPr>
        <p:spPr>
          <a:xfrm>
            <a:off x="812750" y="2826990"/>
            <a:ext cx="3530673" cy="571500"/>
          </a:xfrm>
          <a:prstGeom prst="rect">
            <a:avLst/>
          </a:prstGeom>
          <a:noFill/>
          <a:ln/>
        </p:spPr>
        <p:txBody>
          <a:bodyPr wrap="square" lIns="0" tIns="0" rIns="0" bIns="0" rtlCol="0" anchor="t"/>
          <a:lstStyle/>
          <a:p>
            <a:pPr algn="l" indent="0" marL="0">
              <a:spcAft>
                <a:spcPts val="3200"/>
              </a:spcAft>
              <a:buNone/>
            </a:pPr>
            <a:r>
              <a:rPr lang="en-US" sz="1500" dirty="0">
                <a:solidFill>
                  <a:srgbClr val="A0B4C8"/>
                </a:solidFill>
                <a:latin typeface="Arial" pitchFamily="34" charset="0"/>
                <a:ea typeface="Arial" pitchFamily="34" charset="-122"/>
                <a:cs typeface="Arial" pitchFamily="34" charset="-120"/>
              </a:rPr>
              <a:t>NEWTOWNキャンペーン後の方針転換と</a:t>
            </a:r>
            <a:endParaRPr lang="en-US" sz="1500" dirty="0"/>
          </a:p>
          <a:p>
            <a:pPr algn="l" indent="0" marL="0">
              <a:spcAft>
                <a:spcPts val="3200"/>
              </a:spcAft>
              <a:buNone/>
            </a:pPr>
            <a:r>
              <a:rPr lang="en-US" sz="1500" dirty="0">
                <a:solidFill>
                  <a:srgbClr val="A0B4C8"/>
                </a:solidFill>
                <a:latin typeface="Arial" pitchFamily="34" charset="0"/>
                <a:ea typeface="Arial" pitchFamily="34" charset="-122"/>
                <a:cs typeface="Arial" pitchFamily="34" charset="-120"/>
              </a:rPr>
              <a:t>持続的な成長設計</a:t>
            </a:r>
            <a:endParaRPr lang="en-US" sz="1500" dirty="0"/>
          </a:p>
        </p:txBody>
      </p:sp>
      <p:sp>
        <p:nvSpPr>
          <p:cNvPr id="15" name="Text 13"/>
          <p:cNvSpPr/>
          <p:nvPr/>
        </p:nvSpPr>
        <p:spPr>
          <a:xfrm>
            <a:off x="812750" y="3804791"/>
            <a:ext cx="795153"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作成日</a:t>
            </a:r>
            <a:endParaRPr lang="en-US" sz="1000" dirty="0"/>
          </a:p>
        </p:txBody>
      </p:sp>
      <p:sp>
        <p:nvSpPr>
          <p:cNvPr id="16" name="Text 14"/>
          <p:cNvSpPr/>
          <p:nvPr/>
        </p:nvSpPr>
        <p:spPr>
          <a:xfrm>
            <a:off x="812750" y="4030117"/>
            <a:ext cx="795153" cy="171450"/>
          </a:xfrm>
          <a:prstGeom prst="rect">
            <a:avLst/>
          </a:prstGeom>
          <a:noFill/>
          <a:ln/>
        </p:spPr>
        <p:txBody>
          <a:bodyPr wrap="square" lIns="0" tIns="0" rIns="0" bIns="0" rtlCol="0" anchor="t"/>
          <a:lstStyle/>
          <a:p>
            <a:pPr algn="l" indent="0" marL="0">
              <a:spcBef>
                <a:spcPts val="200"/>
              </a:spcBef>
              <a:buNone/>
            </a:pPr>
            <a:r>
              <a:rPr lang="en-US" sz="1200" b="1" dirty="0">
                <a:solidFill>
                  <a:srgbClr val="A0B4C8"/>
                </a:solidFill>
                <a:latin typeface="Arial" pitchFamily="34" charset="0"/>
                <a:ea typeface="Arial" pitchFamily="34" charset="-122"/>
                <a:cs typeface="Arial" pitchFamily="34" charset="-120"/>
              </a:rPr>
              <a:t>2026-03-08</a:t>
            </a:r>
            <a:endParaRPr lang="en-US" sz="1200" dirty="0"/>
          </a:p>
        </p:txBody>
      </p:sp>
      <p:sp>
        <p:nvSpPr>
          <p:cNvPr id="17" name="Text 15"/>
          <p:cNvSpPr/>
          <p:nvPr/>
        </p:nvSpPr>
        <p:spPr>
          <a:xfrm>
            <a:off x="1897112" y="3804791"/>
            <a:ext cx="777240"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フェーズ</a:t>
            </a:r>
            <a:endParaRPr lang="en-US" sz="1000" dirty="0"/>
          </a:p>
        </p:txBody>
      </p:sp>
      <p:sp>
        <p:nvSpPr>
          <p:cNvPr id="18" name="Text 16"/>
          <p:cNvSpPr/>
          <p:nvPr/>
        </p:nvSpPr>
        <p:spPr>
          <a:xfrm>
            <a:off x="1897112" y="4030117"/>
            <a:ext cx="777240" cy="228600"/>
          </a:xfrm>
          <a:prstGeom prst="rect">
            <a:avLst/>
          </a:prstGeom>
          <a:noFill/>
          <a:ln/>
        </p:spPr>
        <p:txBody>
          <a:bodyPr wrap="square" lIns="0" tIns="0" rIns="0" bIns="0" rtlCol="0" anchor="t"/>
          <a:lstStyle/>
          <a:p>
            <a:pPr algn="l" indent="0" marL="0">
              <a:spcBef>
                <a:spcPts val="200"/>
              </a:spcBef>
              <a:buNone/>
            </a:pPr>
            <a:r>
              <a:rPr lang="en-US" sz="1200" b="1" dirty="0">
                <a:solidFill>
                  <a:srgbClr val="A0B4C8"/>
                </a:solidFill>
                <a:latin typeface="Arial" pitchFamily="34" charset="0"/>
                <a:ea typeface="Arial" pitchFamily="34" charset="-122"/>
                <a:cs typeface="Arial" pitchFamily="34" charset="-120"/>
              </a:rPr>
              <a:t>土台構築期</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19125"/>
          </a:xfrm>
          <a:prstGeom prst="rect">
            <a:avLst/>
          </a:prstGeom>
          <a:solidFill>
            <a:srgbClr val="1E2A3A"/>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4" name="Text 2"/>
          <p:cNvSpPr/>
          <p:nvPr/>
        </p:nvSpPr>
        <p:spPr>
          <a:xfrm>
            <a:off x="736550" y="152400"/>
            <a:ext cx="829005"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現状把握</a:t>
            </a:r>
            <a:endParaRPr lang="en-US" sz="1600" dirty="0"/>
          </a:p>
        </p:txBody>
      </p:sp>
      <p:sp>
        <p:nvSpPr>
          <p:cNvPr id="5" name="Text 3"/>
          <p:cNvSpPr/>
          <p:nvPr/>
        </p:nvSpPr>
        <p:spPr>
          <a:xfrm>
            <a:off x="1701701" y="209550"/>
            <a:ext cx="2415061"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アカウントの現在地とNEWTOWN結果</a:t>
            </a:r>
            <a:endParaRPr lang="en-US" sz="1000" dirty="0"/>
          </a:p>
        </p:txBody>
      </p:sp>
      <p:sp>
        <p:nvSpPr>
          <p:cNvPr id="6" name="Text 4"/>
          <p:cNvSpPr/>
          <p:nvPr/>
        </p:nvSpPr>
        <p:spPr>
          <a:xfrm>
            <a:off x="507950" y="796826"/>
            <a:ext cx="3937099" cy="1498402"/>
          </a:xfrm>
          <a:prstGeom prst="roundRect">
            <a:avLst>
              <a:gd name="adj" fmla="val 6781"/>
            </a:avLst>
          </a:prstGeom>
          <a:solidFill>
            <a:srgbClr val="FFFFFF"/>
          </a:solidFill>
          <a:ln/>
          <a:effectLst>
            <a:outerShdw sx="100000" sy="100000" kx="0" ky="0" algn="bl" rotWithShape="0" blurRad="38100" dist="9525" dir="5400000">
              <a:srgbClr val="000000">
                <a:alpha val="8000"/>
              </a:srgbClr>
            </a:outerShdw>
          </a:effectLst>
        </p:spPr>
        <p:txBody>
          <a:bodyPr wrap="square" rtlCol="0" anchor="ctr"/>
          <a:lstStyle/>
          <a:p>
            <a:pPr indent="0" marL="0">
              <a:buNone/>
            </a:pPr>
            <a:endParaRPr lang="en-US" dirty="0"/>
          </a:p>
        </p:txBody>
      </p:sp>
      <p:sp>
        <p:nvSpPr>
          <p:cNvPr id="7" name="Text 5"/>
          <p:cNvSpPr/>
          <p:nvPr/>
        </p:nvSpPr>
        <p:spPr>
          <a:xfrm>
            <a:off x="634901" y="923776"/>
            <a:ext cx="3756862" cy="200025"/>
          </a:xfrm>
          <a:prstGeom prst="rect">
            <a:avLst/>
          </a:prstGeom>
          <a:noFill/>
          <a:ln/>
        </p:spPr>
        <p:txBody>
          <a:bodyPr wrap="square" lIns="0" tIns="0" rIns="0" bIns="0" rtlCol="0" anchor="t"/>
          <a:lstStyle/>
          <a:p>
            <a:pPr algn="l" indent="0" marL="0">
              <a:spcAft>
                <a:spcPts val="800"/>
              </a:spcAft>
              <a:buNone/>
            </a:pPr>
            <a:r>
              <a:rPr lang="en-US" sz="1000" b="1" dirty="0">
                <a:solidFill>
                  <a:srgbClr val="1E2A3A"/>
                </a:solidFill>
                <a:latin typeface="Arial" pitchFamily="34" charset="0"/>
                <a:ea typeface="Arial" pitchFamily="34" charset="-122"/>
                <a:cs typeface="Arial" pitchFamily="34" charset="-120"/>
              </a:rPr>
              <a:t>アカウント基本状態</a:t>
            </a:r>
            <a:endParaRPr lang="en-US" sz="1000" dirty="0"/>
          </a:p>
        </p:txBody>
      </p:sp>
      <p:sp>
        <p:nvSpPr>
          <p:cNvPr id="8" name="Text 6"/>
          <p:cNvSpPr/>
          <p:nvPr/>
        </p:nvSpPr>
        <p:spPr>
          <a:xfrm>
            <a:off x="634901" y="1225302"/>
            <a:ext cx="1765399" cy="942975"/>
          </a:xfrm>
          <a:prstGeom prst="roundRect">
            <a:avLst>
              <a:gd name="adj" fmla="val 8081"/>
            </a:avLst>
          </a:prstGeom>
          <a:solidFill>
            <a:srgbClr val="FFF5F5"/>
          </a:solidFill>
          <a:ln/>
        </p:spPr>
        <p:txBody>
          <a:bodyPr wrap="square" rtlCol="0" anchor="ctr"/>
          <a:lstStyle/>
          <a:p>
            <a:pPr indent="0" marL="0">
              <a:buNone/>
            </a:pPr>
            <a:endParaRPr lang="en-US" dirty="0"/>
          </a:p>
        </p:txBody>
      </p:sp>
      <p:sp>
        <p:nvSpPr>
          <p:cNvPr id="9" name="Shape 7"/>
          <p:cNvSpPr/>
          <p:nvPr/>
        </p:nvSpPr>
        <p:spPr>
          <a:xfrm>
            <a:off x="658713" y="1225302"/>
            <a:ext cx="0" cy="942975"/>
          </a:xfrm>
          <a:prstGeom prst="line">
            <a:avLst/>
          </a:prstGeom>
          <a:noFill/>
          <a:ln w="47625">
            <a:solidFill>
              <a:srgbClr val="FF6B6B"/>
            </a:solidFill>
            <a:prstDash val="solid"/>
          </a:ln>
        </p:spPr>
      </p:sp>
      <p:sp>
        <p:nvSpPr>
          <p:cNvPr id="10" name="Text 8"/>
          <p:cNvSpPr/>
          <p:nvPr/>
        </p:nvSpPr>
        <p:spPr>
          <a:xfrm>
            <a:off x="834926" y="1377702"/>
            <a:ext cx="1441234" cy="323850"/>
          </a:xfrm>
          <a:prstGeom prst="rect">
            <a:avLst/>
          </a:prstGeom>
          <a:noFill/>
          <a:ln/>
        </p:spPr>
        <p:txBody>
          <a:bodyPr wrap="square" lIns="0" tIns="0" rIns="0" bIns="0" rtlCol="0" anchor="t"/>
          <a:lstStyle/>
          <a:p>
            <a:pPr algn="l" indent="0" marL="0">
              <a:buNone/>
            </a:pPr>
            <a:r>
              <a:rPr lang="en-US" sz="2200" b="1" dirty="0">
                <a:solidFill>
                  <a:srgbClr val="FF6B6B"/>
                </a:solidFill>
                <a:latin typeface="Arial" pitchFamily="34" charset="0"/>
                <a:ea typeface="Arial" pitchFamily="34" charset="-122"/>
                <a:cs typeface="Arial" pitchFamily="34" charset="-120"/>
              </a:rPr>
              <a:t>13</a:t>
            </a:r>
            <a:endParaRPr lang="en-US" sz="2200" dirty="0"/>
          </a:p>
        </p:txBody>
      </p:sp>
      <p:sp>
        <p:nvSpPr>
          <p:cNvPr id="11" name="Text 9"/>
          <p:cNvSpPr/>
          <p:nvPr/>
        </p:nvSpPr>
        <p:spPr>
          <a:xfrm>
            <a:off x="834926" y="1739652"/>
            <a:ext cx="1441234" cy="171450"/>
          </a:xfrm>
          <a:prstGeom prst="rect">
            <a:avLst/>
          </a:prstGeom>
          <a:noFill/>
          <a:ln/>
        </p:spPr>
        <p:txBody>
          <a:bodyPr wrap="square" lIns="0" tIns="0" rIns="0" bIns="0" rtlCol="0" anchor="t"/>
          <a:lstStyle/>
          <a:p>
            <a:pPr algn="l" indent="0" marL="0">
              <a:spcBef>
                <a:spcPts val="300"/>
              </a:spcBef>
              <a:buNone/>
            </a:pPr>
            <a:r>
              <a:rPr lang="en-US" sz="900" dirty="0">
                <a:solidFill>
                  <a:srgbClr val="607080"/>
                </a:solidFill>
                <a:latin typeface="Arial" pitchFamily="34" charset="0"/>
                <a:ea typeface="Arial" pitchFamily="34" charset="-122"/>
                <a:cs typeface="Arial" pitchFamily="34" charset="-120"/>
              </a:rPr>
              <a:t>フォロワー数</a:t>
            </a:r>
            <a:endParaRPr lang="en-US" sz="900" dirty="0"/>
          </a:p>
        </p:txBody>
      </p:sp>
      <p:sp>
        <p:nvSpPr>
          <p:cNvPr id="12" name="Text 10"/>
          <p:cNvSpPr/>
          <p:nvPr/>
        </p:nvSpPr>
        <p:spPr>
          <a:xfrm>
            <a:off x="2552700" y="1225302"/>
            <a:ext cx="1765399" cy="942975"/>
          </a:xfrm>
          <a:prstGeom prst="roundRect">
            <a:avLst>
              <a:gd name="adj" fmla="val 8081"/>
            </a:avLst>
          </a:prstGeom>
          <a:solidFill>
            <a:srgbClr val="F0F8FF"/>
          </a:solidFill>
          <a:ln/>
        </p:spPr>
        <p:txBody>
          <a:bodyPr wrap="square" rtlCol="0" anchor="ctr"/>
          <a:lstStyle/>
          <a:p>
            <a:pPr indent="0" marL="0">
              <a:buNone/>
            </a:pPr>
            <a:endParaRPr lang="en-US" dirty="0"/>
          </a:p>
        </p:txBody>
      </p:sp>
      <p:sp>
        <p:nvSpPr>
          <p:cNvPr id="13" name="Shape 11"/>
          <p:cNvSpPr/>
          <p:nvPr/>
        </p:nvSpPr>
        <p:spPr>
          <a:xfrm>
            <a:off x="2576512" y="1225302"/>
            <a:ext cx="0" cy="942975"/>
          </a:xfrm>
          <a:prstGeom prst="line">
            <a:avLst/>
          </a:prstGeom>
          <a:noFill/>
          <a:ln w="47625">
            <a:solidFill>
              <a:srgbClr val="00B4D8"/>
            </a:solidFill>
            <a:prstDash val="solid"/>
          </a:ln>
        </p:spPr>
      </p:sp>
      <p:sp>
        <p:nvSpPr>
          <p:cNvPr id="14" name="Text 12"/>
          <p:cNvSpPr/>
          <p:nvPr/>
        </p:nvSpPr>
        <p:spPr>
          <a:xfrm>
            <a:off x="2752725" y="1377702"/>
            <a:ext cx="1441234" cy="428625"/>
          </a:xfrm>
          <a:prstGeom prst="rect">
            <a:avLst/>
          </a:prstGeom>
          <a:noFill/>
          <a:ln/>
        </p:spPr>
        <p:txBody>
          <a:bodyPr wrap="square" lIns="0" tIns="0" rIns="0" bIns="0" rtlCol="0" anchor="t"/>
          <a:lstStyle/>
          <a:p>
            <a:pPr algn="l" indent="0" marL="0">
              <a:buNone/>
            </a:pPr>
            <a:r>
              <a:rPr lang="en-US" sz="2200" b="1" dirty="0">
                <a:solidFill>
                  <a:srgbClr val="1E2A3A"/>
                </a:solidFill>
                <a:latin typeface="Arial" pitchFamily="34" charset="0"/>
                <a:ea typeface="Arial" pitchFamily="34" charset="-122"/>
                <a:cs typeface="Arial" pitchFamily="34" charset="-120"/>
              </a:rPr>
              <a:t>6日</a:t>
            </a:r>
            <a:endParaRPr lang="en-US" sz="2200" dirty="0"/>
          </a:p>
        </p:txBody>
      </p:sp>
      <p:sp>
        <p:nvSpPr>
          <p:cNvPr id="15" name="Text 13"/>
          <p:cNvSpPr/>
          <p:nvPr/>
        </p:nvSpPr>
        <p:spPr>
          <a:xfrm>
            <a:off x="2752725" y="1844427"/>
            <a:ext cx="1441234" cy="171450"/>
          </a:xfrm>
          <a:prstGeom prst="rect">
            <a:avLst/>
          </a:prstGeom>
          <a:noFill/>
          <a:ln/>
        </p:spPr>
        <p:txBody>
          <a:bodyPr wrap="square" lIns="0" tIns="0" rIns="0" bIns="0" rtlCol="0" anchor="t"/>
          <a:lstStyle/>
          <a:p>
            <a:pPr algn="l" indent="0" marL="0">
              <a:spcBef>
                <a:spcPts val="300"/>
              </a:spcBef>
              <a:buNone/>
            </a:pPr>
            <a:r>
              <a:rPr lang="en-US" sz="900" dirty="0">
                <a:solidFill>
                  <a:srgbClr val="607080"/>
                </a:solidFill>
                <a:latin typeface="Arial" pitchFamily="34" charset="0"/>
                <a:ea typeface="Arial" pitchFamily="34" charset="-122"/>
                <a:cs typeface="Arial" pitchFamily="34" charset="-120"/>
              </a:rPr>
              <a:t>投稿空白期間</a:t>
            </a:r>
            <a:endParaRPr lang="en-US" sz="900" dirty="0"/>
          </a:p>
        </p:txBody>
      </p:sp>
      <p:sp>
        <p:nvSpPr>
          <p:cNvPr id="16" name="Text 14"/>
          <p:cNvSpPr/>
          <p:nvPr/>
        </p:nvSpPr>
        <p:spPr>
          <a:xfrm>
            <a:off x="507950" y="2447627"/>
            <a:ext cx="3937099" cy="1850529"/>
          </a:xfrm>
          <a:prstGeom prst="roundRect">
            <a:avLst>
              <a:gd name="adj" fmla="val 5490"/>
            </a:avLst>
          </a:prstGeom>
          <a:solidFill>
            <a:srgbClr val="FFFFFF"/>
          </a:solidFill>
          <a:ln/>
          <a:effectLst>
            <a:outerShdw sx="100000" sy="100000" kx="0" ky="0" algn="bl" rotWithShape="0" blurRad="38100" dist="9525" dir="5400000">
              <a:srgbClr val="000000">
                <a:alpha val="8000"/>
              </a:srgbClr>
            </a:outerShdw>
          </a:effectLst>
        </p:spPr>
        <p:txBody>
          <a:bodyPr wrap="square" rtlCol="0" anchor="ctr"/>
          <a:lstStyle/>
          <a:p>
            <a:pPr indent="0" marL="0">
              <a:buNone/>
            </a:pPr>
            <a:endParaRPr lang="en-US" dirty="0"/>
          </a:p>
        </p:txBody>
      </p:sp>
      <p:sp>
        <p:nvSpPr>
          <p:cNvPr id="17" name="Text 15"/>
          <p:cNvSpPr/>
          <p:nvPr/>
        </p:nvSpPr>
        <p:spPr>
          <a:xfrm>
            <a:off x="634901" y="2574578"/>
            <a:ext cx="3756862" cy="200025"/>
          </a:xfrm>
          <a:prstGeom prst="rect">
            <a:avLst/>
          </a:prstGeom>
          <a:noFill/>
          <a:ln/>
        </p:spPr>
        <p:txBody>
          <a:bodyPr wrap="square" lIns="0" tIns="0" rIns="0" bIns="0" rtlCol="0" anchor="t"/>
          <a:lstStyle/>
          <a:p>
            <a:pPr algn="l" indent="0" marL="0">
              <a:spcAft>
                <a:spcPts val="800"/>
              </a:spcAft>
              <a:buNone/>
            </a:pPr>
            <a:r>
              <a:rPr lang="en-US" sz="1000" b="1" dirty="0">
                <a:solidFill>
                  <a:srgbClr val="1E2A3A"/>
                </a:solidFill>
                <a:latin typeface="Arial" pitchFamily="34" charset="0"/>
                <a:ea typeface="Arial" pitchFamily="34" charset="-122"/>
                <a:cs typeface="Arial" pitchFamily="34" charset="-120"/>
              </a:rPr>
              <a:t>NEWTOWNキャンペーン（2/17〜3/2）成果</a:t>
            </a:r>
            <a:endParaRPr lang="en-US" sz="1000" dirty="0"/>
          </a:p>
        </p:txBody>
      </p:sp>
      <p:sp>
        <p:nvSpPr>
          <p:cNvPr id="18" name="Text 16"/>
          <p:cNvSpPr/>
          <p:nvPr/>
        </p:nvSpPr>
        <p:spPr>
          <a:xfrm>
            <a:off x="634901" y="2876104"/>
            <a:ext cx="965002" cy="247650"/>
          </a:xfrm>
          <a:prstGeom prst="roundRect">
            <a:avLst>
              <a:gd name="adj" fmla="val 20513"/>
            </a:avLst>
          </a:prstGeom>
          <a:solidFill>
            <a:srgbClr val="E6F4F1"/>
          </a:solidFill>
          <a:ln/>
        </p:spPr>
        <p:txBody>
          <a:bodyPr wrap="square" rtlCol="0" anchor="ctr"/>
          <a:lstStyle/>
          <a:p>
            <a:pPr indent="0" marL="0">
              <a:buNone/>
            </a:pPr>
            <a:endParaRPr lang="en-US" dirty="0"/>
          </a:p>
        </p:txBody>
      </p:sp>
      <p:sp>
        <p:nvSpPr>
          <p:cNvPr id="19" name="Text 17"/>
          <p:cNvSpPr/>
          <p:nvPr/>
        </p:nvSpPr>
        <p:spPr>
          <a:xfrm>
            <a:off x="728782" y="2914204"/>
            <a:ext cx="777240" cy="171450"/>
          </a:xfrm>
          <a:prstGeom prst="rect">
            <a:avLst/>
          </a:prstGeom>
          <a:noFill/>
          <a:ln/>
        </p:spPr>
        <p:txBody>
          <a:bodyPr wrap="square" lIns="0" tIns="0" rIns="0" bIns="0" rtlCol="0" anchor="t"/>
          <a:lstStyle/>
          <a:p>
            <a:pPr algn="ctr" indent="0" marL="0">
              <a:buNone/>
            </a:pPr>
            <a:r>
              <a:rPr lang="en-US" sz="900" b="1" dirty="0">
                <a:solidFill>
                  <a:srgbClr val="00897B"/>
                </a:solidFill>
                <a:latin typeface="Arial" pitchFamily="34" charset="0"/>
                <a:ea typeface="Arial" pitchFamily="34" charset="-122"/>
                <a:cs typeface="Arial" pitchFamily="34" charset="-120"/>
              </a:rPr>
              <a:t>X流入</a:t>
            </a:r>
            <a:endParaRPr lang="en-US" sz="900" dirty="0"/>
          </a:p>
        </p:txBody>
      </p:sp>
      <p:sp>
        <p:nvSpPr>
          <p:cNvPr id="20" name="Text 18"/>
          <p:cNvSpPr/>
          <p:nvPr/>
        </p:nvSpPr>
        <p:spPr>
          <a:xfrm>
            <a:off x="1701403" y="2899916"/>
            <a:ext cx="2155019"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379人がサイトに到達（全体の81%）</a:t>
            </a:r>
            <a:endParaRPr lang="en-US" sz="1000" dirty="0"/>
          </a:p>
        </p:txBody>
      </p:sp>
      <p:sp>
        <p:nvSpPr>
          <p:cNvPr id="21" name="Text 19"/>
          <p:cNvSpPr/>
          <p:nvPr/>
        </p:nvSpPr>
        <p:spPr>
          <a:xfrm>
            <a:off x="634901" y="3225254"/>
            <a:ext cx="965002" cy="247650"/>
          </a:xfrm>
          <a:prstGeom prst="roundRect">
            <a:avLst>
              <a:gd name="adj" fmla="val 20513"/>
            </a:avLst>
          </a:prstGeom>
          <a:solidFill>
            <a:srgbClr val="E6F4F1"/>
          </a:solidFill>
          <a:ln/>
        </p:spPr>
        <p:txBody>
          <a:bodyPr wrap="square" rtlCol="0" anchor="ctr"/>
          <a:lstStyle/>
          <a:p>
            <a:pPr indent="0" marL="0">
              <a:buNone/>
            </a:pPr>
            <a:endParaRPr lang="en-US" dirty="0"/>
          </a:p>
        </p:txBody>
      </p:sp>
      <p:sp>
        <p:nvSpPr>
          <p:cNvPr id="22" name="Text 20"/>
          <p:cNvSpPr/>
          <p:nvPr/>
        </p:nvSpPr>
        <p:spPr>
          <a:xfrm>
            <a:off x="728782" y="3263354"/>
            <a:ext cx="777240" cy="171450"/>
          </a:xfrm>
          <a:prstGeom prst="rect">
            <a:avLst/>
          </a:prstGeom>
          <a:noFill/>
          <a:ln/>
        </p:spPr>
        <p:txBody>
          <a:bodyPr wrap="square" lIns="0" tIns="0" rIns="0" bIns="0" rtlCol="0" anchor="t"/>
          <a:lstStyle/>
          <a:p>
            <a:pPr algn="ctr" indent="0" marL="0">
              <a:buNone/>
            </a:pPr>
            <a:r>
              <a:rPr lang="en-US" sz="900" b="1" dirty="0">
                <a:solidFill>
                  <a:srgbClr val="00897B"/>
                </a:solidFill>
                <a:latin typeface="Arial" pitchFamily="34" charset="0"/>
                <a:ea typeface="Arial" pitchFamily="34" charset="-122"/>
                <a:cs typeface="Arial" pitchFamily="34" charset="-120"/>
              </a:rPr>
              <a:t>総セッション</a:t>
            </a:r>
            <a:endParaRPr lang="en-US" sz="900" dirty="0"/>
          </a:p>
        </p:txBody>
      </p:sp>
      <p:sp>
        <p:nvSpPr>
          <p:cNvPr id="23" name="Text 21"/>
          <p:cNvSpPr/>
          <p:nvPr/>
        </p:nvSpPr>
        <p:spPr>
          <a:xfrm>
            <a:off x="1701403" y="3249067"/>
            <a:ext cx="1590761"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1,071件 / 平均滞在 8分32秒</a:t>
            </a:r>
            <a:endParaRPr lang="en-US" sz="1000" dirty="0"/>
          </a:p>
        </p:txBody>
      </p:sp>
      <p:sp>
        <p:nvSpPr>
          <p:cNvPr id="24" name="Text 22"/>
          <p:cNvSpPr/>
          <p:nvPr/>
        </p:nvSpPr>
        <p:spPr>
          <a:xfrm>
            <a:off x="634901" y="3574405"/>
            <a:ext cx="965002" cy="247650"/>
          </a:xfrm>
          <a:prstGeom prst="roundRect">
            <a:avLst>
              <a:gd name="adj" fmla="val 20513"/>
            </a:avLst>
          </a:prstGeom>
          <a:solidFill>
            <a:srgbClr val="E6F4F1"/>
          </a:solidFill>
          <a:ln/>
        </p:spPr>
        <p:txBody>
          <a:bodyPr wrap="square" rtlCol="0" anchor="ctr"/>
          <a:lstStyle/>
          <a:p>
            <a:pPr indent="0" marL="0">
              <a:buNone/>
            </a:pPr>
            <a:endParaRPr lang="en-US" dirty="0"/>
          </a:p>
        </p:txBody>
      </p:sp>
      <p:sp>
        <p:nvSpPr>
          <p:cNvPr id="25" name="Text 23"/>
          <p:cNvSpPr/>
          <p:nvPr/>
        </p:nvSpPr>
        <p:spPr>
          <a:xfrm>
            <a:off x="728782" y="3612505"/>
            <a:ext cx="777240" cy="171450"/>
          </a:xfrm>
          <a:prstGeom prst="rect">
            <a:avLst/>
          </a:prstGeom>
          <a:noFill/>
          <a:ln/>
        </p:spPr>
        <p:txBody>
          <a:bodyPr wrap="square" lIns="0" tIns="0" rIns="0" bIns="0" rtlCol="0" anchor="t"/>
          <a:lstStyle/>
          <a:p>
            <a:pPr algn="ctr" indent="0" marL="0">
              <a:buNone/>
            </a:pPr>
            <a:r>
              <a:rPr lang="en-US" sz="900" b="1" dirty="0">
                <a:solidFill>
                  <a:srgbClr val="00897B"/>
                </a:solidFill>
                <a:latin typeface="Arial" pitchFamily="34" charset="0"/>
                <a:ea typeface="Arial" pitchFamily="34" charset="-122"/>
                <a:cs typeface="Arial" pitchFamily="34" charset="-120"/>
              </a:rPr>
              <a:t>最高CTR</a:t>
            </a:r>
            <a:endParaRPr lang="en-US" sz="900" dirty="0"/>
          </a:p>
        </p:txBody>
      </p:sp>
      <p:sp>
        <p:nvSpPr>
          <p:cNvPr id="26" name="Text 24"/>
          <p:cNvSpPr/>
          <p:nvPr/>
        </p:nvSpPr>
        <p:spPr>
          <a:xfrm>
            <a:off x="1701403" y="3598218"/>
            <a:ext cx="2170048"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4.28%（サービス登録告知ツイート）</a:t>
            </a:r>
            <a:endParaRPr lang="en-US" sz="1000" dirty="0"/>
          </a:p>
        </p:txBody>
      </p:sp>
      <p:sp>
        <p:nvSpPr>
          <p:cNvPr id="27" name="Text 25"/>
          <p:cNvSpPr/>
          <p:nvPr/>
        </p:nvSpPr>
        <p:spPr>
          <a:xfrm>
            <a:off x="634901" y="3923556"/>
            <a:ext cx="965002" cy="247650"/>
          </a:xfrm>
          <a:prstGeom prst="roundRect">
            <a:avLst>
              <a:gd name="adj" fmla="val 20513"/>
            </a:avLst>
          </a:prstGeom>
          <a:solidFill>
            <a:srgbClr val="FFF5F5"/>
          </a:solidFill>
          <a:ln/>
        </p:spPr>
        <p:txBody>
          <a:bodyPr wrap="square" rtlCol="0" anchor="ctr"/>
          <a:lstStyle/>
          <a:p>
            <a:pPr indent="0" marL="0">
              <a:buNone/>
            </a:pPr>
            <a:endParaRPr lang="en-US" dirty="0"/>
          </a:p>
        </p:txBody>
      </p:sp>
      <p:sp>
        <p:nvSpPr>
          <p:cNvPr id="28" name="Text 26"/>
          <p:cNvSpPr/>
          <p:nvPr/>
        </p:nvSpPr>
        <p:spPr>
          <a:xfrm>
            <a:off x="728782" y="3961656"/>
            <a:ext cx="777240" cy="171450"/>
          </a:xfrm>
          <a:prstGeom prst="rect">
            <a:avLst/>
          </a:prstGeom>
          <a:noFill/>
          <a:ln/>
        </p:spPr>
        <p:txBody>
          <a:bodyPr wrap="square" lIns="0" tIns="0" rIns="0" bIns="0" rtlCol="0" anchor="t"/>
          <a:lstStyle/>
          <a:p>
            <a:pPr algn="ctr" indent="0" marL="0">
              <a:buNone/>
            </a:pPr>
            <a:r>
              <a:rPr lang="en-US" sz="900" b="1" dirty="0">
                <a:solidFill>
                  <a:srgbClr val="E53935"/>
                </a:solidFill>
                <a:latin typeface="Arial" pitchFamily="34" charset="0"/>
                <a:ea typeface="Arial" pitchFamily="34" charset="-122"/>
                <a:cs typeface="Arial" pitchFamily="34" charset="-120"/>
              </a:rPr>
              <a:t>フォロワー</a:t>
            </a:r>
            <a:endParaRPr lang="en-US" sz="900" dirty="0"/>
          </a:p>
        </p:txBody>
      </p:sp>
      <p:sp>
        <p:nvSpPr>
          <p:cNvPr id="29" name="Text 27"/>
          <p:cNvSpPr/>
          <p:nvPr/>
        </p:nvSpPr>
        <p:spPr>
          <a:xfrm>
            <a:off x="1701403" y="3947368"/>
            <a:ext cx="1842302"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増加数: </a:t>
            </a:r>
            <a:pPr algn="l" indent="0" marL="0">
              <a:buNone/>
            </a:pPr>
            <a:r>
              <a:rPr lang="en-US" sz="1000" b="1" dirty="0">
                <a:solidFill>
                  <a:srgbClr val="3A4A5A"/>
                </a:solidFill>
                <a:latin typeface="Arial" pitchFamily="34" charset="0"/>
                <a:ea typeface="Arial" pitchFamily="34" charset="-122"/>
                <a:cs typeface="Arial" pitchFamily="34" charset="-120"/>
              </a:rPr>
              <a:t>ほぼ0人</a:t>
            </a:r>
            <a:pPr algn="l" indent="0" marL="0">
              <a:buNone/>
            </a:pPr>
            <a:r>
              <a:rPr lang="en-US" sz="1000" dirty="0">
                <a:solidFill>
                  <a:srgbClr val="3A4A5A"/>
                </a:solidFill>
                <a:latin typeface="Arial" pitchFamily="34" charset="0"/>
                <a:ea typeface="Arial" pitchFamily="34" charset="-122"/>
                <a:cs typeface="Arial" pitchFamily="34" charset="-120"/>
              </a:rPr>
              <a:t>（13人のまま）</a:t>
            </a:r>
            <a:endParaRPr lang="en-US" sz="1000" dirty="0"/>
          </a:p>
        </p:txBody>
      </p:sp>
      <p:sp>
        <p:nvSpPr>
          <p:cNvPr id="30" name="Text 28"/>
          <p:cNvSpPr/>
          <p:nvPr/>
        </p:nvSpPr>
        <p:spPr>
          <a:xfrm>
            <a:off x="4698950" y="796826"/>
            <a:ext cx="3937099" cy="1583382"/>
          </a:xfrm>
          <a:prstGeom prst="roundRect">
            <a:avLst>
              <a:gd name="adj" fmla="val 6417"/>
            </a:avLst>
          </a:prstGeom>
          <a:solidFill>
            <a:srgbClr val="FFF8E1"/>
          </a:solidFill>
          <a:ln/>
        </p:spPr>
        <p:txBody>
          <a:bodyPr wrap="square" rtlCol="0" anchor="ctr"/>
          <a:lstStyle/>
          <a:p>
            <a:pPr indent="0" marL="0">
              <a:buNone/>
            </a:pPr>
            <a:endParaRPr lang="en-US" dirty="0"/>
          </a:p>
        </p:txBody>
      </p:sp>
      <p:sp>
        <p:nvSpPr>
          <p:cNvPr id="31" name="Shape 29"/>
          <p:cNvSpPr/>
          <p:nvPr/>
        </p:nvSpPr>
        <p:spPr>
          <a:xfrm>
            <a:off x="4722763" y="796826"/>
            <a:ext cx="0" cy="1583382"/>
          </a:xfrm>
          <a:prstGeom prst="line">
            <a:avLst/>
          </a:prstGeom>
          <a:noFill/>
          <a:ln w="47625">
            <a:solidFill>
              <a:srgbClr val="FFC107"/>
            </a:solidFill>
            <a:prstDash val="solid"/>
          </a:ln>
        </p:spPr>
      </p:sp>
      <p:sp>
        <p:nvSpPr>
          <p:cNvPr id="32" name="Text 30"/>
          <p:cNvSpPr/>
          <p:nvPr/>
        </p:nvSpPr>
        <p:spPr>
          <a:xfrm>
            <a:off x="4924276" y="974527"/>
            <a:ext cx="3604754" cy="200025"/>
          </a:xfrm>
          <a:prstGeom prst="rect">
            <a:avLst/>
          </a:prstGeom>
          <a:noFill/>
          <a:ln/>
        </p:spPr>
        <p:txBody>
          <a:bodyPr wrap="square" lIns="0" tIns="0" rIns="0" bIns="0" rtlCol="0" anchor="t"/>
          <a:lstStyle/>
          <a:p>
            <a:pPr algn="l" indent="0" marL="0">
              <a:spcAft>
                <a:spcPts val="600"/>
              </a:spcAft>
              <a:buNone/>
            </a:pPr>
            <a:r>
              <a:rPr lang="en-US" sz="1000" b="1" dirty="0">
                <a:solidFill>
                  <a:srgbClr val="B8860B"/>
                </a:solidFill>
                <a:latin typeface="Arial" pitchFamily="34" charset="0"/>
                <a:ea typeface="Arial" pitchFamily="34" charset="-122"/>
                <a:cs typeface="Arial" pitchFamily="34" charset="-120"/>
              </a:rPr>
              <a:t>構造的な問題点</a:t>
            </a:r>
            <a:endParaRPr lang="en-US" sz="1000" dirty="0"/>
          </a:p>
        </p:txBody>
      </p:sp>
      <p:sp>
        <p:nvSpPr>
          <p:cNvPr id="33" name="Text 31"/>
          <p:cNvSpPr/>
          <p:nvPr/>
        </p:nvSpPr>
        <p:spPr>
          <a:xfrm>
            <a:off x="4924276" y="1250752"/>
            <a:ext cx="3604754" cy="951756"/>
          </a:xfrm>
          <a:prstGeom prst="rect">
            <a:avLst/>
          </a:prstGeom>
          <a:noFill/>
          <a:ln/>
        </p:spPr>
        <p:txBody>
          <a:bodyPr wrap="square" lIns="0" tIns="0" rIns="0" bIns="0" rtlCol="0" anchor="t"/>
          <a:lstStyle/>
          <a:p>
            <a:pPr algn="l" indent="0" marL="0">
              <a:lnSpc>
                <a:spcPts val="1500"/>
              </a:lnSpc>
              <a:buNone/>
            </a:pPr>
            <a:r>
              <a:rPr lang="en-US" sz="1000" dirty="0">
                <a:solidFill>
                  <a:srgbClr val="5A4A20"/>
                </a:solidFill>
                <a:latin typeface="Arial" pitchFamily="34" charset="0"/>
                <a:ea typeface="Arial" pitchFamily="34" charset="-122"/>
                <a:cs typeface="Arial" pitchFamily="34" charset="-120"/>
              </a:rPr>
              <a:t>NEWTOWNキャンペーンは「流入装置」として機能したが、アカウント資産（フォロワー）がほぼ積み上がらなかった。</a:t>
            </a:r>
            <a:endParaRPr lang="en-US" sz="1000" dirty="0"/>
          </a:p>
          <a:p>
            <a:pPr algn="l" indent="0" marL="0">
              <a:lnSpc>
                <a:spcPts val="1500"/>
              </a:lnSpc>
              <a:buNone/>
            </a:pPr>
            <a:endParaRPr lang="en-US" sz="1000" dirty="0"/>
          </a:p>
          <a:p>
            <a:pPr algn="l" indent="0" marL="0">
              <a:lnSpc>
                <a:spcPts val="1500"/>
              </a:lnSpc>
              <a:buNone/>
            </a:pPr>
            <a:r>
              <a:rPr lang="en-US" sz="1000" dirty="0">
                <a:solidFill>
                  <a:srgbClr val="5A4A20"/>
                </a:solidFill>
                <a:latin typeface="Arial" pitchFamily="34" charset="0"/>
                <a:ea typeface="Arial" pitchFamily="34" charset="-122"/>
                <a:cs typeface="Arial" pitchFamily="34" charset="-120"/>
              </a:rPr>
              <a:t>イベント依存型の運用を続ける限り、次のイベントでも毎回ゼロベースでハッシュタグ頼みになる構造が続く。</a:t>
            </a:r>
            <a:endParaRPr lang="en-US" sz="1000" dirty="0"/>
          </a:p>
        </p:txBody>
      </p:sp>
      <p:sp>
        <p:nvSpPr>
          <p:cNvPr id="34" name="Text 32"/>
          <p:cNvSpPr/>
          <p:nvPr/>
        </p:nvSpPr>
        <p:spPr>
          <a:xfrm>
            <a:off x="4698950" y="2532608"/>
            <a:ext cx="3937099" cy="1558826"/>
          </a:xfrm>
          <a:prstGeom prst="roundRect">
            <a:avLst>
              <a:gd name="adj" fmla="val 6518"/>
            </a:avLst>
          </a:prstGeom>
          <a:solidFill>
            <a:srgbClr val="FFFFFF"/>
          </a:solidFill>
          <a:ln/>
          <a:effectLst>
            <a:outerShdw sx="100000" sy="100000" kx="0" ky="0" algn="bl" rotWithShape="0" blurRad="38100" dist="9525" dir="5400000">
              <a:srgbClr val="000000">
                <a:alpha val="8000"/>
              </a:srgbClr>
            </a:outerShdw>
          </a:effectLst>
        </p:spPr>
        <p:txBody>
          <a:bodyPr wrap="square" rtlCol="0" anchor="ctr"/>
          <a:lstStyle/>
          <a:p>
            <a:pPr indent="0" marL="0">
              <a:buNone/>
            </a:pPr>
            <a:endParaRPr lang="en-US" dirty="0"/>
          </a:p>
        </p:txBody>
      </p:sp>
      <p:sp>
        <p:nvSpPr>
          <p:cNvPr id="35" name="Text 33"/>
          <p:cNvSpPr/>
          <p:nvPr/>
        </p:nvSpPr>
        <p:spPr>
          <a:xfrm>
            <a:off x="4825901" y="2659559"/>
            <a:ext cx="3756862" cy="200025"/>
          </a:xfrm>
          <a:prstGeom prst="rect">
            <a:avLst/>
          </a:prstGeom>
          <a:noFill/>
          <a:ln/>
        </p:spPr>
        <p:txBody>
          <a:bodyPr wrap="square" lIns="0" tIns="0" rIns="0" bIns="0" rtlCol="0" anchor="t"/>
          <a:lstStyle/>
          <a:p>
            <a:pPr algn="l" indent="0" marL="0">
              <a:spcAft>
                <a:spcPts val="800"/>
              </a:spcAft>
              <a:buNone/>
            </a:pPr>
            <a:r>
              <a:rPr lang="en-US" sz="1000" b="1" dirty="0">
                <a:solidFill>
                  <a:srgbClr val="1E2A3A"/>
                </a:solidFill>
                <a:latin typeface="Arial" pitchFamily="34" charset="0"/>
                <a:ea typeface="Arial" pitchFamily="34" charset="-122"/>
                <a:cs typeface="Arial" pitchFamily="34" charset="-120"/>
              </a:rPr>
              <a:t>現在（2026-03-08）の状況</a:t>
            </a:r>
            <a:endParaRPr lang="en-US" sz="1000" dirty="0"/>
          </a:p>
        </p:txBody>
      </p:sp>
      <p:sp>
        <p:nvSpPr>
          <p:cNvPr id="36" name="Text 34"/>
          <p:cNvSpPr/>
          <p:nvPr/>
        </p:nvSpPr>
        <p:spPr>
          <a:xfrm>
            <a:off x="4825901" y="3011984"/>
            <a:ext cx="3683198" cy="800100"/>
          </a:xfrm>
          <a:prstGeom prst="rect">
            <a:avLst/>
          </a:prstGeom>
          <a:noFill/>
          <a:ln/>
        </p:spPr>
        <p:txBody>
          <a:bodyPr wrap="square" lIns="190500" tIns="0" rIns="0" bIns="0" rtlCol="0" anchor="t"/>
          <a:lstStyle/>
          <a:p>
            <a:pPr algn="l" indent="0" marL="0">
              <a:buNone/>
            </a:pPr>
            <a:endParaRPr lang="en-US" sz="1200" dirty="0"/>
          </a:p>
        </p:txBody>
      </p:sp>
      <p:sp>
        <p:nvSpPr>
          <p:cNvPr id="37" name="Text 35"/>
          <p:cNvSpPr/>
          <p:nvPr/>
        </p:nvSpPr>
        <p:spPr>
          <a:xfrm>
            <a:off x="5206901" y="3011984"/>
            <a:ext cx="3368242"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NEWTOWN終了から約1週間、投稿なし</a:t>
            </a:r>
            <a:endParaRPr lang="en-US" sz="1000" dirty="0"/>
          </a:p>
        </p:txBody>
      </p:sp>
      <p:sp>
        <p:nvSpPr>
          <p:cNvPr id="38" name="Text 36"/>
          <p:cNvSpPr/>
          <p:nvPr/>
        </p:nvSpPr>
        <p:spPr>
          <a:xfrm>
            <a:off x="5206901" y="3212009"/>
            <a:ext cx="3368242"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特定の次回イベントは未定</a:t>
            </a:r>
            <a:endParaRPr lang="en-US" sz="1000" dirty="0"/>
          </a:p>
        </p:txBody>
      </p:sp>
      <p:sp>
        <p:nvSpPr>
          <p:cNvPr id="39" name="Text 37"/>
          <p:cNvSpPr/>
          <p:nvPr/>
        </p:nvSpPr>
        <p:spPr>
          <a:xfrm>
            <a:off x="5206901" y="3412034"/>
            <a:ext cx="3368242"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タグ・トピック・クリップ機能が本日公開開始</a:t>
            </a:r>
            <a:endParaRPr lang="en-US" sz="1000" dirty="0"/>
          </a:p>
        </p:txBody>
      </p:sp>
      <p:sp>
        <p:nvSpPr>
          <p:cNvPr id="40" name="Text 38"/>
          <p:cNvSpPr/>
          <p:nvPr/>
        </p:nvSpPr>
        <p:spPr>
          <a:xfrm>
            <a:off x="5206901" y="3612059"/>
            <a:ext cx="3368242" cy="200025"/>
          </a:xfrm>
          <a:prstGeom prst="rect">
            <a:avLst/>
          </a:prstGeom>
          <a:noFill/>
          <a:ln/>
        </p:spPr>
        <p:txBody>
          <a:bodyPr wrap="square" lIns="0" tIns="0" rIns="0" bIns="0" rtlCol="0" anchor="t"/>
          <a:lstStyle/>
          <a:p>
            <a:pPr algn="l" indent="0" marL="0">
              <a:buNone/>
            </a:pPr>
            <a:r>
              <a:rPr lang="en-US" sz="1000" dirty="0">
                <a:solidFill>
                  <a:srgbClr val="3A4A5A"/>
                </a:solidFill>
                <a:latin typeface="Arial" pitchFamily="34" charset="0"/>
                <a:ea typeface="Arial" pitchFamily="34" charset="-122"/>
                <a:cs typeface="Arial" pitchFamily="34" charset="-120"/>
              </a:rPr>
              <a:t>自動連携の仕組みを構築中</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A3A"/>
        </a:solidFill>
      </p:bgPr>
    </p:bg>
    <p:spTree>
      <p:nvGrpSpPr>
        <p:cNvPr id="1" name=""/>
        <p:cNvGrpSpPr/>
        <p:nvPr/>
      </p:nvGrpSpPr>
      <p:grpSpPr>
        <a:xfrm>
          <a:off x="0" y="0"/>
          <a:ext cx="0" cy="0"/>
          <a:chOff x="0" y="0"/>
          <a:chExt cx="0" cy="0"/>
        </a:xfrm>
      </p:grpSpPr>
      <p:sp>
        <p:nvSpPr>
          <p:cNvPr id="2" name="Text 0"/>
          <p:cNvSpPr/>
          <p:nvPr/>
        </p:nvSpPr>
        <p:spPr>
          <a:xfrm>
            <a:off x="0" y="0"/>
            <a:ext cx="9144000" cy="593675"/>
          </a:xfrm>
          <a:prstGeom prst="rect">
            <a:avLst/>
          </a:prstGeom>
          <a:solidFill>
            <a:srgbClr val="243040"/>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FF6B6B"/>
          </a:solidFill>
          <a:ln/>
        </p:spPr>
        <p:txBody>
          <a:bodyPr wrap="square" rtlCol="0" anchor="ctr"/>
          <a:lstStyle/>
          <a:p>
            <a:pPr indent="0" marL="0">
              <a:buNone/>
            </a:pPr>
            <a:endParaRPr lang="en-US" dirty="0"/>
          </a:p>
        </p:txBody>
      </p:sp>
      <p:sp>
        <p:nvSpPr>
          <p:cNvPr id="4" name="Text 2"/>
          <p:cNvSpPr/>
          <p:nvPr/>
        </p:nvSpPr>
        <p:spPr>
          <a:xfrm>
            <a:off x="736550" y="152400"/>
            <a:ext cx="829005"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課題構造</a:t>
            </a:r>
            <a:endParaRPr lang="en-US" sz="1600" dirty="0"/>
          </a:p>
        </p:txBody>
      </p:sp>
      <p:sp>
        <p:nvSpPr>
          <p:cNvPr id="5" name="Text 3"/>
          <p:cNvSpPr/>
          <p:nvPr/>
        </p:nvSpPr>
        <p:spPr>
          <a:xfrm>
            <a:off x="1701701" y="209550"/>
            <a:ext cx="1978622"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なぜフォロワーが増えないのか</a:t>
            </a:r>
            <a:endParaRPr lang="en-US" sz="1000" dirty="0"/>
          </a:p>
        </p:txBody>
      </p:sp>
      <p:sp>
        <p:nvSpPr>
          <p:cNvPr id="6" name="Text 4"/>
          <p:cNvSpPr/>
          <p:nvPr/>
        </p:nvSpPr>
        <p:spPr>
          <a:xfrm>
            <a:off x="507950" y="929134"/>
            <a:ext cx="3937099" cy="622102"/>
          </a:xfrm>
          <a:prstGeom prst="roundRect">
            <a:avLst>
              <a:gd name="adj" fmla="val 16332"/>
            </a:avLst>
          </a:prstGeom>
          <a:solidFill>
            <a:srgbClr val="243040"/>
          </a:solidFill>
          <a:ln/>
        </p:spPr>
        <p:txBody>
          <a:bodyPr wrap="square" rtlCol="0" anchor="ctr"/>
          <a:lstStyle/>
          <a:p>
            <a:pPr indent="0" marL="0">
              <a:buNone/>
            </a:pPr>
            <a:endParaRPr lang="en-US" dirty="0"/>
          </a:p>
        </p:txBody>
      </p:sp>
      <p:sp>
        <p:nvSpPr>
          <p:cNvPr id="7" name="Text 5"/>
          <p:cNvSpPr/>
          <p:nvPr/>
        </p:nvSpPr>
        <p:spPr>
          <a:xfrm>
            <a:off x="685651" y="1062335"/>
            <a:ext cx="355550" cy="355550"/>
          </a:xfrm>
          <a:prstGeom prst="roundRect">
            <a:avLst>
              <a:gd name="adj" fmla="val 257179"/>
            </a:avLst>
          </a:prstGeom>
          <a:solidFill>
            <a:srgbClr val="1565C0"/>
          </a:solidFill>
          <a:ln/>
        </p:spPr>
        <p:txBody>
          <a:bodyPr wrap="square" rtlCol="0" anchor="ctr"/>
          <a:lstStyle/>
          <a:p>
            <a:pPr indent="0" marL="0">
              <a:buNone/>
            </a:pPr>
            <a:endParaRPr lang="en-US" dirty="0"/>
          </a:p>
        </p:txBody>
      </p:sp>
      <p:sp>
        <p:nvSpPr>
          <p:cNvPr id="8" name="Text 6"/>
          <p:cNvSpPr/>
          <p:nvPr/>
        </p:nvSpPr>
        <p:spPr>
          <a:xfrm>
            <a:off x="817513" y="1140023"/>
            <a:ext cx="93663"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193602" y="1030635"/>
            <a:ext cx="3135222" cy="209550"/>
          </a:xfrm>
          <a:prstGeom prst="rect">
            <a:avLst/>
          </a:prstGeom>
          <a:noFill/>
          <a:ln/>
        </p:spPr>
        <p:txBody>
          <a:bodyPr wrap="square" lIns="0" tIns="0" rIns="0" bIns="0" rtlCol="0" anchor="t"/>
          <a:lstStyle/>
          <a:p>
            <a:pPr algn="l" indent="0" marL="0">
              <a:spcAft>
                <a:spcPts val="300"/>
              </a:spcAft>
              <a:buNone/>
            </a:pPr>
            <a:r>
              <a:rPr lang="en-US" sz="1100" b="1" dirty="0">
                <a:solidFill>
                  <a:srgbClr val="FFFFFF"/>
                </a:solidFill>
                <a:latin typeface="Arial" pitchFamily="34" charset="0"/>
                <a:ea typeface="Arial" pitchFamily="34" charset="-122"/>
                <a:cs typeface="Arial" pitchFamily="34" charset="-120"/>
              </a:rPr>
              <a:t>イベント開催</a:t>
            </a:r>
            <a:endParaRPr lang="en-US" sz="1100" dirty="0"/>
          </a:p>
        </p:txBody>
      </p:sp>
      <p:sp>
        <p:nvSpPr>
          <p:cNvPr id="10" name="Text 8"/>
          <p:cNvSpPr/>
          <p:nvPr/>
        </p:nvSpPr>
        <p:spPr>
          <a:xfrm>
            <a:off x="1193602" y="1278285"/>
            <a:ext cx="3135222"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NEWTOWNなどの大型企画が始まる</a:t>
            </a:r>
            <a:endParaRPr lang="en-US" sz="900" dirty="0"/>
          </a:p>
        </p:txBody>
      </p:sp>
      <p:sp>
        <p:nvSpPr>
          <p:cNvPr id="11" name="Text 9"/>
          <p:cNvSpPr/>
          <p:nvPr/>
        </p:nvSpPr>
        <p:spPr>
          <a:xfrm>
            <a:off x="468579" y="1678186"/>
            <a:ext cx="4015841" cy="209550"/>
          </a:xfrm>
          <a:prstGeom prst="rect">
            <a:avLst/>
          </a:prstGeom>
          <a:noFill/>
          <a:ln/>
        </p:spPr>
        <p:txBody>
          <a:bodyPr wrap="square" lIns="0" tIns="0" rIns="0" bIns="0" rtlCol="0" anchor="t"/>
          <a:lstStyle/>
          <a:p>
            <a:pPr algn="ctr" indent="0" marL="0">
              <a:buNone/>
            </a:pPr>
            <a:r>
              <a:rPr lang="en-US" sz="1400" dirty="0">
                <a:solidFill>
                  <a:srgbClr val="3A5A7A"/>
                </a:solidFill>
                <a:latin typeface="Arial" pitchFamily="34" charset="0"/>
                <a:ea typeface="Arial" pitchFamily="34" charset="-122"/>
                <a:cs typeface="Arial" pitchFamily="34" charset="-120"/>
              </a:rPr>
              <a:t>▼</a:t>
            </a:r>
            <a:endParaRPr lang="en-US" sz="1400" dirty="0"/>
          </a:p>
        </p:txBody>
      </p:sp>
      <p:sp>
        <p:nvSpPr>
          <p:cNvPr id="12" name="Text 10"/>
          <p:cNvSpPr/>
          <p:nvPr/>
        </p:nvSpPr>
        <p:spPr>
          <a:xfrm>
            <a:off x="507950" y="2014686"/>
            <a:ext cx="3937099" cy="622102"/>
          </a:xfrm>
          <a:prstGeom prst="roundRect">
            <a:avLst>
              <a:gd name="adj" fmla="val 16332"/>
            </a:avLst>
          </a:prstGeom>
          <a:solidFill>
            <a:srgbClr val="243040"/>
          </a:solidFill>
          <a:ln/>
        </p:spPr>
        <p:txBody>
          <a:bodyPr wrap="square" rtlCol="0" anchor="ctr"/>
          <a:lstStyle/>
          <a:p>
            <a:pPr indent="0" marL="0">
              <a:buNone/>
            </a:pPr>
            <a:endParaRPr lang="en-US" dirty="0"/>
          </a:p>
        </p:txBody>
      </p:sp>
      <p:sp>
        <p:nvSpPr>
          <p:cNvPr id="13" name="Text 11"/>
          <p:cNvSpPr/>
          <p:nvPr/>
        </p:nvSpPr>
        <p:spPr>
          <a:xfrm>
            <a:off x="685651" y="2147888"/>
            <a:ext cx="355550" cy="355550"/>
          </a:xfrm>
          <a:prstGeom prst="roundRect">
            <a:avLst>
              <a:gd name="adj" fmla="val 257179"/>
            </a:avLst>
          </a:prstGeom>
          <a:solidFill>
            <a:srgbClr val="1565C0"/>
          </a:solidFill>
          <a:ln/>
        </p:spPr>
        <p:txBody>
          <a:bodyPr wrap="square" rtlCol="0" anchor="ctr"/>
          <a:lstStyle/>
          <a:p>
            <a:pPr indent="0" marL="0">
              <a:buNone/>
            </a:pPr>
            <a:endParaRPr lang="en-US" dirty="0"/>
          </a:p>
        </p:txBody>
      </p:sp>
      <p:sp>
        <p:nvSpPr>
          <p:cNvPr id="14" name="Text 12"/>
          <p:cNvSpPr/>
          <p:nvPr/>
        </p:nvSpPr>
        <p:spPr>
          <a:xfrm>
            <a:off x="817513" y="2225576"/>
            <a:ext cx="93663"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1193602" y="2116187"/>
            <a:ext cx="3135222" cy="209550"/>
          </a:xfrm>
          <a:prstGeom prst="rect">
            <a:avLst/>
          </a:prstGeom>
          <a:noFill/>
          <a:ln/>
        </p:spPr>
        <p:txBody>
          <a:bodyPr wrap="square" lIns="0" tIns="0" rIns="0" bIns="0" rtlCol="0" anchor="t"/>
          <a:lstStyle/>
          <a:p>
            <a:pPr algn="l" indent="0" marL="0">
              <a:spcAft>
                <a:spcPts val="300"/>
              </a:spcAft>
              <a:buNone/>
            </a:pPr>
            <a:r>
              <a:rPr lang="en-US" sz="1100" b="1" dirty="0">
                <a:solidFill>
                  <a:srgbClr val="FFFFFF"/>
                </a:solidFill>
                <a:latin typeface="Arial" pitchFamily="34" charset="0"/>
                <a:ea typeface="Arial" pitchFamily="34" charset="-122"/>
                <a:cs typeface="Arial" pitchFamily="34" charset="-120"/>
              </a:rPr>
              <a:t>ハッシュタグ投稿で流入獲得</a:t>
            </a:r>
            <a:endParaRPr lang="en-US" sz="1100" dirty="0"/>
          </a:p>
        </p:txBody>
      </p:sp>
      <p:sp>
        <p:nvSpPr>
          <p:cNvPr id="16" name="Text 14"/>
          <p:cNvSpPr/>
          <p:nvPr/>
        </p:nvSpPr>
        <p:spPr>
          <a:xfrm>
            <a:off x="1193602" y="2363837"/>
            <a:ext cx="3135222"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ギャングタグ経由で数百人がサイトへ</a:t>
            </a:r>
            <a:endParaRPr lang="en-US" sz="900" dirty="0"/>
          </a:p>
        </p:txBody>
      </p:sp>
      <p:sp>
        <p:nvSpPr>
          <p:cNvPr id="17" name="Text 15"/>
          <p:cNvSpPr/>
          <p:nvPr/>
        </p:nvSpPr>
        <p:spPr>
          <a:xfrm>
            <a:off x="468579" y="2763738"/>
            <a:ext cx="4015841" cy="209550"/>
          </a:xfrm>
          <a:prstGeom prst="rect">
            <a:avLst/>
          </a:prstGeom>
          <a:noFill/>
          <a:ln/>
        </p:spPr>
        <p:txBody>
          <a:bodyPr wrap="square" lIns="0" tIns="0" rIns="0" bIns="0" rtlCol="0" anchor="t"/>
          <a:lstStyle/>
          <a:p>
            <a:pPr algn="ctr" indent="0" marL="0">
              <a:buNone/>
            </a:pPr>
            <a:r>
              <a:rPr lang="en-US" sz="1400" dirty="0">
                <a:solidFill>
                  <a:srgbClr val="3A5A7A"/>
                </a:solidFill>
                <a:latin typeface="Arial" pitchFamily="34" charset="0"/>
                <a:ea typeface="Arial" pitchFamily="34" charset="-122"/>
                <a:cs typeface="Arial" pitchFamily="34" charset="-120"/>
              </a:rPr>
              <a:t>▼</a:t>
            </a:r>
            <a:endParaRPr lang="en-US" sz="1400" dirty="0"/>
          </a:p>
        </p:txBody>
      </p:sp>
      <p:sp>
        <p:nvSpPr>
          <p:cNvPr id="18" name="Text 16"/>
          <p:cNvSpPr/>
          <p:nvPr/>
        </p:nvSpPr>
        <p:spPr>
          <a:xfrm>
            <a:off x="507950" y="3100239"/>
            <a:ext cx="3937099" cy="622102"/>
          </a:xfrm>
          <a:prstGeom prst="roundRect">
            <a:avLst>
              <a:gd name="adj" fmla="val 16332"/>
            </a:avLst>
          </a:prstGeom>
          <a:solidFill>
            <a:srgbClr val="243040"/>
          </a:solidFill>
          <a:ln/>
        </p:spPr>
        <p:txBody>
          <a:bodyPr wrap="square" rtlCol="0" anchor="ctr"/>
          <a:lstStyle/>
          <a:p>
            <a:pPr indent="0" marL="0">
              <a:buNone/>
            </a:pPr>
            <a:endParaRPr lang="en-US" dirty="0"/>
          </a:p>
        </p:txBody>
      </p:sp>
      <p:sp>
        <p:nvSpPr>
          <p:cNvPr id="19" name="Text 17"/>
          <p:cNvSpPr/>
          <p:nvPr/>
        </p:nvSpPr>
        <p:spPr>
          <a:xfrm>
            <a:off x="685651" y="3233440"/>
            <a:ext cx="355550" cy="355550"/>
          </a:xfrm>
          <a:prstGeom prst="roundRect">
            <a:avLst>
              <a:gd name="adj" fmla="val 257179"/>
            </a:avLst>
          </a:prstGeom>
          <a:solidFill>
            <a:srgbClr val="FF6B6B"/>
          </a:solidFill>
          <a:ln/>
        </p:spPr>
        <p:txBody>
          <a:bodyPr wrap="square" rtlCol="0" anchor="ctr"/>
          <a:lstStyle/>
          <a:p>
            <a:pPr indent="0" marL="0">
              <a:buNone/>
            </a:pPr>
            <a:endParaRPr lang="en-US" dirty="0"/>
          </a:p>
        </p:txBody>
      </p:sp>
      <p:sp>
        <p:nvSpPr>
          <p:cNvPr id="20" name="Text 18"/>
          <p:cNvSpPr/>
          <p:nvPr/>
        </p:nvSpPr>
        <p:spPr>
          <a:xfrm>
            <a:off x="817513" y="3311128"/>
            <a:ext cx="93663"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1193602" y="3201739"/>
            <a:ext cx="3135222" cy="209550"/>
          </a:xfrm>
          <a:prstGeom prst="rect">
            <a:avLst/>
          </a:prstGeom>
          <a:noFill/>
          <a:ln/>
        </p:spPr>
        <p:txBody>
          <a:bodyPr wrap="square" lIns="0" tIns="0" rIns="0" bIns="0" rtlCol="0" anchor="t"/>
          <a:lstStyle/>
          <a:p>
            <a:pPr algn="l" indent="0" marL="0">
              <a:spcAft>
                <a:spcPts val="300"/>
              </a:spcAft>
              <a:buNone/>
            </a:pPr>
            <a:r>
              <a:rPr lang="en-US" sz="1100" b="1" dirty="0">
                <a:solidFill>
                  <a:srgbClr val="FFFFFF"/>
                </a:solidFill>
                <a:latin typeface="Arial" pitchFamily="34" charset="0"/>
                <a:ea typeface="Arial" pitchFamily="34" charset="-122"/>
                <a:cs typeface="Arial" pitchFamily="34" charset="-120"/>
              </a:rPr>
              <a:t>イベント終了 → トラフィック消滅</a:t>
            </a:r>
            <a:endParaRPr lang="en-US" sz="1100" dirty="0"/>
          </a:p>
        </p:txBody>
      </p:sp>
      <p:sp>
        <p:nvSpPr>
          <p:cNvPr id="22" name="Text 20"/>
          <p:cNvSpPr/>
          <p:nvPr/>
        </p:nvSpPr>
        <p:spPr>
          <a:xfrm>
            <a:off x="1193602" y="3449389"/>
            <a:ext cx="3135222"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フォロワーが残らないためリーチも消える</a:t>
            </a:r>
            <a:endParaRPr lang="en-US" sz="900" dirty="0"/>
          </a:p>
        </p:txBody>
      </p:sp>
      <p:sp>
        <p:nvSpPr>
          <p:cNvPr id="23" name="Text 21"/>
          <p:cNvSpPr/>
          <p:nvPr/>
        </p:nvSpPr>
        <p:spPr>
          <a:xfrm>
            <a:off x="468579" y="3849291"/>
            <a:ext cx="4015841" cy="209550"/>
          </a:xfrm>
          <a:prstGeom prst="rect">
            <a:avLst/>
          </a:prstGeom>
          <a:noFill/>
          <a:ln/>
        </p:spPr>
        <p:txBody>
          <a:bodyPr wrap="square" lIns="0" tIns="0" rIns="0" bIns="0" rtlCol="0" anchor="t"/>
          <a:lstStyle/>
          <a:p>
            <a:pPr algn="ctr" indent="0" marL="0">
              <a:buNone/>
            </a:pPr>
            <a:r>
              <a:rPr lang="en-US" sz="1400" dirty="0">
                <a:solidFill>
                  <a:srgbClr val="3A5A7A"/>
                </a:solidFill>
                <a:latin typeface="Arial" pitchFamily="34" charset="0"/>
                <a:ea typeface="Arial" pitchFamily="34" charset="-122"/>
                <a:cs typeface="Arial" pitchFamily="34" charset="-120"/>
              </a:rPr>
              <a:t>▼</a:t>
            </a:r>
            <a:endParaRPr lang="en-US" sz="1400" dirty="0"/>
          </a:p>
        </p:txBody>
      </p:sp>
      <p:sp>
        <p:nvSpPr>
          <p:cNvPr id="24" name="Text 22"/>
          <p:cNvSpPr/>
          <p:nvPr/>
        </p:nvSpPr>
        <p:spPr>
          <a:xfrm>
            <a:off x="507950" y="4185791"/>
            <a:ext cx="3937099" cy="622102"/>
          </a:xfrm>
          <a:prstGeom prst="roundRect">
            <a:avLst>
              <a:gd name="adj" fmla="val 16332"/>
            </a:avLst>
          </a:prstGeom>
          <a:solidFill>
            <a:srgbClr val="243040"/>
          </a:solidFill>
          <a:ln/>
        </p:spPr>
        <p:txBody>
          <a:bodyPr wrap="square" rtlCol="0" anchor="ctr"/>
          <a:lstStyle/>
          <a:p>
            <a:pPr indent="0" marL="0">
              <a:buNone/>
            </a:pPr>
            <a:endParaRPr lang="en-US" dirty="0"/>
          </a:p>
        </p:txBody>
      </p:sp>
      <p:sp>
        <p:nvSpPr>
          <p:cNvPr id="25" name="Text 23"/>
          <p:cNvSpPr/>
          <p:nvPr/>
        </p:nvSpPr>
        <p:spPr>
          <a:xfrm>
            <a:off x="685651" y="4318992"/>
            <a:ext cx="355550" cy="355550"/>
          </a:xfrm>
          <a:prstGeom prst="roundRect">
            <a:avLst>
              <a:gd name="adj" fmla="val 257179"/>
            </a:avLst>
          </a:prstGeom>
          <a:solidFill>
            <a:srgbClr val="FF6B6B"/>
          </a:solidFill>
          <a:ln/>
        </p:spPr>
        <p:txBody>
          <a:bodyPr wrap="square" rtlCol="0" anchor="ctr"/>
          <a:lstStyle/>
          <a:p>
            <a:pPr indent="0" marL="0">
              <a:buNone/>
            </a:pPr>
            <a:endParaRPr lang="en-US" dirty="0"/>
          </a:p>
        </p:txBody>
      </p:sp>
      <p:sp>
        <p:nvSpPr>
          <p:cNvPr id="26" name="Text 24"/>
          <p:cNvSpPr/>
          <p:nvPr/>
        </p:nvSpPr>
        <p:spPr>
          <a:xfrm>
            <a:off x="817513" y="4396680"/>
            <a:ext cx="93663"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Text 25"/>
          <p:cNvSpPr/>
          <p:nvPr/>
        </p:nvSpPr>
        <p:spPr>
          <a:xfrm>
            <a:off x="1193602" y="4287292"/>
            <a:ext cx="3135222" cy="209550"/>
          </a:xfrm>
          <a:prstGeom prst="rect">
            <a:avLst/>
          </a:prstGeom>
          <a:noFill/>
          <a:ln/>
        </p:spPr>
        <p:txBody>
          <a:bodyPr wrap="square" lIns="0" tIns="0" rIns="0" bIns="0" rtlCol="0" anchor="t"/>
          <a:lstStyle/>
          <a:p>
            <a:pPr algn="l" indent="0" marL="0">
              <a:spcAft>
                <a:spcPts val="300"/>
              </a:spcAft>
              <a:buNone/>
            </a:pPr>
            <a:r>
              <a:rPr lang="en-US" sz="1100" b="1" dirty="0">
                <a:solidFill>
                  <a:srgbClr val="FFFFFF"/>
                </a:solidFill>
                <a:latin typeface="Arial" pitchFamily="34" charset="0"/>
                <a:ea typeface="Arial" pitchFamily="34" charset="-122"/>
                <a:cs typeface="Arial" pitchFamily="34" charset="-120"/>
              </a:rPr>
              <a:t>次のイベントでもゼロから再起動</a:t>
            </a:r>
            <a:endParaRPr lang="en-US" sz="1100" dirty="0"/>
          </a:p>
        </p:txBody>
      </p:sp>
      <p:sp>
        <p:nvSpPr>
          <p:cNvPr id="28" name="Text 26"/>
          <p:cNvSpPr/>
          <p:nvPr/>
        </p:nvSpPr>
        <p:spPr>
          <a:xfrm>
            <a:off x="1193602" y="4534942"/>
            <a:ext cx="3135222"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毎回ハッシュタグ頼みの構造が繰り返される</a:t>
            </a:r>
            <a:endParaRPr lang="en-US" sz="900" dirty="0"/>
          </a:p>
        </p:txBody>
      </p:sp>
      <p:sp>
        <p:nvSpPr>
          <p:cNvPr id="29" name="Text 27"/>
          <p:cNvSpPr/>
          <p:nvPr/>
        </p:nvSpPr>
        <p:spPr>
          <a:xfrm>
            <a:off x="4698950" y="1752600"/>
            <a:ext cx="3937099" cy="1231702"/>
          </a:xfrm>
          <a:prstGeom prst="roundRect">
            <a:avLst>
              <a:gd name="adj" fmla="val 10311"/>
            </a:avLst>
          </a:prstGeom>
          <a:solidFill>
            <a:srgbClr val="FF6B6B"/>
          </a:solidFill>
          <a:ln/>
        </p:spPr>
        <p:txBody>
          <a:bodyPr wrap="square" rtlCol="0" anchor="ctr"/>
          <a:lstStyle/>
          <a:p>
            <a:pPr indent="0" marL="0">
              <a:buNone/>
            </a:pPr>
            <a:endParaRPr lang="en-US" dirty="0"/>
          </a:p>
        </p:txBody>
      </p:sp>
      <p:sp>
        <p:nvSpPr>
          <p:cNvPr id="30" name="Text 28"/>
          <p:cNvSpPr/>
          <p:nvPr/>
        </p:nvSpPr>
        <p:spPr>
          <a:xfrm>
            <a:off x="4876651" y="1930301"/>
            <a:ext cx="3653332" cy="171450"/>
          </a:xfrm>
          <a:prstGeom prst="rect">
            <a:avLst/>
          </a:prstGeom>
          <a:noFill/>
          <a:ln/>
        </p:spPr>
        <p:txBody>
          <a:bodyPr wrap="square" lIns="0" tIns="0" rIns="0" bIns="0" rtlCol="0" anchor="t"/>
          <a:lstStyle/>
          <a:p>
            <a:pPr algn="l" indent="0" marL="0">
              <a:spcAft>
                <a:spcPts val="600"/>
              </a:spcAft>
              <a:buNone/>
            </a:pPr>
            <a:r>
              <a:rPr lang="en-US" sz="900" b="1" dirty="0">
                <a:solidFill>
                  <a:srgbClr val="FFE0E0"/>
                </a:solidFill>
                <a:latin typeface="Arial" pitchFamily="34" charset="0"/>
                <a:ea typeface="Arial" pitchFamily="34" charset="-122"/>
                <a:cs typeface="Arial" pitchFamily="34" charset="-120"/>
              </a:rPr>
              <a:t>根本的な問題</a:t>
            </a:r>
            <a:endParaRPr lang="en-US" sz="900" dirty="0"/>
          </a:p>
        </p:txBody>
      </p:sp>
      <p:sp>
        <p:nvSpPr>
          <p:cNvPr id="31" name="Text 29"/>
          <p:cNvSpPr/>
          <p:nvPr/>
        </p:nvSpPr>
        <p:spPr>
          <a:xfrm>
            <a:off x="4876651" y="2177951"/>
            <a:ext cx="3653332" cy="628650"/>
          </a:xfrm>
          <a:prstGeom prst="rect">
            <a:avLst/>
          </a:prstGeom>
          <a:noFill/>
          <a:ln/>
        </p:spPr>
        <p:txBody>
          <a:bodyPr wrap="square" lIns="0" tIns="0" rIns="0" bIns="0" rtlCol="0" anchor="t"/>
          <a:lstStyle/>
          <a:p>
            <a:pPr algn="l" indent="0" marL="0">
              <a:lnSpc>
                <a:spcPts val="1650"/>
              </a:lnSpc>
              <a:buNone/>
            </a:pPr>
            <a:r>
              <a:rPr lang="en-US" sz="1100" dirty="0">
                <a:solidFill>
                  <a:srgbClr val="FFFFFF"/>
                </a:solidFill>
                <a:latin typeface="Arial" pitchFamily="34" charset="0"/>
                <a:ea typeface="Arial" pitchFamily="34" charset="-122"/>
                <a:cs typeface="Arial" pitchFamily="34" charset="-120"/>
              </a:rPr>
              <a:t>イベントが「通過点」になっており、アカウントへの蓄積がない。次のイベントまでの間に、フォロワーという「自前のリーチ」を育てる仕組みが必要。</a:t>
            </a:r>
            <a:endParaRPr lang="en-US" sz="1100" dirty="0"/>
          </a:p>
        </p:txBody>
      </p:sp>
      <p:sp>
        <p:nvSpPr>
          <p:cNvPr id="32" name="Text 30"/>
          <p:cNvSpPr/>
          <p:nvPr/>
        </p:nvSpPr>
        <p:spPr>
          <a:xfrm>
            <a:off x="4698950" y="3136702"/>
            <a:ext cx="3937099" cy="847725"/>
          </a:xfrm>
          <a:prstGeom prst="roundRect">
            <a:avLst>
              <a:gd name="adj" fmla="val 14981"/>
            </a:avLst>
          </a:prstGeom>
          <a:solidFill>
            <a:srgbClr val="243040"/>
          </a:solidFill>
          <a:ln/>
        </p:spPr>
        <p:txBody>
          <a:bodyPr wrap="square" rtlCol="0" anchor="ctr"/>
          <a:lstStyle/>
          <a:p>
            <a:pPr indent="0" marL="0">
              <a:buNone/>
            </a:pPr>
            <a:endParaRPr lang="en-US" dirty="0"/>
          </a:p>
        </p:txBody>
      </p:sp>
      <p:sp>
        <p:nvSpPr>
          <p:cNvPr id="33" name="Shape 31"/>
          <p:cNvSpPr/>
          <p:nvPr/>
        </p:nvSpPr>
        <p:spPr>
          <a:xfrm>
            <a:off x="4722763" y="3136702"/>
            <a:ext cx="0" cy="847725"/>
          </a:xfrm>
          <a:prstGeom prst="line">
            <a:avLst/>
          </a:prstGeom>
          <a:noFill/>
          <a:ln w="47625">
            <a:solidFill>
              <a:srgbClr val="00B4D8"/>
            </a:solidFill>
            <a:prstDash val="solid"/>
          </a:ln>
        </p:spPr>
      </p:sp>
      <p:sp>
        <p:nvSpPr>
          <p:cNvPr id="34" name="Text 32"/>
          <p:cNvSpPr/>
          <p:nvPr/>
        </p:nvSpPr>
        <p:spPr>
          <a:xfrm>
            <a:off x="4898975" y="3289102"/>
            <a:ext cx="3656368" cy="180975"/>
          </a:xfrm>
          <a:prstGeom prst="rect">
            <a:avLst/>
          </a:prstGeom>
          <a:noFill/>
          <a:ln/>
        </p:spPr>
        <p:txBody>
          <a:bodyPr wrap="square" lIns="0" tIns="0" rIns="0" bIns="0" rtlCol="0" anchor="t"/>
          <a:lstStyle/>
          <a:p>
            <a:pPr algn="l" indent="0" marL="0">
              <a:lnSpc>
                <a:spcPts val="1425"/>
              </a:lnSpc>
              <a:buNone/>
            </a:pPr>
            <a:r>
              <a:rPr lang="en-US" sz="950" b="1" dirty="0">
                <a:solidFill>
                  <a:srgbClr val="A0B4C8"/>
                </a:solidFill>
                <a:latin typeface="Arial" pitchFamily="34" charset="0"/>
                <a:ea typeface="Arial" pitchFamily="34" charset="-122"/>
                <a:cs typeface="Arial" pitchFamily="34" charset="-120"/>
              </a:rPr>
              <a:t>参考値</a:t>
            </a:r>
            <a:endParaRPr lang="en-US" sz="950" dirty="0"/>
          </a:p>
        </p:txBody>
      </p:sp>
      <p:sp>
        <p:nvSpPr>
          <p:cNvPr id="35" name="Text 33"/>
          <p:cNvSpPr/>
          <p:nvPr/>
        </p:nvSpPr>
        <p:spPr>
          <a:xfrm>
            <a:off x="4898975" y="3470077"/>
            <a:ext cx="3656368"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NEWTOWN期間: 379人流入 → フォロワー増加ほぼ0人</a:t>
            </a:r>
            <a:endParaRPr lang="en-US" sz="950" dirty="0"/>
          </a:p>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つまり流入ユーザーの99%超がフォローせずに離脱している。</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593675"/>
          </a:xfrm>
          <a:prstGeom prst="rect">
            <a:avLst/>
          </a:prstGeom>
          <a:solidFill>
            <a:srgbClr val="1E2A3A"/>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4" name="Text 2"/>
          <p:cNvSpPr/>
          <p:nvPr/>
        </p:nvSpPr>
        <p:spPr>
          <a:xfrm>
            <a:off x="736550" y="152400"/>
            <a:ext cx="829005"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戦略方針</a:t>
            </a:r>
            <a:endParaRPr lang="en-US" sz="1600" dirty="0"/>
          </a:p>
        </p:txBody>
      </p:sp>
      <p:sp>
        <p:nvSpPr>
          <p:cNvPr id="5" name="Text 3"/>
          <p:cNvSpPr/>
          <p:nvPr/>
        </p:nvSpPr>
        <p:spPr>
          <a:xfrm>
            <a:off x="1701701" y="209550"/>
            <a:ext cx="1849133"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アカウント土台構築への転換</a:t>
            </a:r>
            <a:endParaRPr lang="en-US" sz="1000" dirty="0"/>
          </a:p>
        </p:txBody>
      </p:sp>
      <p:sp>
        <p:nvSpPr>
          <p:cNvPr id="6" name="Text 4"/>
          <p:cNvSpPr/>
          <p:nvPr/>
        </p:nvSpPr>
        <p:spPr>
          <a:xfrm>
            <a:off x="507950" y="771376"/>
            <a:ext cx="4724549" cy="1970931"/>
          </a:xfrm>
          <a:prstGeom prst="roundRect">
            <a:avLst>
              <a:gd name="adj" fmla="val 6444"/>
            </a:avLst>
          </a:prstGeom>
          <a:solidFill>
            <a:srgbClr val="1E2A3A"/>
          </a:solidFill>
          <a:ln/>
        </p:spPr>
        <p:txBody>
          <a:bodyPr wrap="square" rtlCol="0" anchor="ctr"/>
          <a:lstStyle/>
          <a:p>
            <a:pPr indent="0" marL="0">
              <a:buNone/>
            </a:pPr>
            <a:endParaRPr lang="en-US" dirty="0"/>
          </a:p>
        </p:txBody>
      </p:sp>
      <p:sp>
        <p:nvSpPr>
          <p:cNvPr id="7" name="Text 5"/>
          <p:cNvSpPr/>
          <p:nvPr/>
        </p:nvSpPr>
        <p:spPr>
          <a:xfrm>
            <a:off x="761851" y="1025277"/>
            <a:ext cx="4301082" cy="200025"/>
          </a:xfrm>
          <a:prstGeom prst="rect">
            <a:avLst/>
          </a:prstGeom>
          <a:noFill/>
          <a:ln/>
        </p:spPr>
        <p:txBody>
          <a:bodyPr wrap="square" lIns="0" tIns="0" rIns="0" bIns="0" rtlCol="0" anchor="t"/>
          <a:lstStyle/>
          <a:p>
            <a:pPr algn="l" indent="0" marL="0">
              <a:spcAft>
                <a:spcPts val="800"/>
              </a:spcAft>
              <a:buNone/>
            </a:pPr>
            <a:r>
              <a:rPr lang="en-US" sz="1000" b="1" dirty="0">
                <a:solidFill>
                  <a:srgbClr val="00B4D8"/>
                </a:solidFill>
                <a:latin typeface="Arial" pitchFamily="34" charset="0"/>
                <a:ea typeface="Arial" pitchFamily="34" charset="-122"/>
                <a:cs typeface="Arial" pitchFamily="34" charset="-120"/>
              </a:rPr>
              <a:t>方針転換</a:t>
            </a:r>
            <a:endParaRPr lang="en-US" sz="1000" dirty="0"/>
          </a:p>
        </p:txBody>
      </p:sp>
      <p:sp>
        <p:nvSpPr>
          <p:cNvPr id="8" name="Text 6"/>
          <p:cNvSpPr/>
          <p:nvPr/>
        </p:nvSpPr>
        <p:spPr>
          <a:xfrm>
            <a:off x="761851" y="1326803"/>
            <a:ext cx="4301082" cy="628650"/>
          </a:xfrm>
          <a:prstGeom prst="rect">
            <a:avLst/>
          </a:prstGeom>
          <a:noFill/>
          <a:ln/>
        </p:spPr>
        <p:txBody>
          <a:bodyPr wrap="square" lIns="0" tIns="0" rIns="0" bIns="0" rtlCol="0" anchor="t"/>
          <a:lstStyle/>
          <a:p>
            <a:pPr algn="l" indent="0" marL="0">
              <a:spcAft>
                <a:spcPts val="1000"/>
              </a:spcAft>
              <a:buNone/>
            </a:pPr>
            <a:r>
              <a:rPr lang="en-US" sz="1600" dirty="0">
                <a:solidFill>
                  <a:srgbClr val="FFFFFF"/>
                </a:solidFill>
                <a:latin typeface="Arial" pitchFamily="34" charset="0"/>
                <a:ea typeface="Arial" pitchFamily="34" charset="-122"/>
                <a:cs typeface="Arial" pitchFamily="34" charset="-120"/>
              </a:rPr>
              <a:t>「イベント流入型」から</a:t>
            </a:r>
            <a:endParaRPr lang="en-US" sz="1600" dirty="0"/>
          </a:p>
          <a:p>
            <a:pPr algn="l" indent="0" marL="0">
              <a:spcAft>
                <a:spcPts val="1000"/>
              </a:spcAft>
              <a:buNone/>
            </a:pPr>
            <a:r>
              <a:rPr lang="en-US" sz="1600" dirty="0">
                <a:solidFill>
                  <a:srgbClr val="FFFFFF"/>
                </a:solidFill>
                <a:latin typeface="Arial" pitchFamily="34" charset="0"/>
                <a:ea typeface="Arial" pitchFamily="34" charset="-122"/>
                <a:cs typeface="Arial" pitchFamily="34" charset="-120"/>
              </a:rPr>
              <a:t>「アカウント資産型」へ</a:t>
            </a:r>
            <a:endParaRPr lang="en-US" sz="1600" dirty="0"/>
          </a:p>
        </p:txBody>
      </p:sp>
      <p:sp>
        <p:nvSpPr>
          <p:cNvPr id="9" name="Text 7"/>
          <p:cNvSpPr/>
          <p:nvPr/>
        </p:nvSpPr>
        <p:spPr>
          <a:xfrm>
            <a:off x="761851" y="2082403"/>
            <a:ext cx="4301082" cy="406003"/>
          </a:xfrm>
          <a:prstGeom prst="rect">
            <a:avLst/>
          </a:prstGeom>
          <a:noFill/>
          <a:ln/>
        </p:spPr>
        <p:txBody>
          <a:bodyPr wrap="square" lIns="0" tIns="0" rIns="0" bIns="0" rtlCol="0" anchor="t"/>
          <a:lstStyle/>
          <a:p>
            <a:pPr algn="l" indent="0" marL="0">
              <a:lnSpc>
                <a:spcPts val="1600"/>
              </a:lnSpc>
              <a:buNone/>
            </a:pPr>
            <a:r>
              <a:rPr lang="en-US" sz="1000" dirty="0">
                <a:solidFill>
                  <a:srgbClr val="A0B4C8"/>
                </a:solidFill>
                <a:latin typeface="Arial" pitchFamily="34" charset="0"/>
                <a:ea typeface="Arial" pitchFamily="34" charset="-122"/>
                <a:cs typeface="Arial" pitchFamily="34" charset="-120"/>
              </a:rPr>
              <a:t>フォロワーがいないままイベント頼みを続けると、毎回費用対効果が悪い。フォロワー13人の今こそ、自前のリーチを育てる時期。</a:t>
            </a:r>
            <a:endParaRPr lang="en-US" sz="1000" dirty="0"/>
          </a:p>
        </p:txBody>
      </p:sp>
      <p:sp>
        <p:nvSpPr>
          <p:cNvPr id="10" name="Text 8"/>
          <p:cNvSpPr/>
          <p:nvPr/>
        </p:nvSpPr>
        <p:spPr>
          <a:xfrm>
            <a:off x="507950" y="2894707"/>
            <a:ext cx="4724549" cy="825252"/>
          </a:xfrm>
          <a:prstGeom prst="roundRect">
            <a:avLst>
              <a:gd name="adj" fmla="val 12311"/>
            </a:avLst>
          </a:prstGeom>
          <a:solidFill>
            <a:srgbClr val="FFFFFF"/>
          </a:solidFill>
          <a:ln w="19050">
            <a:solidFill>
              <a:srgbClr val="E0E8F0"/>
            </a:solidFill>
          </a:ln>
        </p:spPr>
        <p:txBody>
          <a:bodyPr wrap="square" rtlCol="0" anchor="ctr"/>
          <a:lstStyle/>
          <a:p>
            <a:pPr indent="0" marL="0">
              <a:buNone/>
            </a:pPr>
            <a:endParaRPr lang="en-US" dirty="0"/>
          </a:p>
        </p:txBody>
      </p:sp>
      <p:sp>
        <p:nvSpPr>
          <p:cNvPr id="11" name="Text 9"/>
          <p:cNvSpPr/>
          <p:nvPr/>
        </p:nvSpPr>
        <p:spPr>
          <a:xfrm>
            <a:off x="661391" y="3091458"/>
            <a:ext cx="4417668" cy="209550"/>
          </a:xfrm>
          <a:prstGeom prst="rect">
            <a:avLst/>
          </a:prstGeom>
          <a:noFill/>
          <a:ln/>
        </p:spPr>
        <p:txBody>
          <a:bodyPr wrap="square" lIns="0" tIns="0" rIns="0" bIns="0" rtlCol="0" anchor="t"/>
          <a:lstStyle/>
          <a:p>
            <a:pPr algn="ctr" indent="0" marL="0">
              <a:buNone/>
            </a:pPr>
            <a:r>
              <a:rPr lang="en-US" sz="1100" b="1" dirty="0">
                <a:solidFill>
                  <a:srgbClr val="1E2A3A"/>
                </a:solidFill>
                <a:latin typeface="Arial" pitchFamily="34" charset="0"/>
                <a:ea typeface="Arial" pitchFamily="34" charset="-122"/>
                <a:cs typeface="Arial" pitchFamily="34" charset="-120"/>
              </a:rPr>
              <a:t>成長 = 流入 × 初回価値理解 × 利用 × 再訪</a:t>
            </a:r>
            <a:endParaRPr lang="en-US" sz="1100" dirty="0"/>
          </a:p>
        </p:txBody>
      </p:sp>
      <p:sp>
        <p:nvSpPr>
          <p:cNvPr id="12" name="Text 10"/>
          <p:cNvSpPr/>
          <p:nvPr/>
        </p:nvSpPr>
        <p:spPr>
          <a:xfrm>
            <a:off x="661391" y="3351758"/>
            <a:ext cx="4417668" cy="171450"/>
          </a:xfrm>
          <a:prstGeom prst="rect">
            <a:avLst/>
          </a:prstGeom>
          <a:noFill/>
          <a:ln/>
        </p:spPr>
        <p:txBody>
          <a:bodyPr wrap="square" lIns="0" tIns="0" rIns="0" bIns="0" rtlCol="0" anchor="t"/>
          <a:lstStyle/>
          <a:p>
            <a:pPr algn="ctr" indent="0" marL="0">
              <a:spcBef>
                <a:spcPts val="400"/>
              </a:spcBef>
              <a:buNone/>
            </a:pPr>
            <a:r>
              <a:rPr lang="en-US" sz="900" dirty="0">
                <a:solidFill>
                  <a:srgbClr val="1E2A3A"/>
                </a:solidFill>
                <a:latin typeface="Arial" pitchFamily="34" charset="0"/>
                <a:ea typeface="Arial" pitchFamily="34" charset="-122"/>
                <a:cs typeface="Arial" pitchFamily="34" charset="-120"/>
              </a:rPr>
              <a:t>現状は「流入」のみ機能 → 「再訪」に繋がる導線が欠けている</a:t>
            </a:r>
            <a:endParaRPr lang="en-US" sz="900" dirty="0"/>
          </a:p>
        </p:txBody>
      </p:sp>
      <p:sp>
        <p:nvSpPr>
          <p:cNvPr id="13" name="Text 11"/>
          <p:cNvSpPr/>
          <p:nvPr/>
        </p:nvSpPr>
        <p:spPr>
          <a:xfrm>
            <a:off x="5486400" y="771376"/>
            <a:ext cx="3149650" cy="1142702"/>
          </a:xfrm>
          <a:prstGeom prst="roundRect">
            <a:avLst>
              <a:gd name="adj" fmla="val 8891"/>
            </a:avLst>
          </a:prstGeom>
          <a:solidFill>
            <a:srgbClr val="FFFFFF"/>
          </a:solidFill>
          <a:ln/>
          <a:effectLst>
            <a:outerShdw sx="100000" sy="100000" kx="0" ky="0" algn="bl" rotWithShape="0" blurRad="38100" dist="9525" dir="5400000">
              <a:srgbClr val="000000">
                <a:alpha val="6000"/>
              </a:srgbClr>
            </a:outerShdw>
          </a:effectLst>
        </p:spPr>
        <p:txBody>
          <a:bodyPr wrap="square" rtlCol="0" anchor="ctr"/>
          <a:lstStyle/>
          <a:p>
            <a:pPr indent="0" marL="0">
              <a:buNone/>
            </a:pPr>
            <a:endParaRPr lang="en-US" dirty="0"/>
          </a:p>
        </p:txBody>
      </p:sp>
      <p:sp>
        <p:nvSpPr>
          <p:cNvPr id="14" name="Shape 12"/>
          <p:cNvSpPr/>
          <p:nvPr/>
        </p:nvSpPr>
        <p:spPr>
          <a:xfrm>
            <a:off x="5510213" y="771376"/>
            <a:ext cx="0" cy="1142702"/>
          </a:xfrm>
          <a:prstGeom prst="line">
            <a:avLst/>
          </a:prstGeom>
          <a:noFill/>
          <a:ln w="47625">
            <a:solidFill>
              <a:srgbClr val="00B4D8"/>
            </a:solidFill>
            <a:prstDash val="solid"/>
          </a:ln>
        </p:spPr>
      </p:sp>
      <p:sp>
        <p:nvSpPr>
          <p:cNvPr id="15" name="Text 13"/>
          <p:cNvSpPr/>
          <p:nvPr/>
        </p:nvSpPr>
        <p:spPr>
          <a:xfrm>
            <a:off x="5711726" y="949077"/>
            <a:ext cx="2801556" cy="209550"/>
          </a:xfrm>
          <a:prstGeom prst="rect">
            <a:avLst/>
          </a:prstGeom>
          <a:noFill/>
          <a:ln/>
        </p:spPr>
        <p:txBody>
          <a:bodyPr wrap="square" lIns="0" tIns="0" rIns="0" bIns="0" rtlCol="0" anchor="t"/>
          <a:lstStyle/>
          <a:p>
            <a:pPr algn="l" indent="0" marL="0">
              <a:spcAft>
                <a:spcPts val="800"/>
              </a:spcAft>
              <a:buNone/>
            </a:pPr>
            <a:r>
              <a:rPr lang="en-US" sz="1100" b="1" dirty="0">
                <a:solidFill>
                  <a:srgbClr val="1E2A3A"/>
                </a:solidFill>
                <a:latin typeface="Arial" pitchFamily="34" charset="0"/>
                <a:ea typeface="Arial" pitchFamily="34" charset="-122"/>
                <a:cs typeface="Arial" pitchFamily="34" charset="-120"/>
              </a:rPr>
              <a:t>目標とする変化</a:t>
            </a:r>
            <a:endParaRPr lang="en-US" sz="1100" dirty="0"/>
          </a:p>
        </p:txBody>
      </p:sp>
      <p:sp>
        <p:nvSpPr>
          <p:cNvPr id="16" name="Text 14"/>
          <p:cNvSpPr/>
          <p:nvPr/>
        </p:nvSpPr>
        <p:spPr>
          <a:xfrm>
            <a:off x="5711726" y="1260128"/>
            <a:ext cx="2801556" cy="200025"/>
          </a:xfrm>
          <a:prstGeom prst="rect">
            <a:avLst/>
          </a:prstGeom>
          <a:noFill/>
          <a:ln/>
        </p:spPr>
        <p:txBody>
          <a:bodyPr wrap="square" lIns="0" tIns="0" rIns="0" bIns="0" rtlCol="0" anchor="t"/>
          <a:lstStyle/>
          <a:p>
            <a:pPr algn="l" indent="0" marL="0">
              <a:spcAft>
                <a:spcPts val="600"/>
              </a:spcAft>
              <a:buNone/>
            </a:pPr>
            <a:r>
              <a:rPr lang="en-US" sz="1000" dirty="0">
                <a:solidFill>
                  <a:srgbClr val="E53935"/>
                </a:solidFill>
                <a:latin typeface="Arial" pitchFamily="34" charset="0"/>
                <a:ea typeface="Arial" pitchFamily="34" charset="-122"/>
                <a:cs typeface="Arial" pitchFamily="34" charset="-120"/>
              </a:rPr>
              <a:t>以前: NEWTOWNのときだけ現れるアカウント</a:t>
            </a:r>
            <a:endParaRPr lang="en-US" sz="1000" dirty="0"/>
          </a:p>
        </p:txBody>
      </p:sp>
      <p:sp>
        <p:nvSpPr>
          <p:cNvPr id="17" name="Text 15"/>
          <p:cNvSpPr/>
          <p:nvPr/>
        </p:nvSpPr>
        <p:spPr>
          <a:xfrm>
            <a:off x="5711726" y="1536353"/>
            <a:ext cx="2801556" cy="200025"/>
          </a:xfrm>
          <a:prstGeom prst="rect">
            <a:avLst/>
          </a:prstGeom>
          <a:noFill/>
          <a:ln/>
        </p:spPr>
        <p:txBody>
          <a:bodyPr wrap="square" lIns="0" tIns="0" rIns="0" bIns="0" rtlCol="0" anchor="t"/>
          <a:lstStyle/>
          <a:p>
            <a:pPr algn="l" indent="0" marL="0">
              <a:buNone/>
            </a:pPr>
            <a:r>
              <a:rPr lang="en-US" sz="1000" b="1" dirty="0">
                <a:solidFill>
                  <a:srgbClr val="00897B"/>
                </a:solidFill>
                <a:latin typeface="Arial" pitchFamily="34" charset="0"/>
                <a:ea typeface="Arial" pitchFamily="34" charset="-122"/>
                <a:cs typeface="Arial" pitchFamily="34" charset="-120"/>
              </a:rPr>
              <a:t>以後: 日常的に価値を届けるアカウント</a:t>
            </a:r>
            <a:endParaRPr lang="en-US" sz="1000" dirty="0"/>
          </a:p>
        </p:txBody>
      </p:sp>
      <p:sp>
        <p:nvSpPr>
          <p:cNvPr id="18" name="Text 16"/>
          <p:cNvSpPr/>
          <p:nvPr/>
        </p:nvSpPr>
        <p:spPr>
          <a:xfrm>
            <a:off x="5486400" y="2066479"/>
            <a:ext cx="3149650" cy="2529632"/>
          </a:xfrm>
          <a:prstGeom prst="roundRect">
            <a:avLst>
              <a:gd name="adj" fmla="val 4016"/>
            </a:avLst>
          </a:prstGeom>
          <a:solidFill>
            <a:srgbClr val="FFFFFF"/>
          </a:solidFill>
          <a:ln/>
          <a:effectLst>
            <a:outerShdw sx="100000" sy="100000" kx="0" ky="0" algn="bl" rotWithShape="0" blurRad="38100" dist="9525" dir="5400000">
              <a:srgbClr val="000000">
                <a:alpha val="6000"/>
              </a:srgbClr>
            </a:outerShdw>
          </a:effectLst>
        </p:spPr>
        <p:txBody>
          <a:bodyPr wrap="square" rtlCol="0" anchor="ctr"/>
          <a:lstStyle/>
          <a:p>
            <a:pPr indent="0" marL="0">
              <a:buNone/>
            </a:pPr>
            <a:endParaRPr lang="en-US" dirty="0"/>
          </a:p>
        </p:txBody>
      </p:sp>
      <p:sp>
        <p:nvSpPr>
          <p:cNvPr id="19" name="Text 17"/>
          <p:cNvSpPr/>
          <p:nvPr/>
        </p:nvSpPr>
        <p:spPr>
          <a:xfrm>
            <a:off x="5664101" y="2244179"/>
            <a:ext cx="2850133" cy="209550"/>
          </a:xfrm>
          <a:prstGeom prst="rect">
            <a:avLst/>
          </a:prstGeom>
          <a:noFill/>
          <a:ln/>
        </p:spPr>
        <p:txBody>
          <a:bodyPr wrap="square" lIns="0" tIns="0" rIns="0" bIns="0" rtlCol="0" anchor="t"/>
          <a:lstStyle/>
          <a:p>
            <a:pPr algn="l" indent="0" marL="0">
              <a:spcAft>
                <a:spcPts val="1000"/>
              </a:spcAft>
              <a:buNone/>
            </a:pPr>
            <a:r>
              <a:rPr lang="en-US" sz="1100" b="1" dirty="0">
                <a:solidFill>
                  <a:srgbClr val="1E2A3A"/>
                </a:solidFill>
                <a:latin typeface="Arial" pitchFamily="34" charset="0"/>
                <a:ea typeface="Arial" pitchFamily="34" charset="-122"/>
                <a:cs typeface="Arial" pitchFamily="34" charset="-120"/>
              </a:rPr>
              <a:t>フェーズ設計</a:t>
            </a:r>
            <a:endParaRPr lang="en-US" sz="1100" dirty="0"/>
          </a:p>
        </p:txBody>
      </p:sp>
      <p:sp>
        <p:nvSpPr>
          <p:cNvPr id="20" name="Text 18"/>
          <p:cNvSpPr/>
          <p:nvPr/>
        </p:nvSpPr>
        <p:spPr>
          <a:xfrm>
            <a:off x="5664101" y="2605980"/>
            <a:ext cx="101501" cy="101501"/>
          </a:xfrm>
          <a:prstGeom prst="roundRect">
            <a:avLst>
              <a:gd name="adj" fmla="val 900878"/>
            </a:avLst>
          </a:prstGeom>
          <a:solidFill>
            <a:srgbClr val="00B4D8"/>
          </a:solidFill>
          <a:ln/>
        </p:spPr>
        <p:txBody>
          <a:bodyPr wrap="square" rtlCol="0" anchor="ctr"/>
          <a:lstStyle/>
          <a:p>
            <a:pPr indent="0" marL="0">
              <a:buNone/>
            </a:pPr>
            <a:endParaRPr lang="en-US" dirty="0"/>
          </a:p>
        </p:txBody>
      </p:sp>
      <p:sp>
        <p:nvSpPr>
          <p:cNvPr id="21" name="Text 19"/>
          <p:cNvSpPr/>
          <p:nvPr/>
        </p:nvSpPr>
        <p:spPr>
          <a:xfrm>
            <a:off x="5892552" y="2580680"/>
            <a:ext cx="2617113" cy="200025"/>
          </a:xfrm>
          <a:prstGeom prst="rect">
            <a:avLst/>
          </a:prstGeom>
          <a:noFill/>
          <a:ln/>
        </p:spPr>
        <p:txBody>
          <a:bodyPr wrap="square" lIns="0" tIns="0" rIns="0" bIns="0" rtlCol="0" anchor="t"/>
          <a:lstStyle/>
          <a:p>
            <a:pPr algn="l" indent="0" marL="0">
              <a:buNone/>
            </a:pPr>
            <a:r>
              <a:rPr lang="en-US" sz="1000" b="1" dirty="0">
                <a:solidFill>
                  <a:srgbClr val="1E2A3A"/>
                </a:solidFill>
                <a:latin typeface="Arial" pitchFamily="34" charset="0"/>
                <a:ea typeface="Arial" pitchFamily="34" charset="-122"/>
                <a:cs typeface="Arial" pitchFamily="34" charset="-120"/>
              </a:rPr>
              <a:t>今すぐ（今週）</a:t>
            </a:r>
            <a:endParaRPr lang="en-US" sz="1000" dirty="0"/>
          </a:p>
        </p:txBody>
      </p:sp>
      <p:sp>
        <p:nvSpPr>
          <p:cNvPr id="22" name="Text 20"/>
          <p:cNvSpPr/>
          <p:nvPr/>
        </p:nvSpPr>
        <p:spPr>
          <a:xfrm>
            <a:off x="5892552" y="2806005"/>
            <a:ext cx="2617113" cy="342900"/>
          </a:xfrm>
          <a:prstGeom prst="rect">
            <a:avLst/>
          </a:prstGeom>
          <a:noFill/>
          <a:ln/>
        </p:spPr>
        <p:txBody>
          <a:bodyPr wrap="square" lIns="0" tIns="0" rIns="0" bIns="0" rtlCol="0" anchor="t"/>
          <a:lstStyle/>
          <a:p>
            <a:pPr algn="l" indent="0" marL="0">
              <a:spcBef>
                <a:spcPts val="200"/>
              </a:spcBef>
              <a:buNone/>
            </a:pPr>
            <a:r>
              <a:rPr lang="en-US" sz="900" dirty="0">
                <a:solidFill>
                  <a:srgbClr val="607080"/>
                </a:solidFill>
                <a:latin typeface="Arial" pitchFamily="34" charset="0"/>
                <a:ea typeface="Arial" pitchFamily="34" charset="-122"/>
                <a:cs typeface="Arial" pitchFamily="34" charset="-120"/>
              </a:rPr>
              <a:t>現状できることを投稿し始め、アカウントを再起動</a:t>
            </a:r>
            <a:endParaRPr lang="en-US" sz="900" dirty="0"/>
          </a:p>
        </p:txBody>
      </p:sp>
      <p:sp>
        <p:nvSpPr>
          <p:cNvPr id="23" name="Text 21"/>
          <p:cNvSpPr/>
          <p:nvPr/>
        </p:nvSpPr>
        <p:spPr>
          <a:xfrm>
            <a:off x="5664101" y="3275707"/>
            <a:ext cx="101501" cy="101501"/>
          </a:xfrm>
          <a:prstGeom prst="roundRect">
            <a:avLst>
              <a:gd name="adj" fmla="val 900878"/>
            </a:avLst>
          </a:prstGeom>
          <a:solidFill>
            <a:srgbClr val="00B4D8"/>
          </a:solidFill>
          <a:ln/>
        </p:spPr>
        <p:txBody>
          <a:bodyPr wrap="square" rtlCol="0" anchor="ctr"/>
          <a:lstStyle/>
          <a:p>
            <a:pPr indent="0" marL="0">
              <a:buNone/>
            </a:pPr>
            <a:endParaRPr lang="en-US" dirty="0"/>
          </a:p>
        </p:txBody>
      </p:sp>
      <p:sp>
        <p:nvSpPr>
          <p:cNvPr id="24" name="Text 22"/>
          <p:cNvSpPr/>
          <p:nvPr/>
        </p:nvSpPr>
        <p:spPr>
          <a:xfrm>
            <a:off x="5892552" y="3250406"/>
            <a:ext cx="2617113" cy="200025"/>
          </a:xfrm>
          <a:prstGeom prst="rect">
            <a:avLst/>
          </a:prstGeom>
          <a:noFill/>
          <a:ln/>
        </p:spPr>
        <p:txBody>
          <a:bodyPr wrap="square" lIns="0" tIns="0" rIns="0" bIns="0" rtlCol="0" anchor="t"/>
          <a:lstStyle/>
          <a:p>
            <a:pPr algn="l" indent="0" marL="0">
              <a:buNone/>
            </a:pPr>
            <a:r>
              <a:rPr lang="en-US" sz="1000" b="1" dirty="0">
                <a:solidFill>
                  <a:srgbClr val="1E2A3A"/>
                </a:solidFill>
                <a:latin typeface="Arial" pitchFamily="34" charset="0"/>
                <a:ea typeface="Arial" pitchFamily="34" charset="-122"/>
                <a:cs typeface="Arial" pitchFamily="34" charset="-120"/>
              </a:rPr>
              <a:t>機能整備後（近日中）</a:t>
            </a:r>
            <a:endParaRPr lang="en-US" sz="1000" dirty="0"/>
          </a:p>
        </p:txBody>
      </p:sp>
      <p:sp>
        <p:nvSpPr>
          <p:cNvPr id="25" name="Text 23"/>
          <p:cNvSpPr/>
          <p:nvPr/>
        </p:nvSpPr>
        <p:spPr>
          <a:xfrm>
            <a:off x="5892552" y="3475732"/>
            <a:ext cx="2617113" cy="342900"/>
          </a:xfrm>
          <a:prstGeom prst="rect">
            <a:avLst/>
          </a:prstGeom>
          <a:noFill/>
          <a:ln/>
        </p:spPr>
        <p:txBody>
          <a:bodyPr wrap="square" lIns="0" tIns="0" rIns="0" bIns="0" rtlCol="0" anchor="t"/>
          <a:lstStyle/>
          <a:p>
            <a:pPr algn="l" indent="0" marL="0">
              <a:spcBef>
                <a:spcPts val="200"/>
              </a:spcBef>
              <a:buNone/>
            </a:pPr>
            <a:r>
              <a:rPr lang="en-US" sz="900" dirty="0">
                <a:solidFill>
                  <a:srgbClr val="607080"/>
                </a:solidFill>
                <a:latin typeface="Arial" pitchFamily="34" charset="0"/>
                <a:ea typeface="Arial" pitchFamily="34" charset="-122"/>
                <a:cs typeface="Arial" pitchFamily="34" charset="-120"/>
              </a:rPr>
              <a:t>タグ・トピック・クリップで発信フォーマット設計</a:t>
            </a:r>
            <a:endParaRPr lang="en-US" sz="900" dirty="0"/>
          </a:p>
        </p:txBody>
      </p:sp>
      <p:sp>
        <p:nvSpPr>
          <p:cNvPr id="26" name="Text 24"/>
          <p:cNvSpPr/>
          <p:nvPr/>
        </p:nvSpPr>
        <p:spPr>
          <a:xfrm>
            <a:off x="5664101" y="3945434"/>
            <a:ext cx="101501" cy="101501"/>
          </a:xfrm>
          <a:prstGeom prst="roundRect">
            <a:avLst>
              <a:gd name="adj" fmla="val 900878"/>
            </a:avLst>
          </a:prstGeom>
          <a:solidFill>
            <a:srgbClr val="C0CDD8"/>
          </a:solidFill>
          <a:ln/>
        </p:spPr>
        <p:txBody>
          <a:bodyPr wrap="square" rtlCol="0" anchor="ctr"/>
          <a:lstStyle/>
          <a:p>
            <a:pPr indent="0" marL="0">
              <a:buNone/>
            </a:pPr>
            <a:endParaRPr lang="en-US" dirty="0"/>
          </a:p>
        </p:txBody>
      </p:sp>
      <p:sp>
        <p:nvSpPr>
          <p:cNvPr id="27" name="Text 25"/>
          <p:cNvSpPr/>
          <p:nvPr/>
        </p:nvSpPr>
        <p:spPr>
          <a:xfrm>
            <a:off x="5892552" y="3920133"/>
            <a:ext cx="2617113" cy="200025"/>
          </a:xfrm>
          <a:prstGeom prst="rect">
            <a:avLst/>
          </a:prstGeom>
          <a:noFill/>
          <a:ln/>
        </p:spPr>
        <p:txBody>
          <a:bodyPr wrap="square" lIns="0" tIns="0" rIns="0" bIns="0" rtlCol="0" anchor="t"/>
          <a:lstStyle/>
          <a:p>
            <a:pPr algn="l" indent="0" marL="0">
              <a:buNone/>
            </a:pPr>
            <a:r>
              <a:rPr lang="en-US" sz="1000" b="1" dirty="0">
                <a:solidFill>
                  <a:srgbClr val="1E2A3A"/>
                </a:solidFill>
                <a:latin typeface="Arial" pitchFamily="34" charset="0"/>
                <a:ea typeface="Arial" pitchFamily="34" charset="-122"/>
                <a:cs typeface="Arial" pitchFamily="34" charset="-120"/>
              </a:rPr>
              <a:t>次のイベント（未定）</a:t>
            </a:r>
            <a:endParaRPr lang="en-US" sz="1000" dirty="0"/>
          </a:p>
        </p:txBody>
      </p:sp>
      <p:sp>
        <p:nvSpPr>
          <p:cNvPr id="28" name="Text 26"/>
          <p:cNvSpPr/>
          <p:nvPr/>
        </p:nvSpPr>
        <p:spPr>
          <a:xfrm>
            <a:off x="5892552" y="4145459"/>
            <a:ext cx="2617113" cy="171450"/>
          </a:xfrm>
          <a:prstGeom prst="rect">
            <a:avLst/>
          </a:prstGeom>
          <a:noFill/>
          <a:ln/>
        </p:spPr>
        <p:txBody>
          <a:bodyPr wrap="square" lIns="0" tIns="0" rIns="0" bIns="0" rtlCol="0" anchor="t"/>
          <a:lstStyle/>
          <a:p>
            <a:pPr algn="l" indent="0" marL="0">
              <a:spcBef>
                <a:spcPts val="200"/>
              </a:spcBef>
              <a:buNone/>
            </a:pPr>
            <a:r>
              <a:rPr lang="en-US" sz="900" dirty="0">
                <a:solidFill>
                  <a:srgbClr val="607080"/>
                </a:solidFill>
                <a:latin typeface="Arial" pitchFamily="34" charset="0"/>
                <a:ea typeface="Arial" pitchFamily="34" charset="-122"/>
                <a:cs typeface="Arial" pitchFamily="34" charset="-120"/>
              </a:rPr>
              <a:t>NEWTOWNの知見をそのまま転用・さらに強化</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Text 0"/>
          <p:cNvSpPr/>
          <p:nvPr/>
        </p:nvSpPr>
        <p:spPr>
          <a:xfrm>
            <a:off x="0" y="0"/>
            <a:ext cx="9144000" cy="593675"/>
          </a:xfrm>
          <a:prstGeom prst="rect">
            <a:avLst/>
          </a:prstGeom>
          <a:solidFill>
            <a:srgbClr val="243040"/>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4" name="Text 2"/>
          <p:cNvSpPr/>
          <p:nvPr/>
        </p:nvSpPr>
        <p:spPr>
          <a:xfrm>
            <a:off x="736550" y="152400"/>
            <a:ext cx="1450646"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活用できる機能</a:t>
            </a:r>
            <a:endParaRPr lang="en-US" sz="1600" dirty="0"/>
          </a:p>
        </p:txBody>
      </p:sp>
      <p:sp>
        <p:nvSpPr>
          <p:cNvPr id="5" name="Text 3"/>
          <p:cNvSpPr/>
          <p:nvPr/>
        </p:nvSpPr>
        <p:spPr>
          <a:xfrm>
            <a:off x="2311152" y="209550"/>
            <a:ext cx="1583323"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StreamerHubの発信素材</a:t>
            </a:r>
            <a:endParaRPr lang="en-US" sz="1000" dirty="0"/>
          </a:p>
        </p:txBody>
      </p:sp>
      <p:sp>
        <p:nvSpPr>
          <p:cNvPr id="6" name="Text 4"/>
          <p:cNvSpPr/>
          <p:nvPr/>
        </p:nvSpPr>
        <p:spPr>
          <a:xfrm>
            <a:off x="507950" y="771376"/>
            <a:ext cx="2743200" cy="1260277"/>
          </a:xfrm>
          <a:prstGeom prst="roundRect">
            <a:avLst>
              <a:gd name="adj" fmla="val 8062"/>
            </a:avLst>
          </a:prstGeom>
          <a:solidFill>
            <a:srgbClr val="2C3E50"/>
          </a:solidFill>
          <a:ln/>
        </p:spPr>
        <p:txBody>
          <a:bodyPr wrap="square" rtlCol="0" anchor="ctr"/>
          <a:lstStyle/>
          <a:p>
            <a:pPr indent="0" marL="0">
              <a:buNone/>
            </a:pPr>
            <a:endParaRPr lang="en-US" dirty="0"/>
          </a:p>
        </p:txBody>
      </p:sp>
      <p:sp>
        <p:nvSpPr>
          <p:cNvPr id="7" name="Shape 5"/>
          <p:cNvSpPr/>
          <p:nvPr/>
        </p:nvSpPr>
        <p:spPr>
          <a:xfrm>
            <a:off x="507950" y="790426"/>
            <a:ext cx="2743200" cy="0"/>
          </a:xfrm>
          <a:prstGeom prst="line">
            <a:avLst/>
          </a:prstGeom>
          <a:noFill/>
          <a:ln w="38100">
            <a:solidFill>
              <a:srgbClr val="4CAF50"/>
            </a:solidFill>
            <a:prstDash val="solid"/>
          </a:ln>
        </p:spPr>
      </p:sp>
      <p:sp>
        <p:nvSpPr>
          <p:cNvPr id="8" name="Text 6"/>
          <p:cNvSpPr/>
          <p:nvPr/>
        </p:nvSpPr>
        <p:spPr>
          <a:xfrm>
            <a:off x="685651" y="987177"/>
            <a:ext cx="2435554" cy="142875"/>
          </a:xfrm>
          <a:prstGeom prst="rect">
            <a:avLst/>
          </a:prstGeom>
          <a:noFill/>
          <a:ln/>
        </p:spPr>
        <p:txBody>
          <a:bodyPr wrap="square" lIns="0" tIns="0" rIns="0" bIns="0" rtlCol="0" anchor="t"/>
          <a:lstStyle/>
          <a:p>
            <a:pPr algn="l" indent="0" marL="0">
              <a:spcAft>
                <a:spcPts val="600"/>
              </a:spcAft>
              <a:buNone/>
            </a:pPr>
            <a:r>
              <a:rPr lang="en-US" sz="800" b="1" dirty="0">
                <a:solidFill>
                  <a:srgbClr val="4CAF50"/>
                </a:solidFill>
                <a:latin typeface="Arial" pitchFamily="34" charset="0"/>
                <a:ea typeface="Arial" pitchFamily="34" charset="-122"/>
                <a:cs typeface="Arial" pitchFamily="34" charset="-120"/>
              </a:rPr>
              <a:t>稼働中</a:t>
            </a:r>
            <a:endParaRPr lang="en-US" sz="800" dirty="0"/>
          </a:p>
        </p:txBody>
      </p:sp>
      <p:sp>
        <p:nvSpPr>
          <p:cNvPr id="9" name="Text 7"/>
          <p:cNvSpPr/>
          <p:nvPr/>
        </p:nvSpPr>
        <p:spPr>
          <a:xfrm>
            <a:off x="685651" y="1206252"/>
            <a:ext cx="2435554" cy="228600"/>
          </a:xfrm>
          <a:prstGeom prst="rect">
            <a:avLst/>
          </a:prstGeom>
          <a:noFill/>
          <a:ln/>
        </p:spPr>
        <p:txBody>
          <a:bodyPr wrap="square" lIns="0" tIns="0" rIns="0" bIns="0" rtlCol="0" anchor="t"/>
          <a:lstStyle/>
          <a:p>
            <a:pPr algn="l" indent="0" marL="0">
              <a:spcAft>
                <a:spcPts val="600"/>
              </a:spcAft>
              <a:buNone/>
            </a:pPr>
            <a:r>
              <a:rPr lang="en-US" sz="1200" b="1" dirty="0">
                <a:solidFill>
                  <a:srgbClr val="FFFFFF"/>
                </a:solidFill>
                <a:latin typeface="Arial" pitchFamily="34" charset="0"/>
                <a:ea typeface="Arial" pitchFamily="34" charset="-122"/>
                <a:cs typeface="Arial" pitchFamily="34" charset="-120"/>
              </a:rPr>
              <a:t>マルチビュー</a:t>
            </a:r>
            <a:endParaRPr lang="en-US" sz="1200" dirty="0"/>
          </a:p>
        </p:txBody>
      </p:sp>
      <p:sp>
        <p:nvSpPr>
          <p:cNvPr id="10" name="Text 8"/>
          <p:cNvSpPr/>
          <p:nvPr/>
        </p:nvSpPr>
        <p:spPr>
          <a:xfrm>
            <a:off x="685651" y="1511052"/>
            <a:ext cx="2435554" cy="342900"/>
          </a:xfrm>
          <a:prstGeom prst="rect">
            <a:avLst/>
          </a:prstGeom>
          <a:noFill/>
          <a:ln/>
        </p:spPr>
        <p:txBody>
          <a:bodyPr wrap="square" lIns="0" tIns="0" rIns="0" bIns="0" rtlCol="0" anchor="t"/>
          <a:lstStyle/>
          <a:p>
            <a:pPr algn="l" indent="0" marL="0">
              <a:lnSpc>
                <a:spcPts val="1350"/>
              </a:lnSpc>
              <a:buNone/>
            </a:pPr>
            <a:r>
              <a:rPr lang="en-US" sz="900" dirty="0">
                <a:solidFill>
                  <a:srgbClr val="90A4AE"/>
                </a:solidFill>
                <a:latin typeface="Arial" pitchFamily="34" charset="0"/>
                <a:ea typeface="Arial" pitchFamily="34" charset="-122"/>
                <a:cs typeface="Arial" pitchFamily="34" charset="-120"/>
              </a:rPr>
              <a:t>複数配信の同時視聴。配信者基準で選ぶだけで現在の配信が自動配置される。</a:t>
            </a:r>
            <a:endParaRPr lang="en-US" sz="900" dirty="0"/>
          </a:p>
        </p:txBody>
      </p:sp>
      <p:sp>
        <p:nvSpPr>
          <p:cNvPr id="11" name="Text 9"/>
          <p:cNvSpPr/>
          <p:nvPr/>
        </p:nvSpPr>
        <p:spPr>
          <a:xfrm>
            <a:off x="3403550" y="771376"/>
            <a:ext cx="2743200" cy="1260277"/>
          </a:xfrm>
          <a:prstGeom prst="roundRect">
            <a:avLst>
              <a:gd name="adj" fmla="val 8062"/>
            </a:avLst>
          </a:prstGeom>
          <a:solidFill>
            <a:srgbClr val="2C3E50"/>
          </a:solidFill>
          <a:ln/>
        </p:spPr>
        <p:txBody>
          <a:bodyPr wrap="square" rtlCol="0" anchor="ctr"/>
          <a:lstStyle/>
          <a:p>
            <a:pPr indent="0" marL="0">
              <a:buNone/>
            </a:pPr>
            <a:endParaRPr lang="en-US" dirty="0"/>
          </a:p>
        </p:txBody>
      </p:sp>
      <p:sp>
        <p:nvSpPr>
          <p:cNvPr id="12" name="Shape 10"/>
          <p:cNvSpPr/>
          <p:nvPr/>
        </p:nvSpPr>
        <p:spPr>
          <a:xfrm>
            <a:off x="3403550" y="790426"/>
            <a:ext cx="2743200" cy="0"/>
          </a:xfrm>
          <a:prstGeom prst="line">
            <a:avLst/>
          </a:prstGeom>
          <a:noFill/>
          <a:ln w="38100">
            <a:solidFill>
              <a:srgbClr val="FFC107"/>
            </a:solidFill>
            <a:prstDash val="solid"/>
          </a:ln>
        </p:spPr>
      </p:sp>
      <p:sp>
        <p:nvSpPr>
          <p:cNvPr id="13" name="Text 11"/>
          <p:cNvSpPr/>
          <p:nvPr/>
        </p:nvSpPr>
        <p:spPr>
          <a:xfrm>
            <a:off x="3581251" y="987177"/>
            <a:ext cx="2435554" cy="142875"/>
          </a:xfrm>
          <a:prstGeom prst="rect">
            <a:avLst/>
          </a:prstGeom>
          <a:noFill/>
          <a:ln/>
        </p:spPr>
        <p:txBody>
          <a:bodyPr wrap="square" lIns="0" tIns="0" rIns="0" bIns="0" rtlCol="0" anchor="t"/>
          <a:lstStyle/>
          <a:p>
            <a:pPr algn="l" indent="0" marL="0">
              <a:spcAft>
                <a:spcPts val="600"/>
              </a:spcAft>
              <a:buNone/>
            </a:pPr>
            <a:r>
              <a:rPr lang="en-US" sz="800" b="1" dirty="0">
                <a:solidFill>
                  <a:srgbClr val="FFC107"/>
                </a:solidFill>
                <a:latin typeface="Arial" pitchFamily="34" charset="0"/>
                <a:ea typeface="Arial" pitchFamily="34" charset="-122"/>
                <a:cs typeface="Arial" pitchFamily="34" charset="-120"/>
              </a:rPr>
              <a:t>本日公開</a:t>
            </a:r>
            <a:endParaRPr lang="en-US" sz="800" dirty="0"/>
          </a:p>
        </p:txBody>
      </p:sp>
      <p:sp>
        <p:nvSpPr>
          <p:cNvPr id="14" name="Text 12"/>
          <p:cNvSpPr/>
          <p:nvPr/>
        </p:nvSpPr>
        <p:spPr>
          <a:xfrm>
            <a:off x="3581251" y="1206252"/>
            <a:ext cx="2435554" cy="228600"/>
          </a:xfrm>
          <a:prstGeom prst="rect">
            <a:avLst/>
          </a:prstGeom>
          <a:noFill/>
          <a:ln/>
        </p:spPr>
        <p:txBody>
          <a:bodyPr wrap="square" lIns="0" tIns="0" rIns="0" bIns="0" rtlCol="0" anchor="t"/>
          <a:lstStyle/>
          <a:p>
            <a:pPr algn="l" indent="0" marL="0">
              <a:spcAft>
                <a:spcPts val="600"/>
              </a:spcAft>
              <a:buNone/>
            </a:pPr>
            <a:r>
              <a:rPr lang="en-US" sz="1200" b="1" dirty="0">
                <a:solidFill>
                  <a:srgbClr val="FFFFFF"/>
                </a:solidFill>
                <a:latin typeface="Arial" pitchFamily="34" charset="0"/>
                <a:ea typeface="Arial" pitchFamily="34" charset="-122"/>
                <a:cs typeface="Arial" pitchFamily="34" charset="-120"/>
              </a:rPr>
              <a:t>クリップ（切り抜き）</a:t>
            </a:r>
            <a:endParaRPr lang="en-US" sz="1200" dirty="0"/>
          </a:p>
        </p:txBody>
      </p:sp>
      <p:sp>
        <p:nvSpPr>
          <p:cNvPr id="15" name="Text 13"/>
          <p:cNvSpPr/>
          <p:nvPr/>
        </p:nvSpPr>
        <p:spPr>
          <a:xfrm>
            <a:off x="3581251" y="1511052"/>
            <a:ext cx="2435554" cy="342900"/>
          </a:xfrm>
          <a:prstGeom prst="rect">
            <a:avLst/>
          </a:prstGeom>
          <a:noFill/>
          <a:ln/>
        </p:spPr>
        <p:txBody>
          <a:bodyPr wrap="square" lIns="0" tIns="0" rIns="0" bIns="0" rtlCol="0" anchor="t"/>
          <a:lstStyle/>
          <a:p>
            <a:pPr algn="l" indent="0" marL="0">
              <a:lnSpc>
                <a:spcPts val="1350"/>
              </a:lnSpc>
              <a:buNone/>
            </a:pPr>
            <a:r>
              <a:rPr lang="en-US" sz="900" dirty="0">
                <a:solidFill>
                  <a:srgbClr val="90A4AE"/>
                </a:solidFill>
                <a:latin typeface="Arial" pitchFamily="34" charset="0"/>
                <a:ea typeface="Arial" pitchFamily="34" charset="-122"/>
                <a:cs typeface="Arial" pitchFamily="34" charset="-120"/>
              </a:rPr>
              <a:t>配信者コンテンツの切り抜き。紐付け整備中。ファン層への訴求素材になる。</a:t>
            </a:r>
            <a:endParaRPr lang="en-US" sz="900" dirty="0"/>
          </a:p>
        </p:txBody>
      </p:sp>
      <p:sp>
        <p:nvSpPr>
          <p:cNvPr id="16" name="Text 14"/>
          <p:cNvSpPr/>
          <p:nvPr/>
        </p:nvSpPr>
        <p:spPr>
          <a:xfrm>
            <a:off x="507950" y="2184053"/>
            <a:ext cx="2743200" cy="1260277"/>
          </a:xfrm>
          <a:prstGeom prst="roundRect">
            <a:avLst>
              <a:gd name="adj" fmla="val 8062"/>
            </a:avLst>
          </a:prstGeom>
          <a:solidFill>
            <a:srgbClr val="2C3E50"/>
          </a:solidFill>
          <a:ln/>
        </p:spPr>
        <p:txBody>
          <a:bodyPr wrap="square" rtlCol="0" anchor="ctr"/>
          <a:lstStyle/>
          <a:p>
            <a:pPr indent="0" marL="0">
              <a:buNone/>
            </a:pPr>
            <a:endParaRPr lang="en-US" dirty="0"/>
          </a:p>
        </p:txBody>
      </p:sp>
      <p:sp>
        <p:nvSpPr>
          <p:cNvPr id="17" name="Shape 15"/>
          <p:cNvSpPr/>
          <p:nvPr/>
        </p:nvSpPr>
        <p:spPr>
          <a:xfrm>
            <a:off x="507950" y="2203103"/>
            <a:ext cx="2743200" cy="0"/>
          </a:xfrm>
          <a:prstGeom prst="line">
            <a:avLst/>
          </a:prstGeom>
          <a:noFill/>
          <a:ln w="38100">
            <a:solidFill>
              <a:srgbClr val="FFC107"/>
            </a:solidFill>
            <a:prstDash val="solid"/>
          </a:ln>
        </p:spPr>
      </p:sp>
      <p:sp>
        <p:nvSpPr>
          <p:cNvPr id="18" name="Text 16"/>
          <p:cNvSpPr/>
          <p:nvPr/>
        </p:nvSpPr>
        <p:spPr>
          <a:xfrm>
            <a:off x="685651" y="2399854"/>
            <a:ext cx="2435554" cy="142875"/>
          </a:xfrm>
          <a:prstGeom prst="rect">
            <a:avLst/>
          </a:prstGeom>
          <a:noFill/>
          <a:ln/>
        </p:spPr>
        <p:txBody>
          <a:bodyPr wrap="square" lIns="0" tIns="0" rIns="0" bIns="0" rtlCol="0" anchor="t"/>
          <a:lstStyle/>
          <a:p>
            <a:pPr algn="l" indent="0" marL="0">
              <a:spcAft>
                <a:spcPts val="600"/>
              </a:spcAft>
              <a:buNone/>
            </a:pPr>
            <a:r>
              <a:rPr lang="en-US" sz="800" b="1" dirty="0">
                <a:solidFill>
                  <a:srgbClr val="FFC107"/>
                </a:solidFill>
                <a:latin typeface="Arial" pitchFamily="34" charset="0"/>
                <a:ea typeface="Arial" pitchFamily="34" charset="-122"/>
                <a:cs typeface="Arial" pitchFamily="34" charset="-120"/>
              </a:rPr>
              <a:t>本日公開</a:t>
            </a:r>
            <a:endParaRPr lang="en-US" sz="800" dirty="0"/>
          </a:p>
        </p:txBody>
      </p:sp>
      <p:sp>
        <p:nvSpPr>
          <p:cNvPr id="19" name="Text 17"/>
          <p:cNvSpPr/>
          <p:nvPr/>
        </p:nvSpPr>
        <p:spPr>
          <a:xfrm>
            <a:off x="685651" y="2618929"/>
            <a:ext cx="2435554" cy="228600"/>
          </a:xfrm>
          <a:prstGeom prst="rect">
            <a:avLst/>
          </a:prstGeom>
          <a:noFill/>
          <a:ln/>
        </p:spPr>
        <p:txBody>
          <a:bodyPr wrap="square" lIns="0" tIns="0" rIns="0" bIns="0" rtlCol="0" anchor="t"/>
          <a:lstStyle/>
          <a:p>
            <a:pPr algn="l" indent="0" marL="0">
              <a:spcAft>
                <a:spcPts val="600"/>
              </a:spcAft>
              <a:buNone/>
            </a:pPr>
            <a:r>
              <a:rPr lang="en-US" sz="1200" b="1" dirty="0">
                <a:solidFill>
                  <a:srgbClr val="FFFFFF"/>
                </a:solidFill>
                <a:latin typeface="Arial" pitchFamily="34" charset="0"/>
                <a:ea typeface="Arial" pitchFamily="34" charset="-122"/>
                <a:cs typeface="Arial" pitchFamily="34" charset="-120"/>
              </a:rPr>
              <a:t>タグ付け</a:t>
            </a:r>
            <a:endParaRPr lang="en-US" sz="1200" dirty="0"/>
          </a:p>
        </p:txBody>
      </p:sp>
      <p:sp>
        <p:nvSpPr>
          <p:cNvPr id="20" name="Text 18"/>
          <p:cNvSpPr/>
          <p:nvPr/>
        </p:nvSpPr>
        <p:spPr>
          <a:xfrm>
            <a:off x="685651" y="2923729"/>
            <a:ext cx="2435554" cy="342900"/>
          </a:xfrm>
          <a:prstGeom prst="rect">
            <a:avLst/>
          </a:prstGeom>
          <a:noFill/>
          <a:ln/>
        </p:spPr>
        <p:txBody>
          <a:bodyPr wrap="square" lIns="0" tIns="0" rIns="0" bIns="0" rtlCol="0" anchor="t"/>
          <a:lstStyle/>
          <a:p>
            <a:pPr algn="l" indent="0" marL="0">
              <a:lnSpc>
                <a:spcPts val="1350"/>
              </a:lnSpc>
              <a:buNone/>
            </a:pPr>
            <a:r>
              <a:rPr lang="en-US" sz="900" dirty="0">
                <a:solidFill>
                  <a:srgbClr val="90A4AE"/>
                </a:solidFill>
                <a:latin typeface="Arial" pitchFamily="34" charset="0"/>
                <a:ea typeface="Arial" pitchFamily="34" charset="-122"/>
                <a:cs typeface="Arial" pitchFamily="34" charset="-120"/>
              </a:rPr>
              <a:t>コンテンツへのタグ付け。現在タグ作成進行中。検索・発見性を高める。</a:t>
            </a:r>
            <a:endParaRPr lang="en-US" sz="900" dirty="0"/>
          </a:p>
        </p:txBody>
      </p:sp>
      <p:sp>
        <p:nvSpPr>
          <p:cNvPr id="21" name="Text 19"/>
          <p:cNvSpPr/>
          <p:nvPr/>
        </p:nvSpPr>
        <p:spPr>
          <a:xfrm>
            <a:off x="3403550" y="2184053"/>
            <a:ext cx="2743200" cy="1260277"/>
          </a:xfrm>
          <a:prstGeom prst="roundRect">
            <a:avLst>
              <a:gd name="adj" fmla="val 8062"/>
            </a:avLst>
          </a:prstGeom>
          <a:solidFill>
            <a:srgbClr val="2C3E50"/>
          </a:solidFill>
          <a:ln/>
        </p:spPr>
        <p:txBody>
          <a:bodyPr wrap="square" rtlCol="0" anchor="ctr"/>
          <a:lstStyle/>
          <a:p>
            <a:pPr indent="0" marL="0">
              <a:buNone/>
            </a:pPr>
            <a:endParaRPr lang="en-US" dirty="0"/>
          </a:p>
        </p:txBody>
      </p:sp>
      <p:sp>
        <p:nvSpPr>
          <p:cNvPr id="22" name="Shape 20"/>
          <p:cNvSpPr/>
          <p:nvPr/>
        </p:nvSpPr>
        <p:spPr>
          <a:xfrm>
            <a:off x="3403550" y="2203103"/>
            <a:ext cx="2743200" cy="0"/>
          </a:xfrm>
          <a:prstGeom prst="line">
            <a:avLst/>
          </a:prstGeom>
          <a:noFill/>
          <a:ln w="38100">
            <a:solidFill>
              <a:srgbClr val="FFC107"/>
            </a:solidFill>
            <a:prstDash val="solid"/>
          </a:ln>
        </p:spPr>
      </p:sp>
      <p:sp>
        <p:nvSpPr>
          <p:cNvPr id="23" name="Text 21"/>
          <p:cNvSpPr/>
          <p:nvPr/>
        </p:nvSpPr>
        <p:spPr>
          <a:xfrm>
            <a:off x="3581251" y="2399854"/>
            <a:ext cx="2435554" cy="142875"/>
          </a:xfrm>
          <a:prstGeom prst="rect">
            <a:avLst/>
          </a:prstGeom>
          <a:noFill/>
          <a:ln/>
        </p:spPr>
        <p:txBody>
          <a:bodyPr wrap="square" lIns="0" tIns="0" rIns="0" bIns="0" rtlCol="0" anchor="t"/>
          <a:lstStyle/>
          <a:p>
            <a:pPr algn="l" indent="0" marL="0">
              <a:spcAft>
                <a:spcPts val="600"/>
              </a:spcAft>
              <a:buNone/>
            </a:pPr>
            <a:r>
              <a:rPr lang="en-US" sz="800" b="1" dirty="0">
                <a:solidFill>
                  <a:srgbClr val="FFC107"/>
                </a:solidFill>
                <a:latin typeface="Arial" pitchFamily="34" charset="0"/>
                <a:ea typeface="Arial" pitchFamily="34" charset="-122"/>
                <a:cs typeface="Arial" pitchFamily="34" charset="-120"/>
              </a:rPr>
              <a:t>本日公開</a:t>
            </a:r>
            <a:endParaRPr lang="en-US" sz="800" dirty="0"/>
          </a:p>
        </p:txBody>
      </p:sp>
      <p:sp>
        <p:nvSpPr>
          <p:cNvPr id="24" name="Text 22"/>
          <p:cNvSpPr/>
          <p:nvPr/>
        </p:nvSpPr>
        <p:spPr>
          <a:xfrm>
            <a:off x="3581251" y="2618929"/>
            <a:ext cx="2435554" cy="228600"/>
          </a:xfrm>
          <a:prstGeom prst="rect">
            <a:avLst/>
          </a:prstGeom>
          <a:noFill/>
          <a:ln/>
        </p:spPr>
        <p:txBody>
          <a:bodyPr wrap="square" lIns="0" tIns="0" rIns="0" bIns="0" rtlCol="0" anchor="t"/>
          <a:lstStyle/>
          <a:p>
            <a:pPr algn="l" indent="0" marL="0">
              <a:spcAft>
                <a:spcPts val="600"/>
              </a:spcAft>
              <a:buNone/>
            </a:pPr>
            <a:r>
              <a:rPr lang="en-US" sz="1200" b="1" dirty="0">
                <a:solidFill>
                  <a:srgbClr val="FFFFFF"/>
                </a:solidFill>
                <a:latin typeface="Arial" pitchFamily="34" charset="0"/>
                <a:ea typeface="Arial" pitchFamily="34" charset="-122"/>
                <a:cs typeface="Arial" pitchFamily="34" charset="-120"/>
              </a:rPr>
              <a:t>トピック付け</a:t>
            </a:r>
            <a:endParaRPr lang="en-US" sz="1200" dirty="0"/>
          </a:p>
        </p:txBody>
      </p:sp>
      <p:sp>
        <p:nvSpPr>
          <p:cNvPr id="25" name="Text 23"/>
          <p:cNvSpPr/>
          <p:nvPr/>
        </p:nvSpPr>
        <p:spPr>
          <a:xfrm>
            <a:off x="3581251" y="2923729"/>
            <a:ext cx="2435554" cy="342900"/>
          </a:xfrm>
          <a:prstGeom prst="rect">
            <a:avLst/>
          </a:prstGeom>
          <a:noFill/>
          <a:ln/>
        </p:spPr>
        <p:txBody>
          <a:bodyPr wrap="square" lIns="0" tIns="0" rIns="0" bIns="0" rtlCol="0" anchor="t"/>
          <a:lstStyle/>
          <a:p>
            <a:pPr algn="l" indent="0" marL="0">
              <a:lnSpc>
                <a:spcPts val="1350"/>
              </a:lnSpc>
              <a:buNone/>
            </a:pPr>
            <a:r>
              <a:rPr lang="en-US" sz="900" dirty="0">
                <a:solidFill>
                  <a:srgbClr val="90A4AE"/>
                </a:solidFill>
                <a:latin typeface="Arial" pitchFamily="34" charset="0"/>
                <a:ea typeface="Arial" pitchFamily="34" charset="-122"/>
                <a:cs typeface="Arial" pitchFamily="34" charset="-120"/>
              </a:rPr>
              <a:t>コンテンツのトピック整理。「このトピックをまとめた」系の投稿に活用できる。</a:t>
            </a:r>
            <a:endParaRPr lang="en-US" sz="900" dirty="0"/>
          </a:p>
        </p:txBody>
      </p:sp>
      <p:sp>
        <p:nvSpPr>
          <p:cNvPr id="26" name="Text 24"/>
          <p:cNvSpPr/>
          <p:nvPr/>
        </p:nvSpPr>
        <p:spPr>
          <a:xfrm>
            <a:off x="507950" y="3596729"/>
            <a:ext cx="5638949" cy="1260277"/>
          </a:xfrm>
          <a:prstGeom prst="roundRect">
            <a:avLst>
              <a:gd name="adj" fmla="val 8062"/>
            </a:avLst>
          </a:prstGeom>
          <a:solidFill>
            <a:srgbClr val="2C3E50"/>
          </a:solidFill>
          <a:ln/>
        </p:spPr>
        <p:txBody>
          <a:bodyPr wrap="square" rtlCol="0" anchor="ctr"/>
          <a:lstStyle/>
          <a:p>
            <a:pPr indent="0" marL="0">
              <a:buNone/>
            </a:pPr>
            <a:endParaRPr lang="en-US" dirty="0"/>
          </a:p>
        </p:txBody>
      </p:sp>
      <p:sp>
        <p:nvSpPr>
          <p:cNvPr id="27" name="Shape 25"/>
          <p:cNvSpPr/>
          <p:nvPr/>
        </p:nvSpPr>
        <p:spPr>
          <a:xfrm>
            <a:off x="507950" y="3615779"/>
            <a:ext cx="5638949" cy="0"/>
          </a:xfrm>
          <a:prstGeom prst="line">
            <a:avLst/>
          </a:prstGeom>
          <a:noFill/>
          <a:ln w="38100">
            <a:solidFill>
              <a:srgbClr val="607080"/>
            </a:solidFill>
            <a:prstDash val="solid"/>
          </a:ln>
        </p:spPr>
      </p:sp>
      <p:sp>
        <p:nvSpPr>
          <p:cNvPr id="28" name="Text 26"/>
          <p:cNvSpPr/>
          <p:nvPr/>
        </p:nvSpPr>
        <p:spPr>
          <a:xfrm>
            <a:off x="685651" y="3812530"/>
            <a:ext cx="5389218" cy="142875"/>
          </a:xfrm>
          <a:prstGeom prst="rect">
            <a:avLst/>
          </a:prstGeom>
          <a:noFill/>
          <a:ln/>
        </p:spPr>
        <p:txBody>
          <a:bodyPr wrap="square" lIns="0" tIns="0" rIns="0" bIns="0" rtlCol="0" anchor="t"/>
          <a:lstStyle/>
          <a:p>
            <a:pPr algn="l" indent="0" marL="0">
              <a:spcAft>
                <a:spcPts val="600"/>
              </a:spcAft>
              <a:buNone/>
            </a:pPr>
            <a:r>
              <a:rPr lang="en-US" sz="800" b="1" dirty="0">
                <a:solidFill>
                  <a:srgbClr val="90A4AE"/>
                </a:solidFill>
                <a:latin typeface="Arial" pitchFamily="34" charset="0"/>
                <a:ea typeface="Arial" pitchFamily="34" charset="-122"/>
                <a:cs typeface="Arial" pitchFamily="34" charset="-120"/>
              </a:rPr>
              <a:t>構築中</a:t>
            </a:r>
            <a:endParaRPr lang="en-US" sz="800" dirty="0"/>
          </a:p>
        </p:txBody>
      </p:sp>
      <p:sp>
        <p:nvSpPr>
          <p:cNvPr id="29" name="Text 27"/>
          <p:cNvSpPr/>
          <p:nvPr/>
        </p:nvSpPr>
        <p:spPr>
          <a:xfrm>
            <a:off x="685651" y="4031605"/>
            <a:ext cx="5389218" cy="228600"/>
          </a:xfrm>
          <a:prstGeom prst="rect">
            <a:avLst/>
          </a:prstGeom>
          <a:noFill/>
          <a:ln/>
        </p:spPr>
        <p:txBody>
          <a:bodyPr wrap="square" lIns="0" tIns="0" rIns="0" bIns="0" rtlCol="0" anchor="t"/>
          <a:lstStyle/>
          <a:p>
            <a:pPr algn="l" indent="0" marL="0">
              <a:spcAft>
                <a:spcPts val="600"/>
              </a:spcAft>
              <a:buNone/>
            </a:pPr>
            <a:r>
              <a:rPr lang="en-US" sz="1200" b="1" dirty="0">
                <a:solidFill>
                  <a:srgbClr val="FFFFFF"/>
                </a:solidFill>
                <a:latin typeface="Arial" pitchFamily="34" charset="0"/>
                <a:ea typeface="Arial" pitchFamily="34" charset="-122"/>
                <a:cs typeface="Arial" pitchFamily="34" charset="-120"/>
              </a:rPr>
              <a:t>自動連携</a:t>
            </a:r>
            <a:endParaRPr lang="en-US" sz="1200" dirty="0"/>
          </a:p>
        </p:txBody>
      </p:sp>
      <p:sp>
        <p:nvSpPr>
          <p:cNvPr id="30" name="Text 28"/>
          <p:cNvSpPr/>
          <p:nvPr/>
        </p:nvSpPr>
        <p:spPr>
          <a:xfrm>
            <a:off x="685651" y="4336405"/>
            <a:ext cx="5389218" cy="342900"/>
          </a:xfrm>
          <a:prstGeom prst="rect">
            <a:avLst/>
          </a:prstGeom>
          <a:noFill/>
          <a:ln/>
        </p:spPr>
        <p:txBody>
          <a:bodyPr wrap="square" lIns="0" tIns="0" rIns="0" bIns="0" rtlCol="0" anchor="t"/>
          <a:lstStyle/>
          <a:p>
            <a:pPr algn="l" indent="0" marL="0">
              <a:lnSpc>
                <a:spcPts val="1350"/>
              </a:lnSpc>
              <a:buNone/>
            </a:pPr>
            <a:r>
              <a:rPr lang="en-US" sz="900" dirty="0">
                <a:solidFill>
                  <a:srgbClr val="90A4AE"/>
                </a:solidFill>
                <a:latin typeface="Arial" pitchFamily="34" charset="0"/>
                <a:ea typeface="Arial" pitchFamily="34" charset="-122"/>
                <a:cs typeface="Arial" pitchFamily="34" charset="-120"/>
              </a:rPr>
              <a:t>タグ・トピックとコンテンツの自動連携。材料収集フェーズ。完成すればコンテンツ量産が可能になる。</a:t>
            </a:r>
            <a:endParaRPr lang="en-US" sz="900" dirty="0"/>
          </a:p>
        </p:txBody>
      </p:sp>
      <p:sp>
        <p:nvSpPr>
          <p:cNvPr id="31" name="Text 29"/>
          <p:cNvSpPr/>
          <p:nvPr/>
        </p:nvSpPr>
        <p:spPr>
          <a:xfrm>
            <a:off x="6350050" y="771376"/>
            <a:ext cx="2286000" cy="1390055"/>
          </a:xfrm>
          <a:prstGeom prst="roundRect">
            <a:avLst>
              <a:gd name="adj" fmla="val 7309"/>
            </a:avLst>
          </a:prstGeom>
          <a:solidFill>
            <a:srgbClr val="243040"/>
          </a:solidFill>
          <a:ln/>
        </p:spPr>
        <p:txBody>
          <a:bodyPr wrap="square" rtlCol="0" anchor="ctr"/>
          <a:lstStyle/>
          <a:p>
            <a:pPr indent="0" marL="0">
              <a:buNone/>
            </a:pPr>
            <a:endParaRPr lang="en-US" dirty="0"/>
          </a:p>
        </p:txBody>
      </p:sp>
      <p:sp>
        <p:nvSpPr>
          <p:cNvPr id="32" name="Text 30"/>
          <p:cNvSpPr/>
          <p:nvPr/>
        </p:nvSpPr>
        <p:spPr>
          <a:xfrm>
            <a:off x="6527750" y="949077"/>
            <a:ext cx="1969210" cy="200025"/>
          </a:xfrm>
          <a:prstGeom prst="rect">
            <a:avLst/>
          </a:prstGeom>
          <a:noFill/>
          <a:ln/>
        </p:spPr>
        <p:txBody>
          <a:bodyPr wrap="square" lIns="0" tIns="0" rIns="0" bIns="0" rtlCol="0" anchor="t"/>
          <a:lstStyle/>
          <a:p>
            <a:pPr algn="l" indent="0" marL="0">
              <a:spcAft>
                <a:spcPts val="800"/>
              </a:spcAft>
              <a:buNone/>
            </a:pPr>
            <a:r>
              <a:rPr lang="en-US" sz="1000" b="1" dirty="0">
                <a:solidFill>
                  <a:srgbClr val="00B4D8"/>
                </a:solidFill>
                <a:latin typeface="Arial" pitchFamily="34" charset="0"/>
                <a:ea typeface="Arial" pitchFamily="34" charset="-122"/>
                <a:cs typeface="Arial" pitchFamily="34" charset="-120"/>
              </a:rPr>
              <a:t>対応プラットフォーム</a:t>
            </a:r>
            <a:endParaRPr lang="en-US" sz="1000" dirty="0"/>
          </a:p>
        </p:txBody>
      </p:sp>
      <p:sp>
        <p:nvSpPr>
          <p:cNvPr id="33" name="Text 31"/>
          <p:cNvSpPr/>
          <p:nvPr/>
        </p:nvSpPr>
        <p:spPr>
          <a:xfrm>
            <a:off x="6527750" y="1250603"/>
            <a:ext cx="1930598" cy="733127"/>
          </a:xfrm>
          <a:prstGeom prst="rect">
            <a:avLst/>
          </a:prstGeom>
          <a:noFill/>
          <a:ln/>
        </p:spPr>
        <p:txBody>
          <a:bodyPr wrap="square" lIns="0" tIns="0" rIns="0" bIns="0" rtlCol="0" anchor="t"/>
          <a:lstStyle/>
          <a:p>
            <a:pPr algn="l" marL="342900" indent="-342900">
              <a:buSzPct val="100000"/>
              <a:buChar char="•"/>
            </a:pPr>
            <a:r>
              <a:rPr lang="en-US" sz="1000" dirty="0">
                <a:solidFill>
                  <a:srgbClr val="A0B4C8"/>
                </a:solidFill>
                <a:latin typeface="Arial" pitchFamily="34" charset="0"/>
                <a:ea typeface="Arial" pitchFamily="34" charset="-122"/>
                <a:cs typeface="Arial" pitchFamily="34" charset="-120"/>
              </a:rPr>
              <a:t>YouTube</a:t>
            </a:r>
            <a:endParaRPr lang="en-US" sz="1000" dirty="0"/>
          </a:p>
          <a:p>
            <a:pPr algn="l" marL="342900" indent="-342900">
              <a:buSzPct val="100000"/>
              <a:buChar char="•"/>
            </a:pPr>
            <a:r>
              <a:rPr lang="en-US" sz="1000" dirty="0">
                <a:solidFill>
                  <a:srgbClr val="A0B4C8"/>
                </a:solidFill>
                <a:latin typeface="Arial" pitchFamily="34" charset="0"/>
                <a:ea typeface="Arial" pitchFamily="34" charset="-122"/>
                <a:cs typeface="Arial" pitchFamily="34" charset="-120"/>
              </a:rPr>
              <a:t>Twitter / X</a:t>
            </a:r>
            <a:endParaRPr lang="en-US" sz="1000" dirty="0"/>
          </a:p>
          <a:p>
            <a:pPr algn="l" marL="342900" indent="-342900">
              <a:buSzPct val="100000"/>
              <a:buChar char="•"/>
            </a:pPr>
            <a:r>
              <a:rPr lang="en-US" sz="1000" dirty="0">
                <a:solidFill>
                  <a:srgbClr val="A0B4C8"/>
                </a:solidFill>
                <a:latin typeface="Arial" pitchFamily="34" charset="0"/>
                <a:ea typeface="Arial" pitchFamily="34" charset="-122"/>
                <a:cs typeface="Arial" pitchFamily="34" charset="-120"/>
              </a:rPr>
              <a:t>Twitch</a:t>
            </a:r>
            <a:endParaRPr lang="en-US" sz="1000" dirty="0"/>
          </a:p>
        </p:txBody>
      </p:sp>
      <p:sp>
        <p:nvSpPr>
          <p:cNvPr id="34" name="Text 32"/>
          <p:cNvSpPr/>
          <p:nvPr/>
        </p:nvSpPr>
        <p:spPr>
          <a:xfrm>
            <a:off x="6350050" y="2313831"/>
            <a:ext cx="2286000" cy="2651968"/>
          </a:xfrm>
          <a:prstGeom prst="roundRect">
            <a:avLst>
              <a:gd name="adj" fmla="val 4444"/>
            </a:avLst>
          </a:prstGeom>
          <a:solidFill>
            <a:srgbClr val="1A3A2A"/>
          </a:solidFill>
          <a:ln w="9525">
            <a:solidFill>
              <a:srgbClr val="2A5A3A"/>
            </a:solidFill>
          </a:ln>
        </p:spPr>
        <p:txBody>
          <a:bodyPr wrap="square" rtlCol="0" anchor="ctr"/>
          <a:lstStyle/>
          <a:p>
            <a:pPr indent="0" marL="0">
              <a:buNone/>
            </a:pPr>
            <a:endParaRPr lang="en-US" dirty="0"/>
          </a:p>
        </p:txBody>
      </p:sp>
      <p:sp>
        <p:nvSpPr>
          <p:cNvPr id="35" name="Text 33"/>
          <p:cNvSpPr/>
          <p:nvPr/>
        </p:nvSpPr>
        <p:spPr>
          <a:xfrm>
            <a:off x="6537275" y="2501057"/>
            <a:ext cx="1949779" cy="200025"/>
          </a:xfrm>
          <a:prstGeom prst="rect">
            <a:avLst/>
          </a:prstGeom>
          <a:noFill/>
          <a:ln/>
        </p:spPr>
        <p:txBody>
          <a:bodyPr wrap="square" lIns="0" tIns="0" rIns="0" bIns="0" rtlCol="0" anchor="t"/>
          <a:lstStyle/>
          <a:p>
            <a:pPr algn="l" indent="0" marL="0">
              <a:spcAft>
                <a:spcPts val="800"/>
              </a:spcAft>
              <a:buNone/>
            </a:pPr>
            <a:r>
              <a:rPr lang="en-US" sz="1000" b="1" dirty="0">
                <a:solidFill>
                  <a:srgbClr val="4CAF50"/>
                </a:solidFill>
                <a:latin typeface="Arial" pitchFamily="34" charset="0"/>
                <a:ea typeface="Arial" pitchFamily="34" charset="-122"/>
                <a:cs typeface="Arial" pitchFamily="34" charset="-120"/>
              </a:rPr>
              <a:t>マーケティング機会</a:t>
            </a:r>
            <a:endParaRPr lang="en-US" sz="1000" dirty="0"/>
          </a:p>
        </p:txBody>
      </p:sp>
      <p:sp>
        <p:nvSpPr>
          <p:cNvPr id="36" name="Text 34"/>
          <p:cNvSpPr/>
          <p:nvPr/>
        </p:nvSpPr>
        <p:spPr>
          <a:xfrm>
            <a:off x="6537275" y="2802582"/>
            <a:ext cx="1949779" cy="731044"/>
          </a:xfrm>
          <a:prstGeom prst="rect">
            <a:avLst/>
          </a:prstGeom>
          <a:noFill/>
          <a:ln/>
        </p:spPr>
        <p:txBody>
          <a:bodyPr wrap="square" lIns="0" tIns="0" rIns="0" bIns="0" rtlCol="0" anchor="t"/>
          <a:lstStyle/>
          <a:p>
            <a:pPr algn="l" indent="0" marL="0">
              <a:lnSpc>
                <a:spcPts val="1440"/>
              </a:lnSpc>
              <a:buNone/>
            </a:pPr>
            <a:r>
              <a:rPr lang="en-US" sz="900" dirty="0">
                <a:solidFill>
                  <a:srgbClr val="80C8A0"/>
                </a:solidFill>
                <a:latin typeface="Arial" pitchFamily="34" charset="0"/>
                <a:ea typeface="Arial" pitchFamily="34" charset="-122"/>
                <a:cs typeface="Arial" pitchFamily="34" charset="-120"/>
              </a:rPr>
              <a:t>タグ・トピック・クリップが充実すれば、配信者ファンに対してピンポイントで刺さるコンテンツ紹介投稿が可能になる。</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593675"/>
          </a:xfrm>
          <a:prstGeom prst="rect">
            <a:avLst/>
          </a:prstGeom>
          <a:solidFill>
            <a:srgbClr val="1E2A3A"/>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4" name="Text 2"/>
          <p:cNvSpPr/>
          <p:nvPr/>
        </p:nvSpPr>
        <p:spPr>
          <a:xfrm>
            <a:off x="736550" y="152400"/>
            <a:ext cx="1358652"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発信の3つの柱</a:t>
            </a:r>
            <a:endParaRPr lang="en-US" sz="1600" dirty="0"/>
          </a:p>
        </p:txBody>
      </p:sp>
      <p:sp>
        <p:nvSpPr>
          <p:cNvPr id="5" name="Text 3"/>
          <p:cNvSpPr/>
          <p:nvPr/>
        </p:nvSpPr>
        <p:spPr>
          <a:xfrm>
            <a:off x="2220962" y="209550"/>
            <a:ext cx="1072045"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コンテンツ戦略</a:t>
            </a:r>
            <a:endParaRPr lang="en-US" sz="1000" dirty="0"/>
          </a:p>
        </p:txBody>
      </p:sp>
      <p:sp>
        <p:nvSpPr>
          <p:cNvPr id="6" name="Text 4"/>
          <p:cNvSpPr/>
          <p:nvPr/>
        </p:nvSpPr>
        <p:spPr>
          <a:xfrm>
            <a:off x="507950" y="771376"/>
            <a:ext cx="2573834" cy="4194423"/>
          </a:xfrm>
          <a:prstGeom prst="roundRect">
            <a:avLst>
              <a:gd name="adj" fmla="val 4934"/>
            </a:avLst>
          </a:prstGeom>
          <a:solidFill>
            <a:srgbClr val="FFFFFF"/>
          </a:solidFill>
          <a:ln/>
          <a:effectLst>
            <a:outerShdw sx="100000" sy="100000" kx="0" ky="0" algn="bl" rotWithShape="0" blurRad="57150" dist="9525" dir="5400000">
              <a:srgbClr val="000000">
                <a:alpha val="8000"/>
              </a:srgbClr>
            </a:outerShdw>
          </a:effectLst>
        </p:spPr>
        <p:txBody>
          <a:bodyPr wrap="square" rtlCol="0" anchor="ctr"/>
          <a:lstStyle/>
          <a:p>
            <a:pPr indent="0" marL="0">
              <a:buNone/>
            </a:pPr>
            <a:endParaRPr lang="en-US" dirty="0"/>
          </a:p>
        </p:txBody>
      </p:sp>
      <p:sp>
        <p:nvSpPr>
          <p:cNvPr id="7" name="Text 5"/>
          <p:cNvSpPr/>
          <p:nvPr/>
        </p:nvSpPr>
        <p:spPr>
          <a:xfrm>
            <a:off x="736550" y="999976"/>
            <a:ext cx="355550" cy="355550"/>
          </a:xfrm>
          <a:prstGeom prst="roundRect">
            <a:avLst>
              <a:gd name="adj" fmla="val 257179"/>
            </a:avLst>
          </a:prstGeom>
          <a:solidFill>
            <a:srgbClr val="00B4D8"/>
          </a:solidFill>
          <a:ln/>
        </p:spPr>
        <p:txBody>
          <a:bodyPr wrap="square" rtlCol="0" anchor="ctr"/>
          <a:lstStyle/>
          <a:p>
            <a:pPr indent="0" marL="0">
              <a:buNone/>
            </a:pPr>
            <a:endParaRPr lang="en-US" dirty="0"/>
          </a:p>
        </p:txBody>
      </p:sp>
      <p:sp>
        <p:nvSpPr>
          <p:cNvPr id="8" name="Text 6"/>
          <p:cNvSpPr/>
          <p:nvPr/>
        </p:nvSpPr>
        <p:spPr>
          <a:xfrm>
            <a:off x="864840" y="1072902"/>
            <a:ext cx="100950"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736550" y="1482477"/>
            <a:ext cx="2158966" cy="247650"/>
          </a:xfrm>
          <a:prstGeom prst="rect">
            <a:avLst/>
          </a:prstGeom>
          <a:noFill/>
          <a:ln/>
        </p:spPr>
        <p:txBody>
          <a:bodyPr wrap="square" lIns="0" tIns="0" rIns="0" bIns="0" rtlCol="0" anchor="t"/>
          <a:lstStyle/>
          <a:p>
            <a:pPr algn="l" indent="0" marL="0">
              <a:spcAft>
                <a:spcPts val="600"/>
              </a:spcAft>
              <a:buNone/>
            </a:pPr>
            <a:r>
              <a:rPr lang="en-US" sz="1300" b="1" dirty="0">
                <a:solidFill>
                  <a:srgbClr val="1E2A3A"/>
                </a:solidFill>
                <a:latin typeface="Arial" pitchFamily="34" charset="0"/>
                <a:ea typeface="Arial" pitchFamily="34" charset="-122"/>
                <a:cs typeface="Arial" pitchFamily="34" charset="-120"/>
              </a:rPr>
              <a:t>コンテンツ紹介型</a:t>
            </a:r>
            <a:endParaRPr lang="en-US" sz="1300" dirty="0"/>
          </a:p>
        </p:txBody>
      </p:sp>
      <p:sp>
        <p:nvSpPr>
          <p:cNvPr id="10" name="Text 8"/>
          <p:cNvSpPr/>
          <p:nvPr/>
        </p:nvSpPr>
        <p:spPr>
          <a:xfrm>
            <a:off x="736550" y="1806327"/>
            <a:ext cx="2158966" cy="171450"/>
          </a:xfrm>
          <a:prstGeom prst="rect">
            <a:avLst/>
          </a:prstGeom>
          <a:noFill/>
          <a:ln/>
        </p:spPr>
        <p:txBody>
          <a:bodyPr wrap="square" lIns="0" tIns="0" rIns="0" bIns="0" rtlCol="0" anchor="t"/>
          <a:lstStyle/>
          <a:p>
            <a:pPr algn="l" indent="0" marL="0">
              <a:spcAft>
                <a:spcPts val="1200"/>
              </a:spcAft>
              <a:buNone/>
            </a:pPr>
            <a:r>
              <a:rPr lang="en-US" sz="900" dirty="0">
                <a:solidFill>
                  <a:srgbClr val="607080"/>
                </a:solidFill>
                <a:latin typeface="Arial" pitchFamily="34" charset="0"/>
                <a:ea typeface="Arial" pitchFamily="34" charset="-122"/>
                <a:cs typeface="Arial" pitchFamily="34" charset="-120"/>
              </a:rPr>
              <a:t>配信者ファンへのターゲット投稿</a:t>
            </a:r>
            <a:endParaRPr lang="en-US" sz="900" dirty="0"/>
          </a:p>
        </p:txBody>
      </p:sp>
      <p:sp>
        <p:nvSpPr>
          <p:cNvPr id="11" name="Text 9"/>
          <p:cNvSpPr/>
          <p:nvPr/>
        </p:nvSpPr>
        <p:spPr>
          <a:xfrm>
            <a:off x="736550" y="2168277"/>
            <a:ext cx="63401" cy="63401"/>
          </a:xfrm>
          <a:prstGeom prst="roundRect">
            <a:avLst>
              <a:gd name="adj" fmla="val 1442249"/>
            </a:avLst>
          </a:prstGeom>
          <a:solidFill>
            <a:srgbClr val="00B4D8"/>
          </a:solidFill>
          <a:ln/>
        </p:spPr>
        <p:txBody>
          <a:bodyPr wrap="square" rtlCol="0" anchor="ctr"/>
          <a:lstStyle/>
          <a:p>
            <a:pPr indent="0" marL="0">
              <a:buNone/>
            </a:pPr>
            <a:endParaRPr lang="en-US" dirty="0"/>
          </a:p>
        </p:txBody>
      </p:sp>
      <p:sp>
        <p:nvSpPr>
          <p:cNvPr id="12" name="Text 10"/>
          <p:cNvSpPr/>
          <p:nvPr/>
        </p:nvSpPr>
        <p:spPr>
          <a:xfrm>
            <a:off x="876151" y="2130177"/>
            <a:ext cx="2016573" cy="361950"/>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クリップ・タグ・トピックを使った配信者コンテンツ紹介</a:t>
            </a:r>
            <a:endParaRPr lang="en-US" sz="950" dirty="0"/>
          </a:p>
        </p:txBody>
      </p:sp>
      <p:sp>
        <p:nvSpPr>
          <p:cNvPr id="13" name="Text 11"/>
          <p:cNvSpPr/>
          <p:nvPr/>
        </p:nvSpPr>
        <p:spPr>
          <a:xfrm>
            <a:off x="736550" y="2606427"/>
            <a:ext cx="63401" cy="63401"/>
          </a:xfrm>
          <a:prstGeom prst="roundRect">
            <a:avLst>
              <a:gd name="adj" fmla="val 1442249"/>
            </a:avLst>
          </a:prstGeom>
          <a:solidFill>
            <a:srgbClr val="00B4D8"/>
          </a:solidFill>
          <a:ln/>
        </p:spPr>
        <p:txBody>
          <a:bodyPr wrap="square" rtlCol="0" anchor="ctr"/>
          <a:lstStyle/>
          <a:p>
            <a:pPr indent="0" marL="0">
              <a:buNone/>
            </a:pPr>
            <a:endParaRPr lang="en-US" dirty="0"/>
          </a:p>
        </p:txBody>
      </p:sp>
      <p:sp>
        <p:nvSpPr>
          <p:cNvPr id="14" name="Text 12"/>
          <p:cNvSpPr/>
          <p:nvPr/>
        </p:nvSpPr>
        <p:spPr>
          <a:xfrm>
            <a:off x="876151" y="2568327"/>
            <a:ext cx="2016573" cy="361950"/>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特定ファン層にピンポイントでリーチ</a:t>
            </a:r>
            <a:endParaRPr lang="en-US" sz="950" dirty="0"/>
          </a:p>
        </p:txBody>
      </p:sp>
      <p:sp>
        <p:nvSpPr>
          <p:cNvPr id="15" name="Text 13"/>
          <p:cNvSpPr/>
          <p:nvPr/>
        </p:nvSpPr>
        <p:spPr>
          <a:xfrm>
            <a:off x="736550" y="3044577"/>
            <a:ext cx="63401" cy="63401"/>
          </a:xfrm>
          <a:prstGeom prst="roundRect">
            <a:avLst>
              <a:gd name="adj" fmla="val 1442249"/>
            </a:avLst>
          </a:prstGeom>
          <a:solidFill>
            <a:srgbClr val="00B4D8"/>
          </a:solidFill>
          <a:ln/>
        </p:spPr>
        <p:txBody>
          <a:bodyPr wrap="square" rtlCol="0" anchor="ctr"/>
          <a:lstStyle/>
          <a:p>
            <a:pPr indent="0" marL="0">
              <a:buNone/>
            </a:pPr>
            <a:endParaRPr lang="en-US" dirty="0"/>
          </a:p>
        </p:txBody>
      </p:sp>
      <p:sp>
        <p:nvSpPr>
          <p:cNvPr id="16" name="Text 14"/>
          <p:cNvSpPr/>
          <p:nvPr/>
        </p:nvSpPr>
        <p:spPr>
          <a:xfrm>
            <a:off x="876151" y="3006477"/>
            <a:ext cx="1961468" cy="180975"/>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StreamerHubへの自然な導線を含む</a:t>
            </a:r>
            <a:endParaRPr lang="en-US" sz="950" dirty="0"/>
          </a:p>
        </p:txBody>
      </p:sp>
      <p:sp>
        <p:nvSpPr>
          <p:cNvPr id="17" name="Text 15"/>
          <p:cNvSpPr/>
          <p:nvPr/>
        </p:nvSpPr>
        <p:spPr>
          <a:xfrm>
            <a:off x="736550" y="4194572"/>
            <a:ext cx="2116634" cy="542627"/>
          </a:xfrm>
          <a:prstGeom prst="roundRect">
            <a:avLst>
              <a:gd name="adj" fmla="val 14043"/>
            </a:avLst>
          </a:prstGeom>
          <a:solidFill>
            <a:srgbClr val="E8F9FC"/>
          </a:solidFill>
          <a:ln/>
        </p:spPr>
        <p:txBody>
          <a:bodyPr wrap="square" rtlCol="0" anchor="ctr"/>
          <a:lstStyle/>
          <a:p>
            <a:pPr indent="0" marL="0">
              <a:buNone/>
            </a:pPr>
            <a:endParaRPr lang="en-US" dirty="0"/>
          </a:p>
        </p:txBody>
      </p:sp>
      <p:sp>
        <p:nvSpPr>
          <p:cNvPr id="18" name="Text 16"/>
          <p:cNvSpPr/>
          <p:nvPr/>
        </p:nvSpPr>
        <p:spPr>
          <a:xfrm>
            <a:off x="838051" y="4296073"/>
            <a:ext cx="1951905" cy="142875"/>
          </a:xfrm>
          <a:prstGeom prst="rect">
            <a:avLst/>
          </a:prstGeom>
          <a:noFill/>
          <a:ln/>
        </p:spPr>
        <p:txBody>
          <a:bodyPr wrap="square" lIns="0" tIns="0" rIns="0" bIns="0" rtlCol="0" anchor="t"/>
          <a:lstStyle/>
          <a:p>
            <a:pPr algn="l" indent="0" marL="0">
              <a:spcAft>
                <a:spcPts val="200"/>
              </a:spcAft>
              <a:buNone/>
            </a:pPr>
            <a:r>
              <a:rPr lang="en-US" sz="800" b="1" dirty="0">
                <a:solidFill>
                  <a:srgbClr val="0088AA"/>
                </a:solidFill>
                <a:latin typeface="Arial" pitchFamily="34" charset="0"/>
                <a:ea typeface="Arial" pitchFamily="34" charset="-122"/>
                <a:cs typeface="Arial" pitchFamily="34" charset="-120"/>
              </a:rPr>
              <a:t>開始タイミング</a:t>
            </a:r>
            <a:endParaRPr lang="en-US" sz="800" dirty="0"/>
          </a:p>
        </p:txBody>
      </p:sp>
      <p:sp>
        <p:nvSpPr>
          <p:cNvPr id="19" name="Text 17"/>
          <p:cNvSpPr/>
          <p:nvPr/>
        </p:nvSpPr>
        <p:spPr>
          <a:xfrm>
            <a:off x="838051" y="4464248"/>
            <a:ext cx="1951905" cy="171450"/>
          </a:xfrm>
          <a:prstGeom prst="rect">
            <a:avLst/>
          </a:prstGeom>
          <a:noFill/>
          <a:ln/>
        </p:spPr>
        <p:txBody>
          <a:bodyPr wrap="square" lIns="0" tIns="0" rIns="0" bIns="0" rtlCol="0" anchor="t"/>
          <a:lstStyle/>
          <a:p>
            <a:pPr algn="l" indent="0" marL="0">
              <a:buNone/>
            </a:pPr>
            <a:r>
              <a:rPr lang="en-US" sz="900" dirty="0">
                <a:solidFill>
                  <a:srgbClr val="606070"/>
                </a:solidFill>
                <a:latin typeface="Arial" pitchFamily="34" charset="0"/>
                <a:ea typeface="Arial" pitchFamily="34" charset="-122"/>
                <a:cs typeface="Arial" pitchFamily="34" charset="-120"/>
              </a:rPr>
              <a:t>タグ・クリップ整備後（近日中）</a:t>
            </a:r>
            <a:endParaRPr lang="en-US" sz="900" dirty="0"/>
          </a:p>
        </p:txBody>
      </p:sp>
      <p:sp>
        <p:nvSpPr>
          <p:cNvPr id="20" name="Text 18"/>
          <p:cNvSpPr/>
          <p:nvPr/>
        </p:nvSpPr>
        <p:spPr>
          <a:xfrm>
            <a:off x="3284934" y="771376"/>
            <a:ext cx="2573982" cy="4194423"/>
          </a:xfrm>
          <a:prstGeom prst="roundRect">
            <a:avLst>
              <a:gd name="adj" fmla="val 4934"/>
            </a:avLst>
          </a:prstGeom>
          <a:solidFill>
            <a:srgbClr val="FFFFFF"/>
          </a:solidFill>
          <a:ln/>
          <a:effectLst>
            <a:outerShdw sx="100000" sy="100000" kx="0" ky="0" algn="bl" rotWithShape="0" blurRad="57150" dist="9525" dir="5400000">
              <a:srgbClr val="000000">
                <a:alpha val="8000"/>
              </a:srgbClr>
            </a:outerShdw>
          </a:effectLst>
        </p:spPr>
        <p:txBody>
          <a:bodyPr wrap="square" rtlCol="0" anchor="ctr"/>
          <a:lstStyle/>
          <a:p>
            <a:pPr indent="0" marL="0">
              <a:buNone/>
            </a:pPr>
            <a:endParaRPr lang="en-US" dirty="0"/>
          </a:p>
        </p:txBody>
      </p:sp>
      <p:sp>
        <p:nvSpPr>
          <p:cNvPr id="21" name="Text 19"/>
          <p:cNvSpPr/>
          <p:nvPr/>
        </p:nvSpPr>
        <p:spPr>
          <a:xfrm>
            <a:off x="3513534" y="999976"/>
            <a:ext cx="355550" cy="355550"/>
          </a:xfrm>
          <a:prstGeom prst="roundRect">
            <a:avLst>
              <a:gd name="adj" fmla="val 257179"/>
            </a:avLst>
          </a:prstGeom>
          <a:solidFill>
            <a:srgbClr val="7B61FF"/>
          </a:solidFill>
          <a:ln/>
        </p:spPr>
        <p:txBody>
          <a:bodyPr wrap="square" rtlCol="0" anchor="ctr"/>
          <a:lstStyle/>
          <a:p>
            <a:pPr indent="0" marL="0">
              <a:buNone/>
            </a:pPr>
            <a:endParaRPr lang="en-US" dirty="0"/>
          </a:p>
        </p:txBody>
      </p:sp>
      <p:sp>
        <p:nvSpPr>
          <p:cNvPr id="22" name="Text 20"/>
          <p:cNvSpPr/>
          <p:nvPr/>
        </p:nvSpPr>
        <p:spPr>
          <a:xfrm>
            <a:off x="3641824" y="1072902"/>
            <a:ext cx="100950"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3" name="Text 21"/>
          <p:cNvSpPr/>
          <p:nvPr/>
        </p:nvSpPr>
        <p:spPr>
          <a:xfrm>
            <a:off x="3513534" y="1482477"/>
            <a:ext cx="2159118" cy="247650"/>
          </a:xfrm>
          <a:prstGeom prst="rect">
            <a:avLst/>
          </a:prstGeom>
          <a:noFill/>
          <a:ln/>
        </p:spPr>
        <p:txBody>
          <a:bodyPr wrap="square" lIns="0" tIns="0" rIns="0" bIns="0" rtlCol="0" anchor="t"/>
          <a:lstStyle/>
          <a:p>
            <a:pPr algn="l" indent="0" marL="0">
              <a:spcAft>
                <a:spcPts val="600"/>
              </a:spcAft>
              <a:buNone/>
            </a:pPr>
            <a:r>
              <a:rPr lang="en-US" sz="1300" b="1" dirty="0">
                <a:solidFill>
                  <a:srgbClr val="1E2A3A"/>
                </a:solidFill>
                <a:latin typeface="Arial" pitchFamily="34" charset="0"/>
                <a:ea typeface="Arial" pitchFamily="34" charset="-122"/>
                <a:cs typeface="Arial" pitchFamily="34" charset="-120"/>
              </a:rPr>
              <a:t>使い方・機能紹介型</a:t>
            </a:r>
            <a:endParaRPr lang="en-US" sz="1300" dirty="0"/>
          </a:p>
        </p:txBody>
      </p:sp>
      <p:sp>
        <p:nvSpPr>
          <p:cNvPr id="24" name="Text 22"/>
          <p:cNvSpPr/>
          <p:nvPr/>
        </p:nvSpPr>
        <p:spPr>
          <a:xfrm>
            <a:off x="3513534" y="1806327"/>
            <a:ext cx="2159118" cy="171450"/>
          </a:xfrm>
          <a:prstGeom prst="rect">
            <a:avLst/>
          </a:prstGeom>
          <a:noFill/>
          <a:ln/>
        </p:spPr>
        <p:txBody>
          <a:bodyPr wrap="square" lIns="0" tIns="0" rIns="0" bIns="0" rtlCol="0" anchor="t"/>
          <a:lstStyle/>
          <a:p>
            <a:pPr algn="l" indent="0" marL="0">
              <a:spcAft>
                <a:spcPts val="1200"/>
              </a:spcAft>
              <a:buNone/>
            </a:pPr>
            <a:r>
              <a:rPr lang="en-US" sz="900" dirty="0">
                <a:solidFill>
                  <a:srgbClr val="607080"/>
                </a:solidFill>
                <a:latin typeface="Arial" pitchFamily="34" charset="0"/>
                <a:ea typeface="Arial" pitchFamily="34" charset="-122"/>
                <a:cs typeface="Arial" pitchFamily="34" charset="-120"/>
              </a:rPr>
              <a:t>StreamerHubの価値を伝える</a:t>
            </a:r>
            <a:endParaRPr lang="en-US" sz="900" dirty="0"/>
          </a:p>
        </p:txBody>
      </p:sp>
      <p:sp>
        <p:nvSpPr>
          <p:cNvPr id="25" name="Text 23"/>
          <p:cNvSpPr/>
          <p:nvPr/>
        </p:nvSpPr>
        <p:spPr>
          <a:xfrm>
            <a:off x="3513534" y="2168277"/>
            <a:ext cx="63401" cy="63401"/>
          </a:xfrm>
          <a:prstGeom prst="roundRect">
            <a:avLst>
              <a:gd name="adj" fmla="val 1442249"/>
            </a:avLst>
          </a:prstGeom>
          <a:solidFill>
            <a:srgbClr val="7B61FF"/>
          </a:solidFill>
          <a:ln/>
        </p:spPr>
        <p:txBody>
          <a:bodyPr wrap="square" rtlCol="0" anchor="ctr"/>
          <a:lstStyle/>
          <a:p>
            <a:pPr indent="0" marL="0">
              <a:buNone/>
            </a:pPr>
            <a:endParaRPr lang="en-US" dirty="0"/>
          </a:p>
        </p:txBody>
      </p:sp>
      <p:sp>
        <p:nvSpPr>
          <p:cNvPr id="26" name="Text 24"/>
          <p:cNvSpPr/>
          <p:nvPr/>
        </p:nvSpPr>
        <p:spPr>
          <a:xfrm>
            <a:off x="3653135" y="2130177"/>
            <a:ext cx="1833952" cy="180975"/>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マルチビューの画面を見せる投稿</a:t>
            </a:r>
            <a:endParaRPr lang="en-US" sz="950" dirty="0"/>
          </a:p>
        </p:txBody>
      </p:sp>
      <p:sp>
        <p:nvSpPr>
          <p:cNvPr id="27" name="Text 25"/>
          <p:cNvSpPr/>
          <p:nvPr/>
        </p:nvSpPr>
        <p:spPr>
          <a:xfrm>
            <a:off x="3513534" y="2425452"/>
            <a:ext cx="63401" cy="63401"/>
          </a:xfrm>
          <a:prstGeom prst="roundRect">
            <a:avLst>
              <a:gd name="adj" fmla="val 1442249"/>
            </a:avLst>
          </a:prstGeom>
          <a:solidFill>
            <a:srgbClr val="7B61FF"/>
          </a:solidFill>
          <a:ln/>
        </p:spPr>
        <p:txBody>
          <a:bodyPr wrap="square" rtlCol="0" anchor="ctr"/>
          <a:lstStyle/>
          <a:p>
            <a:pPr indent="0" marL="0">
              <a:buNone/>
            </a:pPr>
            <a:endParaRPr lang="en-US" dirty="0"/>
          </a:p>
        </p:txBody>
      </p:sp>
      <p:sp>
        <p:nvSpPr>
          <p:cNvPr id="28" name="Text 26"/>
          <p:cNvSpPr/>
          <p:nvPr/>
        </p:nvSpPr>
        <p:spPr>
          <a:xfrm>
            <a:off x="3653135" y="2387352"/>
            <a:ext cx="2016725" cy="361950"/>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「こんな使い方ができる」という体験訴求</a:t>
            </a:r>
            <a:endParaRPr lang="en-US" sz="950" dirty="0"/>
          </a:p>
        </p:txBody>
      </p:sp>
      <p:sp>
        <p:nvSpPr>
          <p:cNvPr id="29" name="Text 27"/>
          <p:cNvSpPr/>
          <p:nvPr/>
        </p:nvSpPr>
        <p:spPr>
          <a:xfrm>
            <a:off x="3513534" y="2863602"/>
            <a:ext cx="63401" cy="63401"/>
          </a:xfrm>
          <a:prstGeom prst="roundRect">
            <a:avLst>
              <a:gd name="adj" fmla="val 1442249"/>
            </a:avLst>
          </a:prstGeom>
          <a:solidFill>
            <a:srgbClr val="7B61FF"/>
          </a:solidFill>
          <a:ln/>
        </p:spPr>
        <p:txBody>
          <a:bodyPr wrap="square" rtlCol="0" anchor="ctr"/>
          <a:lstStyle/>
          <a:p>
            <a:pPr indent="0" marL="0">
              <a:buNone/>
            </a:pPr>
            <a:endParaRPr lang="en-US" dirty="0"/>
          </a:p>
        </p:txBody>
      </p:sp>
      <p:sp>
        <p:nvSpPr>
          <p:cNvPr id="30" name="Text 28"/>
          <p:cNvSpPr/>
          <p:nvPr/>
        </p:nvSpPr>
        <p:spPr>
          <a:xfrm>
            <a:off x="3653135" y="2825502"/>
            <a:ext cx="2016725" cy="361950"/>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「StreamerHubとは何か」を積み上げる</a:t>
            </a:r>
            <a:endParaRPr lang="en-US" sz="950" dirty="0"/>
          </a:p>
        </p:txBody>
      </p:sp>
      <p:sp>
        <p:nvSpPr>
          <p:cNvPr id="31" name="Text 29"/>
          <p:cNvSpPr/>
          <p:nvPr/>
        </p:nvSpPr>
        <p:spPr>
          <a:xfrm>
            <a:off x="3513534" y="4194572"/>
            <a:ext cx="2116782" cy="542627"/>
          </a:xfrm>
          <a:prstGeom prst="roundRect">
            <a:avLst>
              <a:gd name="adj" fmla="val 14043"/>
            </a:avLst>
          </a:prstGeom>
          <a:solidFill>
            <a:srgbClr val="F0EEFF"/>
          </a:solidFill>
          <a:ln/>
        </p:spPr>
        <p:txBody>
          <a:bodyPr wrap="square" rtlCol="0" anchor="ctr"/>
          <a:lstStyle/>
          <a:p>
            <a:pPr indent="0" marL="0">
              <a:buNone/>
            </a:pPr>
            <a:endParaRPr lang="en-US" dirty="0"/>
          </a:p>
        </p:txBody>
      </p:sp>
      <p:sp>
        <p:nvSpPr>
          <p:cNvPr id="32" name="Text 30"/>
          <p:cNvSpPr/>
          <p:nvPr/>
        </p:nvSpPr>
        <p:spPr>
          <a:xfrm>
            <a:off x="3615035" y="4296073"/>
            <a:ext cx="1952056" cy="142875"/>
          </a:xfrm>
          <a:prstGeom prst="rect">
            <a:avLst/>
          </a:prstGeom>
          <a:noFill/>
          <a:ln/>
        </p:spPr>
        <p:txBody>
          <a:bodyPr wrap="square" lIns="0" tIns="0" rIns="0" bIns="0" rtlCol="0" anchor="t"/>
          <a:lstStyle/>
          <a:p>
            <a:pPr algn="l" indent="0" marL="0">
              <a:spcAft>
                <a:spcPts val="200"/>
              </a:spcAft>
              <a:buNone/>
            </a:pPr>
            <a:r>
              <a:rPr lang="en-US" sz="800" b="1" dirty="0">
                <a:solidFill>
                  <a:srgbClr val="5A40CC"/>
                </a:solidFill>
                <a:latin typeface="Arial" pitchFamily="34" charset="0"/>
                <a:ea typeface="Arial" pitchFamily="34" charset="-122"/>
                <a:cs typeface="Arial" pitchFamily="34" charset="-120"/>
              </a:rPr>
              <a:t>開始タイミング</a:t>
            </a:r>
            <a:endParaRPr lang="en-US" sz="800" dirty="0"/>
          </a:p>
        </p:txBody>
      </p:sp>
      <p:sp>
        <p:nvSpPr>
          <p:cNvPr id="33" name="Text 31"/>
          <p:cNvSpPr/>
          <p:nvPr/>
        </p:nvSpPr>
        <p:spPr>
          <a:xfrm>
            <a:off x="3615035" y="4464248"/>
            <a:ext cx="1952056" cy="171450"/>
          </a:xfrm>
          <a:prstGeom prst="rect">
            <a:avLst/>
          </a:prstGeom>
          <a:noFill/>
          <a:ln/>
        </p:spPr>
        <p:txBody>
          <a:bodyPr wrap="square" lIns="0" tIns="0" rIns="0" bIns="0" rtlCol="0" anchor="t"/>
          <a:lstStyle/>
          <a:p>
            <a:pPr algn="l" indent="0" marL="0">
              <a:buNone/>
            </a:pPr>
            <a:r>
              <a:rPr lang="en-US" sz="900" dirty="0">
                <a:solidFill>
                  <a:srgbClr val="606070"/>
                </a:solidFill>
                <a:latin typeface="Arial" pitchFamily="34" charset="0"/>
                <a:ea typeface="Arial" pitchFamily="34" charset="-122"/>
                <a:cs typeface="Arial" pitchFamily="34" charset="-120"/>
              </a:rPr>
              <a:t>今すぐ開始可能</a:t>
            </a:r>
            <a:endParaRPr lang="en-US" sz="900" dirty="0"/>
          </a:p>
        </p:txBody>
      </p:sp>
      <p:sp>
        <p:nvSpPr>
          <p:cNvPr id="34" name="Text 32"/>
          <p:cNvSpPr/>
          <p:nvPr/>
        </p:nvSpPr>
        <p:spPr>
          <a:xfrm>
            <a:off x="6062067" y="771376"/>
            <a:ext cx="2573982" cy="4194423"/>
          </a:xfrm>
          <a:prstGeom prst="roundRect">
            <a:avLst>
              <a:gd name="adj" fmla="val 4934"/>
            </a:avLst>
          </a:prstGeom>
          <a:solidFill>
            <a:srgbClr val="FFFFFF"/>
          </a:solidFill>
          <a:ln/>
          <a:effectLst>
            <a:outerShdw sx="100000" sy="100000" kx="0" ky="0" algn="bl" rotWithShape="0" blurRad="57150" dist="9525" dir="5400000">
              <a:srgbClr val="000000">
                <a:alpha val="8000"/>
              </a:srgbClr>
            </a:outerShdw>
          </a:effectLst>
        </p:spPr>
        <p:txBody>
          <a:bodyPr wrap="square" rtlCol="0" anchor="ctr"/>
          <a:lstStyle/>
          <a:p>
            <a:pPr indent="0" marL="0">
              <a:buNone/>
            </a:pPr>
            <a:endParaRPr lang="en-US" dirty="0"/>
          </a:p>
        </p:txBody>
      </p:sp>
      <p:sp>
        <p:nvSpPr>
          <p:cNvPr id="35" name="Text 33"/>
          <p:cNvSpPr/>
          <p:nvPr/>
        </p:nvSpPr>
        <p:spPr>
          <a:xfrm>
            <a:off x="6290667" y="999976"/>
            <a:ext cx="355550" cy="355550"/>
          </a:xfrm>
          <a:prstGeom prst="roundRect">
            <a:avLst>
              <a:gd name="adj" fmla="val 257179"/>
            </a:avLst>
          </a:prstGeom>
          <a:solidFill>
            <a:srgbClr val="FF8C42"/>
          </a:solidFill>
          <a:ln/>
        </p:spPr>
        <p:txBody>
          <a:bodyPr wrap="square" rtlCol="0" anchor="ctr"/>
          <a:lstStyle/>
          <a:p>
            <a:pPr indent="0" marL="0">
              <a:buNone/>
            </a:pPr>
            <a:endParaRPr lang="en-US" dirty="0"/>
          </a:p>
        </p:txBody>
      </p:sp>
      <p:sp>
        <p:nvSpPr>
          <p:cNvPr id="36" name="Text 34"/>
          <p:cNvSpPr/>
          <p:nvPr/>
        </p:nvSpPr>
        <p:spPr>
          <a:xfrm>
            <a:off x="6418957" y="1072902"/>
            <a:ext cx="100950"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7" name="Text 35"/>
          <p:cNvSpPr/>
          <p:nvPr/>
        </p:nvSpPr>
        <p:spPr>
          <a:xfrm>
            <a:off x="6290667" y="1482477"/>
            <a:ext cx="2159118" cy="247650"/>
          </a:xfrm>
          <a:prstGeom prst="rect">
            <a:avLst/>
          </a:prstGeom>
          <a:noFill/>
          <a:ln/>
        </p:spPr>
        <p:txBody>
          <a:bodyPr wrap="square" lIns="0" tIns="0" rIns="0" bIns="0" rtlCol="0" anchor="t"/>
          <a:lstStyle/>
          <a:p>
            <a:pPr algn="l" indent="0" marL="0">
              <a:spcAft>
                <a:spcPts val="600"/>
              </a:spcAft>
              <a:buNone/>
            </a:pPr>
            <a:r>
              <a:rPr lang="en-US" sz="1300" b="1" dirty="0">
                <a:solidFill>
                  <a:srgbClr val="1E2A3A"/>
                </a:solidFill>
                <a:latin typeface="Arial" pitchFamily="34" charset="0"/>
                <a:ea typeface="Arial" pitchFamily="34" charset="-122"/>
                <a:cs typeface="Arial" pitchFamily="34" charset="-120"/>
              </a:rPr>
              <a:t>イベント発掘型</a:t>
            </a:r>
            <a:endParaRPr lang="en-US" sz="1300" dirty="0"/>
          </a:p>
        </p:txBody>
      </p:sp>
      <p:sp>
        <p:nvSpPr>
          <p:cNvPr id="38" name="Text 36"/>
          <p:cNvSpPr/>
          <p:nvPr/>
        </p:nvSpPr>
        <p:spPr>
          <a:xfrm>
            <a:off x="6290667" y="1806327"/>
            <a:ext cx="2159118" cy="171450"/>
          </a:xfrm>
          <a:prstGeom prst="rect">
            <a:avLst/>
          </a:prstGeom>
          <a:noFill/>
          <a:ln/>
        </p:spPr>
        <p:txBody>
          <a:bodyPr wrap="square" lIns="0" tIns="0" rIns="0" bIns="0" rtlCol="0" anchor="t"/>
          <a:lstStyle/>
          <a:p>
            <a:pPr algn="l" indent="0" marL="0">
              <a:spcAft>
                <a:spcPts val="1200"/>
              </a:spcAft>
              <a:buNone/>
            </a:pPr>
            <a:r>
              <a:rPr lang="en-US" sz="900" dirty="0">
                <a:solidFill>
                  <a:srgbClr val="607080"/>
                </a:solidFill>
                <a:latin typeface="Arial" pitchFamily="34" charset="0"/>
                <a:ea typeface="Arial" pitchFamily="34" charset="-122"/>
                <a:cs typeface="Arial" pitchFamily="34" charset="-120"/>
              </a:rPr>
              <a:t>次の大型コラボを先取りする</a:t>
            </a:r>
            <a:endParaRPr lang="en-US" sz="900" dirty="0"/>
          </a:p>
        </p:txBody>
      </p:sp>
      <p:sp>
        <p:nvSpPr>
          <p:cNvPr id="39" name="Text 37"/>
          <p:cNvSpPr/>
          <p:nvPr/>
        </p:nvSpPr>
        <p:spPr>
          <a:xfrm>
            <a:off x="6290667" y="2168277"/>
            <a:ext cx="63401" cy="63401"/>
          </a:xfrm>
          <a:prstGeom prst="roundRect">
            <a:avLst>
              <a:gd name="adj" fmla="val 1442249"/>
            </a:avLst>
          </a:prstGeom>
          <a:solidFill>
            <a:srgbClr val="FF8C42"/>
          </a:solidFill>
          <a:ln/>
        </p:spPr>
        <p:txBody>
          <a:bodyPr wrap="square" rtlCol="0" anchor="ctr"/>
          <a:lstStyle/>
          <a:p>
            <a:pPr indent="0" marL="0">
              <a:buNone/>
            </a:pPr>
            <a:endParaRPr lang="en-US" dirty="0"/>
          </a:p>
        </p:txBody>
      </p:sp>
      <p:sp>
        <p:nvSpPr>
          <p:cNvPr id="40" name="Text 38"/>
          <p:cNvSpPr/>
          <p:nvPr/>
        </p:nvSpPr>
        <p:spPr>
          <a:xfrm>
            <a:off x="6430268" y="2130177"/>
            <a:ext cx="2016725" cy="361950"/>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次の大型コラボ・企画をアンテナを張って発見</a:t>
            </a:r>
            <a:endParaRPr lang="en-US" sz="950" dirty="0"/>
          </a:p>
        </p:txBody>
      </p:sp>
      <p:sp>
        <p:nvSpPr>
          <p:cNvPr id="41" name="Text 39"/>
          <p:cNvSpPr/>
          <p:nvPr/>
        </p:nvSpPr>
        <p:spPr>
          <a:xfrm>
            <a:off x="6290667" y="2606427"/>
            <a:ext cx="63401" cy="63401"/>
          </a:xfrm>
          <a:prstGeom prst="roundRect">
            <a:avLst>
              <a:gd name="adj" fmla="val 1442249"/>
            </a:avLst>
          </a:prstGeom>
          <a:solidFill>
            <a:srgbClr val="FF8C42"/>
          </a:solidFill>
          <a:ln/>
        </p:spPr>
        <p:txBody>
          <a:bodyPr wrap="square" rtlCol="0" anchor="ctr"/>
          <a:lstStyle/>
          <a:p>
            <a:pPr indent="0" marL="0">
              <a:buNone/>
            </a:pPr>
            <a:endParaRPr lang="en-US" dirty="0"/>
          </a:p>
        </p:txBody>
      </p:sp>
      <p:sp>
        <p:nvSpPr>
          <p:cNvPr id="42" name="Text 40"/>
          <p:cNvSpPr/>
          <p:nvPr/>
        </p:nvSpPr>
        <p:spPr>
          <a:xfrm>
            <a:off x="6430268" y="2568327"/>
            <a:ext cx="2016725" cy="361950"/>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NEWTOWNの知見（フック・タグ戦略）を転用</a:t>
            </a:r>
            <a:endParaRPr lang="en-US" sz="950" dirty="0"/>
          </a:p>
        </p:txBody>
      </p:sp>
      <p:sp>
        <p:nvSpPr>
          <p:cNvPr id="43" name="Text 41"/>
          <p:cNvSpPr/>
          <p:nvPr/>
        </p:nvSpPr>
        <p:spPr>
          <a:xfrm>
            <a:off x="6290667" y="3044577"/>
            <a:ext cx="63401" cy="63401"/>
          </a:xfrm>
          <a:prstGeom prst="roundRect">
            <a:avLst>
              <a:gd name="adj" fmla="val 1442249"/>
            </a:avLst>
          </a:prstGeom>
          <a:solidFill>
            <a:srgbClr val="FF8C42"/>
          </a:solidFill>
          <a:ln/>
        </p:spPr>
        <p:txBody>
          <a:bodyPr wrap="square" rtlCol="0" anchor="ctr"/>
          <a:lstStyle/>
          <a:p>
            <a:pPr indent="0" marL="0">
              <a:buNone/>
            </a:pPr>
            <a:endParaRPr lang="en-US" dirty="0"/>
          </a:p>
        </p:txBody>
      </p:sp>
      <p:sp>
        <p:nvSpPr>
          <p:cNvPr id="44" name="Text 42"/>
          <p:cNvSpPr/>
          <p:nvPr/>
        </p:nvSpPr>
        <p:spPr>
          <a:xfrm>
            <a:off x="6430268" y="3006477"/>
            <a:ext cx="2016725" cy="361950"/>
          </a:xfrm>
          <a:prstGeom prst="rect">
            <a:avLst/>
          </a:prstGeom>
          <a:noFill/>
          <a:ln/>
        </p:spPr>
        <p:txBody>
          <a:bodyPr wrap="square" lIns="0" tIns="0" rIns="0" bIns="0" rtlCol="0" anchor="t"/>
          <a:lstStyle/>
          <a:p>
            <a:pPr algn="l" indent="0" marL="0">
              <a:lnSpc>
                <a:spcPts val="1425"/>
              </a:lnSpc>
              <a:buNone/>
            </a:pPr>
            <a:r>
              <a:rPr lang="en-US" sz="950" dirty="0">
                <a:solidFill>
                  <a:srgbClr val="3A4A5A"/>
                </a:solidFill>
                <a:latin typeface="Arial" pitchFamily="34" charset="0"/>
                <a:ea typeface="Arial" pitchFamily="34" charset="-122"/>
                <a:cs typeface="Arial" pitchFamily="34" charset="-120"/>
              </a:rPr>
              <a:t>今度はイベント中にフォロワー獲得も設計</a:t>
            </a:r>
            <a:endParaRPr lang="en-US" sz="950" dirty="0"/>
          </a:p>
        </p:txBody>
      </p:sp>
      <p:sp>
        <p:nvSpPr>
          <p:cNvPr id="45" name="Text 43"/>
          <p:cNvSpPr/>
          <p:nvPr/>
        </p:nvSpPr>
        <p:spPr>
          <a:xfrm>
            <a:off x="6290667" y="4194572"/>
            <a:ext cx="2116782" cy="542627"/>
          </a:xfrm>
          <a:prstGeom prst="roundRect">
            <a:avLst>
              <a:gd name="adj" fmla="val 14043"/>
            </a:avLst>
          </a:prstGeom>
          <a:solidFill>
            <a:srgbClr val="FFF5EC"/>
          </a:solidFill>
          <a:ln/>
        </p:spPr>
        <p:txBody>
          <a:bodyPr wrap="square" rtlCol="0" anchor="ctr"/>
          <a:lstStyle/>
          <a:p>
            <a:pPr indent="0" marL="0">
              <a:buNone/>
            </a:pPr>
            <a:endParaRPr lang="en-US" dirty="0"/>
          </a:p>
        </p:txBody>
      </p:sp>
      <p:sp>
        <p:nvSpPr>
          <p:cNvPr id="46" name="Text 44"/>
          <p:cNvSpPr/>
          <p:nvPr/>
        </p:nvSpPr>
        <p:spPr>
          <a:xfrm>
            <a:off x="6392168" y="4296073"/>
            <a:ext cx="1952056" cy="142875"/>
          </a:xfrm>
          <a:prstGeom prst="rect">
            <a:avLst/>
          </a:prstGeom>
          <a:noFill/>
          <a:ln/>
        </p:spPr>
        <p:txBody>
          <a:bodyPr wrap="square" lIns="0" tIns="0" rIns="0" bIns="0" rtlCol="0" anchor="t"/>
          <a:lstStyle/>
          <a:p>
            <a:pPr algn="l" indent="0" marL="0">
              <a:spcAft>
                <a:spcPts val="200"/>
              </a:spcAft>
              <a:buNone/>
            </a:pPr>
            <a:r>
              <a:rPr lang="en-US" sz="800" b="1" dirty="0">
                <a:solidFill>
                  <a:srgbClr val="CC6020"/>
                </a:solidFill>
                <a:latin typeface="Arial" pitchFamily="34" charset="0"/>
                <a:ea typeface="Arial" pitchFamily="34" charset="-122"/>
                <a:cs typeface="Arial" pitchFamily="34" charset="-120"/>
              </a:rPr>
              <a:t>開始タイミング</a:t>
            </a:r>
            <a:endParaRPr lang="en-US" sz="800" dirty="0"/>
          </a:p>
        </p:txBody>
      </p:sp>
      <p:sp>
        <p:nvSpPr>
          <p:cNvPr id="47" name="Text 45"/>
          <p:cNvSpPr/>
          <p:nvPr/>
        </p:nvSpPr>
        <p:spPr>
          <a:xfrm>
            <a:off x="6392168" y="4464248"/>
            <a:ext cx="1952056" cy="171450"/>
          </a:xfrm>
          <a:prstGeom prst="rect">
            <a:avLst/>
          </a:prstGeom>
          <a:noFill/>
          <a:ln/>
        </p:spPr>
        <p:txBody>
          <a:bodyPr wrap="square" lIns="0" tIns="0" rIns="0" bIns="0" rtlCol="0" anchor="t"/>
          <a:lstStyle/>
          <a:p>
            <a:pPr algn="l" indent="0" marL="0">
              <a:buNone/>
            </a:pPr>
            <a:r>
              <a:rPr lang="en-US" sz="900" dirty="0">
                <a:solidFill>
                  <a:srgbClr val="606070"/>
                </a:solidFill>
                <a:latin typeface="Arial" pitchFamily="34" charset="0"/>
                <a:ea typeface="Arial" pitchFamily="34" charset="-122"/>
                <a:cs typeface="Arial" pitchFamily="34" charset="-120"/>
              </a:rPr>
              <a:t>次のイベントが見つかり次第</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A3A"/>
        </a:solidFill>
      </p:bgPr>
    </p:bg>
    <p:spTree>
      <p:nvGrpSpPr>
        <p:cNvPr id="1" name=""/>
        <p:cNvGrpSpPr/>
        <p:nvPr/>
      </p:nvGrpSpPr>
      <p:grpSpPr>
        <a:xfrm>
          <a:off x="0" y="0"/>
          <a:ext cx="0" cy="0"/>
          <a:chOff x="0" y="0"/>
          <a:chExt cx="0" cy="0"/>
        </a:xfrm>
      </p:grpSpPr>
      <p:sp>
        <p:nvSpPr>
          <p:cNvPr id="2" name="Text 0"/>
          <p:cNvSpPr/>
          <p:nvPr/>
        </p:nvSpPr>
        <p:spPr>
          <a:xfrm>
            <a:off x="0" y="0"/>
            <a:ext cx="9144000" cy="593675"/>
          </a:xfrm>
          <a:prstGeom prst="rect">
            <a:avLst/>
          </a:prstGeom>
          <a:solidFill>
            <a:srgbClr val="243040"/>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4" name="Text 2"/>
          <p:cNvSpPr/>
          <p:nvPr/>
        </p:nvSpPr>
        <p:spPr>
          <a:xfrm>
            <a:off x="736550" y="152400"/>
            <a:ext cx="2271302"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段階別アクションプラン</a:t>
            </a:r>
            <a:endParaRPr lang="en-US" sz="1600" dirty="0"/>
          </a:p>
        </p:txBody>
      </p:sp>
      <p:sp>
        <p:nvSpPr>
          <p:cNvPr id="5" name="Text 3"/>
          <p:cNvSpPr/>
          <p:nvPr/>
        </p:nvSpPr>
        <p:spPr>
          <a:xfrm>
            <a:off x="3115717" y="209550"/>
            <a:ext cx="941644"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フェーズ1〜3</a:t>
            </a:r>
            <a:endParaRPr lang="en-US" sz="1000" dirty="0"/>
          </a:p>
        </p:txBody>
      </p:sp>
      <p:sp>
        <p:nvSpPr>
          <p:cNvPr id="6" name="Text 4"/>
          <p:cNvSpPr/>
          <p:nvPr/>
        </p:nvSpPr>
        <p:spPr>
          <a:xfrm>
            <a:off x="507950" y="771376"/>
            <a:ext cx="2573834" cy="4194423"/>
          </a:xfrm>
          <a:prstGeom prst="roundRect">
            <a:avLst>
              <a:gd name="adj" fmla="val 4934"/>
            </a:avLst>
          </a:prstGeom>
          <a:solidFill>
            <a:srgbClr val="1A3A4A"/>
          </a:solidFill>
          <a:ln/>
        </p:spPr>
        <p:txBody>
          <a:bodyPr wrap="square" rtlCol="0" anchor="ctr"/>
          <a:lstStyle/>
          <a:p>
            <a:pPr indent="0" marL="0">
              <a:buNone/>
            </a:pPr>
            <a:endParaRPr lang="en-US" dirty="0"/>
          </a:p>
        </p:txBody>
      </p:sp>
      <p:sp>
        <p:nvSpPr>
          <p:cNvPr id="7" name="Shape 5"/>
          <p:cNvSpPr/>
          <p:nvPr/>
        </p:nvSpPr>
        <p:spPr>
          <a:xfrm>
            <a:off x="507950" y="795189"/>
            <a:ext cx="2573834" cy="0"/>
          </a:xfrm>
          <a:prstGeom prst="line">
            <a:avLst/>
          </a:prstGeom>
          <a:noFill/>
          <a:ln w="47625">
            <a:solidFill>
              <a:srgbClr val="00B4D8"/>
            </a:solidFill>
            <a:prstDash val="solid"/>
          </a:ln>
        </p:spPr>
      </p:sp>
      <p:sp>
        <p:nvSpPr>
          <p:cNvPr id="8" name="Text 6"/>
          <p:cNvSpPr/>
          <p:nvPr/>
        </p:nvSpPr>
        <p:spPr>
          <a:xfrm>
            <a:off x="711101" y="1022152"/>
            <a:ext cx="2210883" cy="114300"/>
          </a:xfrm>
          <a:prstGeom prst="rect">
            <a:avLst/>
          </a:prstGeom>
          <a:noFill/>
          <a:ln/>
        </p:spPr>
        <p:txBody>
          <a:bodyPr wrap="square" lIns="0" tIns="0" rIns="0" bIns="0" rtlCol="0" anchor="t"/>
          <a:lstStyle/>
          <a:p>
            <a:pPr algn="l" indent="0" marL="0">
              <a:spcAft>
                <a:spcPts val="800"/>
              </a:spcAft>
              <a:buNone/>
            </a:pPr>
            <a:r>
              <a:rPr lang="en-US" sz="800" b="1" dirty="0">
                <a:solidFill>
                  <a:srgbClr val="00B4D8"/>
                </a:solidFill>
                <a:latin typeface="Arial" pitchFamily="34" charset="0"/>
                <a:ea typeface="Arial" pitchFamily="34" charset="-122"/>
                <a:cs typeface="Arial" pitchFamily="34" charset="-120"/>
              </a:rPr>
              <a:t>PHASE 1</a:t>
            </a:r>
            <a:endParaRPr lang="en-US" sz="800" dirty="0"/>
          </a:p>
        </p:txBody>
      </p:sp>
      <p:sp>
        <p:nvSpPr>
          <p:cNvPr id="9" name="Text 7"/>
          <p:cNvSpPr/>
          <p:nvPr/>
        </p:nvSpPr>
        <p:spPr>
          <a:xfrm>
            <a:off x="711101" y="1237952"/>
            <a:ext cx="2210883" cy="257175"/>
          </a:xfrm>
          <a:prstGeom prst="rect">
            <a:avLst/>
          </a:prstGeom>
          <a:noFill/>
          <a:ln/>
        </p:spPr>
        <p:txBody>
          <a:bodyPr wrap="square" lIns="0" tIns="0" rIns="0" bIns="0" rtlCol="0" anchor="t"/>
          <a:lstStyle/>
          <a:p>
            <a:pPr algn="l" indent="0" marL="0">
              <a:spcAft>
                <a:spcPts val="400"/>
              </a:spcAft>
              <a:buNone/>
            </a:pPr>
            <a:r>
              <a:rPr lang="en-US" sz="1400" b="1" dirty="0">
                <a:solidFill>
                  <a:srgbClr val="FFFFFF"/>
                </a:solidFill>
                <a:latin typeface="Arial" pitchFamily="34" charset="0"/>
                <a:ea typeface="Arial" pitchFamily="34" charset="-122"/>
                <a:cs typeface="Arial" pitchFamily="34" charset="-120"/>
              </a:rPr>
              <a:t>今すぐ</a:t>
            </a:r>
            <a:endParaRPr lang="en-US" sz="1400" dirty="0"/>
          </a:p>
        </p:txBody>
      </p:sp>
      <p:sp>
        <p:nvSpPr>
          <p:cNvPr id="10" name="Text 8"/>
          <p:cNvSpPr/>
          <p:nvPr/>
        </p:nvSpPr>
        <p:spPr>
          <a:xfrm>
            <a:off x="711101" y="1545878"/>
            <a:ext cx="2210883" cy="171450"/>
          </a:xfrm>
          <a:prstGeom prst="rect">
            <a:avLst/>
          </a:prstGeom>
          <a:noFill/>
          <a:ln/>
        </p:spPr>
        <p:txBody>
          <a:bodyPr wrap="square" lIns="0" tIns="0" rIns="0" bIns="0" rtlCol="0" anchor="t"/>
          <a:lstStyle/>
          <a:p>
            <a:pPr algn="l" indent="0" marL="0">
              <a:spcAft>
                <a:spcPts val="1200"/>
              </a:spcAft>
              <a:buNone/>
            </a:pPr>
            <a:r>
              <a:rPr lang="en-US" sz="900" dirty="0">
                <a:solidFill>
                  <a:srgbClr val="5ABCD8"/>
                </a:solidFill>
                <a:latin typeface="Arial" pitchFamily="34" charset="0"/>
                <a:ea typeface="Arial" pitchFamily="34" charset="-122"/>
                <a:cs typeface="Arial" pitchFamily="34" charset="-120"/>
              </a:rPr>
              <a:t>今週中に開始</a:t>
            </a:r>
            <a:endParaRPr lang="en-US" sz="900" dirty="0"/>
          </a:p>
        </p:txBody>
      </p:sp>
      <p:sp>
        <p:nvSpPr>
          <p:cNvPr id="11" name="Text 9"/>
          <p:cNvSpPr/>
          <p:nvPr/>
        </p:nvSpPr>
        <p:spPr>
          <a:xfrm>
            <a:off x="711101" y="1895029"/>
            <a:ext cx="76200" cy="76200"/>
          </a:xfrm>
          <a:prstGeom prst="roundRect">
            <a:avLst>
              <a:gd name="adj" fmla="val 1200000"/>
            </a:avLst>
          </a:prstGeom>
          <a:solidFill>
            <a:srgbClr val="00B4D8"/>
          </a:solidFill>
          <a:ln/>
        </p:spPr>
        <p:txBody>
          <a:bodyPr wrap="square" rtlCol="0" anchor="ctr"/>
          <a:lstStyle/>
          <a:p>
            <a:pPr indent="0" marL="0">
              <a:buNone/>
            </a:pPr>
            <a:endParaRPr lang="en-US" dirty="0"/>
          </a:p>
        </p:txBody>
      </p:sp>
      <p:sp>
        <p:nvSpPr>
          <p:cNvPr id="12" name="Text 10"/>
          <p:cNvSpPr/>
          <p:nvPr/>
        </p:nvSpPr>
        <p:spPr>
          <a:xfrm>
            <a:off x="888802" y="1869728"/>
            <a:ext cx="2029629" cy="542925"/>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「今StreamerHubで何ができるか」をシンプルに伝える投稿を1〜2本作る</a:t>
            </a:r>
            <a:endParaRPr lang="en-US" sz="950" dirty="0"/>
          </a:p>
        </p:txBody>
      </p:sp>
      <p:sp>
        <p:nvSpPr>
          <p:cNvPr id="13" name="Text 11"/>
          <p:cNvSpPr/>
          <p:nvPr/>
        </p:nvSpPr>
        <p:spPr>
          <a:xfrm>
            <a:off x="711101" y="2539454"/>
            <a:ext cx="76200" cy="76200"/>
          </a:xfrm>
          <a:prstGeom prst="roundRect">
            <a:avLst>
              <a:gd name="adj" fmla="val 1200000"/>
            </a:avLst>
          </a:prstGeom>
          <a:solidFill>
            <a:srgbClr val="00B4D8"/>
          </a:solidFill>
          <a:ln/>
        </p:spPr>
        <p:txBody>
          <a:bodyPr wrap="square" rtlCol="0" anchor="ctr"/>
          <a:lstStyle/>
          <a:p>
            <a:pPr indent="0" marL="0">
              <a:buNone/>
            </a:pPr>
            <a:endParaRPr lang="en-US" dirty="0"/>
          </a:p>
        </p:txBody>
      </p:sp>
      <p:sp>
        <p:nvSpPr>
          <p:cNvPr id="14" name="Text 12"/>
          <p:cNvSpPr/>
          <p:nvPr/>
        </p:nvSpPr>
        <p:spPr>
          <a:xfrm>
            <a:off x="888802" y="2514154"/>
            <a:ext cx="2029629"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マルチビューの画面・使い方を見せる投稿から始める</a:t>
            </a:r>
            <a:endParaRPr lang="en-US" sz="950" dirty="0"/>
          </a:p>
        </p:txBody>
      </p:sp>
      <p:sp>
        <p:nvSpPr>
          <p:cNvPr id="15" name="Text 13"/>
          <p:cNvSpPr/>
          <p:nvPr/>
        </p:nvSpPr>
        <p:spPr>
          <a:xfrm>
            <a:off x="711101" y="3002905"/>
            <a:ext cx="76200" cy="76200"/>
          </a:xfrm>
          <a:prstGeom prst="roundRect">
            <a:avLst>
              <a:gd name="adj" fmla="val 1200000"/>
            </a:avLst>
          </a:prstGeom>
          <a:solidFill>
            <a:srgbClr val="00B4D8"/>
          </a:solidFill>
          <a:ln/>
        </p:spPr>
        <p:txBody>
          <a:bodyPr wrap="square" rtlCol="0" anchor="ctr"/>
          <a:lstStyle/>
          <a:p>
            <a:pPr indent="0" marL="0">
              <a:buNone/>
            </a:pPr>
            <a:endParaRPr lang="en-US" dirty="0"/>
          </a:p>
        </p:txBody>
      </p:sp>
      <p:sp>
        <p:nvSpPr>
          <p:cNvPr id="16" name="Text 14"/>
          <p:cNvSpPr/>
          <p:nvPr/>
        </p:nvSpPr>
        <p:spPr>
          <a:xfrm>
            <a:off x="888802" y="2977604"/>
            <a:ext cx="2029629"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アカウントの「存在感」を再起動する</a:t>
            </a:r>
            <a:endParaRPr lang="en-US" sz="950" dirty="0"/>
          </a:p>
        </p:txBody>
      </p:sp>
      <p:sp>
        <p:nvSpPr>
          <p:cNvPr id="17" name="Text 15"/>
          <p:cNvSpPr/>
          <p:nvPr/>
        </p:nvSpPr>
        <p:spPr>
          <a:xfrm>
            <a:off x="711101" y="4207222"/>
            <a:ext cx="2167533" cy="555427"/>
          </a:xfrm>
          <a:prstGeom prst="roundRect">
            <a:avLst>
              <a:gd name="adj" fmla="val 13719"/>
            </a:avLst>
          </a:prstGeom>
          <a:solidFill>
            <a:srgbClr val="0D2533"/>
          </a:solidFill>
          <a:ln/>
        </p:spPr>
        <p:txBody>
          <a:bodyPr wrap="square" rtlCol="0" anchor="ctr"/>
          <a:lstStyle/>
          <a:p>
            <a:pPr indent="0" marL="0">
              <a:buNone/>
            </a:pPr>
            <a:endParaRPr lang="en-US" dirty="0"/>
          </a:p>
        </p:txBody>
      </p:sp>
      <p:sp>
        <p:nvSpPr>
          <p:cNvPr id="18" name="Text 16"/>
          <p:cNvSpPr/>
          <p:nvPr/>
        </p:nvSpPr>
        <p:spPr>
          <a:xfrm>
            <a:off x="812602" y="4308723"/>
            <a:ext cx="2003822" cy="142875"/>
          </a:xfrm>
          <a:prstGeom prst="rect">
            <a:avLst/>
          </a:prstGeom>
          <a:noFill/>
          <a:ln/>
        </p:spPr>
        <p:txBody>
          <a:bodyPr wrap="square" lIns="0" tIns="0" rIns="0" bIns="0" rtlCol="0" anchor="t"/>
          <a:lstStyle/>
          <a:p>
            <a:pPr algn="l" indent="0" marL="0">
              <a:spcAft>
                <a:spcPts val="300"/>
              </a:spcAft>
              <a:buNone/>
            </a:pPr>
            <a:r>
              <a:rPr lang="en-US" sz="800" b="1" dirty="0">
                <a:solidFill>
                  <a:srgbClr val="5ABCD8"/>
                </a:solidFill>
                <a:latin typeface="Arial" pitchFamily="34" charset="0"/>
                <a:ea typeface="Arial" pitchFamily="34" charset="-122"/>
                <a:cs typeface="Arial" pitchFamily="34" charset="-120"/>
              </a:rPr>
              <a:t>目標</a:t>
            </a:r>
            <a:endParaRPr lang="en-US" sz="800" dirty="0"/>
          </a:p>
        </p:txBody>
      </p:sp>
      <p:sp>
        <p:nvSpPr>
          <p:cNvPr id="19" name="Text 17"/>
          <p:cNvSpPr/>
          <p:nvPr/>
        </p:nvSpPr>
        <p:spPr>
          <a:xfrm>
            <a:off x="812602" y="4489698"/>
            <a:ext cx="2003822"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投稿再開・アカウントの認知ゼロ脱出</a:t>
            </a:r>
            <a:endParaRPr lang="en-US" sz="900" dirty="0"/>
          </a:p>
        </p:txBody>
      </p:sp>
      <p:sp>
        <p:nvSpPr>
          <p:cNvPr id="20" name="Text 18"/>
          <p:cNvSpPr/>
          <p:nvPr/>
        </p:nvSpPr>
        <p:spPr>
          <a:xfrm>
            <a:off x="3284934" y="771376"/>
            <a:ext cx="2573982" cy="4194423"/>
          </a:xfrm>
          <a:prstGeom prst="roundRect">
            <a:avLst>
              <a:gd name="adj" fmla="val 4934"/>
            </a:avLst>
          </a:prstGeom>
          <a:solidFill>
            <a:srgbClr val="2A2A4A"/>
          </a:solidFill>
          <a:ln/>
        </p:spPr>
        <p:txBody>
          <a:bodyPr wrap="square" rtlCol="0" anchor="ctr"/>
          <a:lstStyle/>
          <a:p>
            <a:pPr indent="0" marL="0">
              <a:buNone/>
            </a:pPr>
            <a:endParaRPr lang="en-US" dirty="0"/>
          </a:p>
        </p:txBody>
      </p:sp>
      <p:sp>
        <p:nvSpPr>
          <p:cNvPr id="21" name="Shape 19"/>
          <p:cNvSpPr/>
          <p:nvPr/>
        </p:nvSpPr>
        <p:spPr>
          <a:xfrm>
            <a:off x="3284934" y="795189"/>
            <a:ext cx="2573982" cy="0"/>
          </a:xfrm>
          <a:prstGeom prst="line">
            <a:avLst/>
          </a:prstGeom>
          <a:noFill/>
          <a:ln w="47625">
            <a:solidFill>
              <a:srgbClr val="7B61FF"/>
            </a:solidFill>
            <a:prstDash val="solid"/>
          </a:ln>
        </p:spPr>
      </p:sp>
      <p:sp>
        <p:nvSpPr>
          <p:cNvPr id="22" name="Text 20"/>
          <p:cNvSpPr/>
          <p:nvPr/>
        </p:nvSpPr>
        <p:spPr>
          <a:xfrm>
            <a:off x="3488085" y="1022152"/>
            <a:ext cx="2211035" cy="114300"/>
          </a:xfrm>
          <a:prstGeom prst="rect">
            <a:avLst/>
          </a:prstGeom>
          <a:noFill/>
          <a:ln/>
        </p:spPr>
        <p:txBody>
          <a:bodyPr wrap="square" lIns="0" tIns="0" rIns="0" bIns="0" rtlCol="0" anchor="t"/>
          <a:lstStyle/>
          <a:p>
            <a:pPr algn="l" indent="0" marL="0">
              <a:spcAft>
                <a:spcPts val="800"/>
              </a:spcAft>
              <a:buNone/>
            </a:pPr>
            <a:r>
              <a:rPr lang="en-US" sz="800" b="1" dirty="0">
                <a:solidFill>
                  <a:srgbClr val="7B61FF"/>
                </a:solidFill>
                <a:latin typeface="Arial" pitchFamily="34" charset="0"/>
                <a:ea typeface="Arial" pitchFamily="34" charset="-122"/>
                <a:cs typeface="Arial" pitchFamily="34" charset="-120"/>
              </a:rPr>
              <a:t>PHASE 2</a:t>
            </a:r>
            <a:endParaRPr lang="en-US" sz="800" dirty="0"/>
          </a:p>
        </p:txBody>
      </p:sp>
      <p:sp>
        <p:nvSpPr>
          <p:cNvPr id="23" name="Text 21"/>
          <p:cNvSpPr/>
          <p:nvPr/>
        </p:nvSpPr>
        <p:spPr>
          <a:xfrm>
            <a:off x="3488085" y="1237952"/>
            <a:ext cx="2211035" cy="257175"/>
          </a:xfrm>
          <a:prstGeom prst="rect">
            <a:avLst/>
          </a:prstGeom>
          <a:noFill/>
          <a:ln/>
        </p:spPr>
        <p:txBody>
          <a:bodyPr wrap="square" lIns="0" tIns="0" rIns="0" bIns="0" rtlCol="0" anchor="t"/>
          <a:lstStyle/>
          <a:p>
            <a:pPr algn="l" indent="0" marL="0">
              <a:spcAft>
                <a:spcPts val="400"/>
              </a:spcAft>
              <a:buNone/>
            </a:pPr>
            <a:r>
              <a:rPr lang="en-US" sz="1400" b="1" dirty="0">
                <a:solidFill>
                  <a:srgbClr val="FFFFFF"/>
                </a:solidFill>
                <a:latin typeface="Arial" pitchFamily="34" charset="0"/>
                <a:ea typeface="Arial" pitchFamily="34" charset="-122"/>
                <a:cs typeface="Arial" pitchFamily="34" charset="-120"/>
              </a:rPr>
              <a:t>機能整備後</a:t>
            </a:r>
            <a:endParaRPr lang="en-US" sz="1400" dirty="0"/>
          </a:p>
        </p:txBody>
      </p:sp>
      <p:sp>
        <p:nvSpPr>
          <p:cNvPr id="24" name="Text 22"/>
          <p:cNvSpPr/>
          <p:nvPr/>
        </p:nvSpPr>
        <p:spPr>
          <a:xfrm>
            <a:off x="3488085" y="1545878"/>
            <a:ext cx="2211035" cy="171450"/>
          </a:xfrm>
          <a:prstGeom prst="rect">
            <a:avLst/>
          </a:prstGeom>
          <a:noFill/>
          <a:ln/>
        </p:spPr>
        <p:txBody>
          <a:bodyPr wrap="square" lIns="0" tIns="0" rIns="0" bIns="0" rtlCol="0" anchor="t"/>
          <a:lstStyle/>
          <a:p>
            <a:pPr algn="l" indent="0" marL="0">
              <a:spcAft>
                <a:spcPts val="1200"/>
              </a:spcAft>
              <a:buNone/>
            </a:pPr>
            <a:r>
              <a:rPr lang="en-US" sz="900" dirty="0">
                <a:solidFill>
                  <a:srgbClr val="9B8BFF"/>
                </a:solidFill>
                <a:latin typeface="Arial" pitchFamily="34" charset="0"/>
                <a:ea typeface="Arial" pitchFamily="34" charset="-122"/>
                <a:cs typeface="Arial" pitchFamily="34" charset="-120"/>
              </a:rPr>
              <a:t>近日中（タグ・クリップ充実後）</a:t>
            </a:r>
            <a:endParaRPr lang="en-US" sz="900" dirty="0"/>
          </a:p>
        </p:txBody>
      </p:sp>
      <p:sp>
        <p:nvSpPr>
          <p:cNvPr id="25" name="Text 23"/>
          <p:cNvSpPr/>
          <p:nvPr/>
        </p:nvSpPr>
        <p:spPr>
          <a:xfrm>
            <a:off x="3488085" y="1895029"/>
            <a:ext cx="76200" cy="76200"/>
          </a:xfrm>
          <a:prstGeom prst="roundRect">
            <a:avLst>
              <a:gd name="adj" fmla="val 1200000"/>
            </a:avLst>
          </a:prstGeom>
          <a:solidFill>
            <a:srgbClr val="7B61FF"/>
          </a:solidFill>
          <a:ln/>
        </p:spPr>
        <p:txBody>
          <a:bodyPr wrap="square" rtlCol="0" anchor="ctr"/>
          <a:lstStyle/>
          <a:p>
            <a:pPr indent="0" marL="0">
              <a:buNone/>
            </a:pPr>
            <a:endParaRPr lang="en-US" dirty="0"/>
          </a:p>
        </p:txBody>
      </p:sp>
      <p:sp>
        <p:nvSpPr>
          <p:cNvPr id="26" name="Text 24"/>
          <p:cNvSpPr/>
          <p:nvPr/>
        </p:nvSpPr>
        <p:spPr>
          <a:xfrm>
            <a:off x="3665786" y="1869728"/>
            <a:ext cx="2029780"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クリップ・タグ・トピックを使ったコンテンツ紹介フォーマットを設計</a:t>
            </a:r>
            <a:endParaRPr lang="en-US" sz="950" dirty="0"/>
          </a:p>
        </p:txBody>
      </p:sp>
      <p:sp>
        <p:nvSpPr>
          <p:cNvPr id="27" name="Text 25"/>
          <p:cNvSpPr/>
          <p:nvPr/>
        </p:nvSpPr>
        <p:spPr>
          <a:xfrm>
            <a:off x="3488085" y="2358479"/>
            <a:ext cx="76200" cy="76200"/>
          </a:xfrm>
          <a:prstGeom prst="roundRect">
            <a:avLst>
              <a:gd name="adj" fmla="val 1200000"/>
            </a:avLst>
          </a:prstGeom>
          <a:solidFill>
            <a:srgbClr val="7B61FF"/>
          </a:solidFill>
          <a:ln/>
        </p:spPr>
        <p:txBody>
          <a:bodyPr wrap="square" rtlCol="0" anchor="ctr"/>
          <a:lstStyle/>
          <a:p>
            <a:pPr indent="0" marL="0">
              <a:buNone/>
            </a:pPr>
            <a:endParaRPr lang="en-US" dirty="0"/>
          </a:p>
        </p:txBody>
      </p:sp>
      <p:sp>
        <p:nvSpPr>
          <p:cNvPr id="28" name="Text 26"/>
          <p:cNvSpPr/>
          <p:nvPr/>
        </p:nvSpPr>
        <p:spPr>
          <a:xfrm>
            <a:off x="3665786" y="2333179"/>
            <a:ext cx="2029780"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特定の配信者・ジャンルに絞ったターゲット投稿を試す</a:t>
            </a:r>
            <a:endParaRPr lang="en-US" sz="950" dirty="0"/>
          </a:p>
        </p:txBody>
      </p:sp>
      <p:sp>
        <p:nvSpPr>
          <p:cNvPr id="29" name="Text 27"/>
          <p:cNvSpPr/>
          <p:nvPr/>
        </p:nvSpPr>
        <p:spPr>
          <a:xfrm>
            <a:off x="3488085" y="2821930"/>
            <a:ext cx="76200" cy="76200"/>
          </a:xfrm>
          <a:prstGeom prst="roundRect">
            <a:avLst>
              <a:gd name="adj" fmla="val 1200000"/>
            </a:avLst>
          </a:prstGeom>
          <a:solidFill>
            <a:srgbClr val="7B61FF"/>
          </a:solidFill>
          <a:ln/>
        </p:spPr>
        <p:txBody>
          <a:bodyPr wrap="square" rtlCol="0" anchor="ctr"/>
          <a:lstStyle/>
          <a:p>
            <a:pPr indent="0" marL="0">
              <a:buNone/>
            </a:pPr>
            <a:endParaRPr lang="en-US" dirty="0"/>
          </a:p>
        </p:txBody>
      </p:sp>
      <p:sp>
        <p:nvSpPr>
          <p:cNvPr id="30" name="Text 28"/>
          <p:cNvSpPr/>
          <p:nvPr/>
        </p:nvSpPr>
        <p:spPr>
          <a:xfrm>
            <a:off x="3665786" y="2796629"/>
            <a:ext cx="2029780"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返信誘発型（「誰の視点で見る？」等）を試験導入</a:t>
            </a:r>
            <a:endParaRPr lang="en-US" sz="950" dirty="0"/>
          </a:p>
        </p:txBody>
      </p:sp>
      <p:sp>
        <p:nvSpPr>
          <p:cNvPr id="31" name="Text 29"/>
          <p:cNvSpPr/>
          <p:nvPr/>
        </p:nvSpPr>
        <p:spPr>
          <a:xfrm>
            <a:off x="3488085" y="4207222"/>
            <a:ext cx="2167682" cy="555427"/>
          </a:xfrm>
          <a:prstGeom prst="roundRect">
            <a:avLst>
              <a:gd name="adj" fmla="val 13719"/>
            </a:avLst>
          </a:prstGeom>
          <a:solidFill>
            <a:srgbClr val="1A1A33"/>
          </a:solidFill>
          <a:ln/>
        </p:spPr>
        <p:txBody>
          <a:bodyPr wrap="square" rtlCol="0" anchor="ctr"/>
          <a:lstStyle/>
          <a:p>
            <a:pPr indent="0" marL="0">
              <a:buNone/>
            </a:pPr>
            <a:endParaRPr lang="en-US" dirty="0"/>
          </a:p>
        </p:txBody>
      </p:sp>
      <p:sp>
        <p:nvSpPr>
          <p:cNvPr id="32" name="Text 30"/>
          <p:cNvSpPr/>
          <p:nvPr/>
        </p:nvSpPr>
        <p:spPr>
          <a:xfrm>
            <a:off x="3589586" y="4308723"/>
            <a:ext cx="2003974" cy="142875"/>
          </a:xfrm>
          <a:prstGeom prst="rect">
            <a:avLst/>
          </a:prstGeom>
          <a:noFill/>
          <a:ln/>
        </p:spPr>
        <p:txBody>
          <a:bodyPr wrap="square" lIns="0" tIns="0" rIns="0" bIns="0" rtlCol="0" anchor="t"/>
          <a:lstStyle/>
          <a:p>
            <a:pPr algn="l" indent="0" marL="0">
              <a:spcAft>
                <a:spcPts val="300"/>
              </a:spcAft>
              <a:buNone/>
            </a:pPr>
            <a:r>
              <a:rPr lang="en-US" sz="800" b="1" dirty="0">
                <a:solidFill>
                  <a:srgbClr val="9B8BFF"/>
                </a:solidFill>
                <a:latin typeface="Arial" pitchFamily="34" charset="0"/>
                <a:ea typeface="Arial" pitchFamily="34" charset="-122"/>
                <a:cs typeface="Arial" pitchFamily="34" charset="-120"/>
              </a:rPr>
              <a:t>目標</a:t>
            </a:r>
            <a:endParaRPr lang="en-US" sz="800" dirty="0"/>
          </a:p>
        </p:txBody>
      </p:sp>
      <p:sp>
        <p:nvSpPr>
          <p:cNvPr id="33" name="Text 31"/>
          <p:cNvSpPr/>
          <p:nvPr/>
        </p:nvSpPr>
        <p:spPr>
          <a:xfrm>
            <a:off x="3589586" y="4489698"/>
            <a:ext cx="2003974"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フォロワー増加の糸口を見つける</a:t>
            </a:r>
            <a:endParaRPr lang="en-US" sz="900" dirty="0"/>
          </a:p>
        </p:txBody>
      </p:sp>
      <p:sp>
        <p:nvSpPr>
          <p:cNvPr id="34" name="Text 32"/>
          <p:cNvSpPr/>
          <p:nvPr/>
        </p:nvSpPr>
        <p:spPr>
          <a:xfrm>
            <a:off x="6062067" y="771376"/>
            <a:ext cx="2573982" cy="4194423"/>
          </a:xfrm>
          <a:prstGeom prst="roundRect">
            <a:avLst>
              <a:gd name="adj" fmla="val 4934"/>
            </a:avLst>
          </a:prstGeom>
          <a:solidFill>
            <a:srgbClr val="2A3020"/>
          </a:solidFill>
          <a:ln/>
        </p:spPr>
        <p:txBody>
          <a:bodyPr wrap="square" rtlCol="0" anchor="ctr"/>
          <a:lstStyle/>
          <a:p>
            <a:pPr indent="0" marL="0">
              <a:buNone/>
            </a:pPr>
            <a:endParaRPr lang="en-US" dirty="0"/>
          </a:p>
        </p:txBody>
      </p:sp>
      <p:sp>
        <p:nvSpPr>
          <p:cNvPr id="35" name="Shape 33"/>
          <p:cNvSpPr/>
          <p:nvPr/>
        </p:nvSpPr>
        <p:spPr>
          <a:xfrm>
            <a:off x="6062067" y="795189"/>
            <a:ext cx="2573982" cy="0"/>
          </a:xfrm>
          <a:prstGeom prst="line">
            <a:avLst/>
          </a:prstGeom>
          <a:noFill/>
          <a:ln w="47625">
            <a:solidFill>
              <a:srgbClr val="4CAF50"/>
            </a:solidFill>
            <a:prstDash val="solid"/>
          </a:ln>
        </p:spPr>
      </p:sp>
      <p:sp>
        <p:nvSpPr>
          <p:cNvPr id="36" name="Text 34"/>
          <p:cNvSpPr/>
          <p:nvPr/>
        </p:nvSpPr>
        <p:spPr>
          <a:xfrm>
            <a:off x="6265218" y="1022152"/>
            <a:ext cx="2211035" cy="114300"/>
          </a:xfrm>
          <a:prstGeom prst="rect">
            <a:avLst/>
          </a:prstGeom>
          <a:noFill/>
          <a:ln/>
        </p:spPr>
        <p:txBody>
          <a:bodyPr wrap="square" lIns="0" tIns="0" rIns="0" bIns="0" rtlCol="0" anchor="t"/>
          <a:lstStyle/>
          <a:p>
            <a:pPr algn="l" indent="0" marL="0">
              <a:spcAft>
                <a:spcPts val="800"/>
              </a:spcAft>
              <a:buNone/>
            </a:pPr>
            <a:r>
              <a:rPr lang="en-US" sz="800" b="1" dirty="0">
                <a:solidFill>
                  <a:srgbClr val="4CAF50"/>
                </a:solidFill>
                <a:latin typeface="Arial" pitchFamily="34" charset="0"/>
                <a:ea typeface="Arial" pitchFamily="34" charset="-122"/>
                <a:cs typeface="Arial" pitchFamily="34" charset="-120"/>
              </a:rPr>
              <a:t>PHASE 3</a:t>
            </a:r>
            <a:endParaRPr lang="en-US" sz="800" dirty="0"/>
          </a:p>
        </p:txBody>
      </p:sp>
      <p:sp>
        <p:nvSpPr>
          <p:cNvPr id="37" name="Text 35"/>
          <p:cNvSpPr/>
          <p:nvPr/>
        </p:nvSpPr>
        <p:spPr>
          <a:xfrm>
            <a:off x="6265218" y="1237952"/>
            <a:ext cx="2211035" cy="257175"/>
          </a:xfrm>
          <a:prstGeom prst="rect">
            <a:avLst/>
          </a:prstGeom>
          <a:noFill/>
          <a:ln/>
        </p:spPr>
        <p:txBody>
          <a:bodyPr wrap="square" lIns="0" tIns="0" rIns="0" bIns="0" rtlCol="0" anchor="t"/>
          <a:lstStyle/>
          <a:p>
            <a:pPr algn="l" indent="0" marL="0">
              <a:spcAft>
                <a:spcPts val="400"/>
              </a:spcAft>
              <a:buNone/>
            </a:pPr>
            <a:r>
              <a:rPr lang="en-US" sz="1400" b="1" dirty="0">
                <a:solidFill>
                  <a:srgbClr val="FFFFFF"/>
                </a:solidFill>
                <a:latin typeface="Arial" pitchFamily="34" charset="0"/>
                <a:ea typeface="Arial" pitchFamily="34" charset="-122"/>
                <a:cs typeface="Arial" pitchFamily="34" charset="-120"/>
              </a:rPr>
              <a:t>次のイベント</a:t>
            </a:r>
            <a:endParaRPr lang="en-US" sz="1400" dirty="0"/>
          </a:p>
        </p:txBody>
      </p:sp>
      <p:sp>
        <p:nvSpPr>
          <p:cNvPr id="38" name="Text 36"/>
          <p:cNvSpPr/>
          <p:nvPr/>
        </p:nvSpPr>
        <p:spPr>
          <a:xfrm>
            <a:off x="6265218" y="1545878"/>
            <a:ext cx="2211035" cy="171450"/>
          </a:xfrm>
          <a:prstGeom prst="rect">
            <a:avLst/>
          </a:prstGeom>
          <a:noFill/>
          <a:ln/>
        </p:spPr>
        <p:txBody>
          <a:bodyPr wrap="square" lIns="0" tIns="0" rIns="0" bIns="0" rtlCol="0" anchor="t"/>
          <a:lstStyle/>
          <a:p>
            <a:pPr algn="l" indent="0" marL="0">
              <a:spcAft>
                <a:spcPts val="1200"/>
              </a:spcAft>
              <a:buNone/>
            </a:pPr>
            <a:r>
              <a:rPr lang="en-US" sz="900" dirty="0">
                <a:solidFill>
                  <a:srgbClr val="80C880"/>
                </a:solidFill>
                <a:latin typeface="Arial" pitchFamily="34" charset="0"/>
                <a:ea typeface="Arial" pitchFamily="34" charset="-122"/>
                <a:cs typeface="Arial" pitchFamily="34" charset="-120"/>
              </a:rPr>
              <a:t>次の大型企画が決まり次第</a:t>
            </a:r>
            <a:endParaRPr lang="en-US" sz="900" dirty="0"/>
          </a:p>
        </p:txBody>
      </p:sp>
      <p:sp>
        <p:nvSpPr>
          <p:cNvPr id="39" name="Text 37"/>
          <p:cNvSpPr/>
          <p:nvPr/>
        </p:nvSpPr>
        <p:spPr>
          <a:xfrm>
            <a:off x="6265218" y="1895029"/>
            <a:ext cx="76200" cy="76200"/>
          </a:xfrm>
          <a:prstGeom prst="roundRect">
            <a:avLst>
              <a:gd name="adj" fmla="val 1200000"/>
            </a:avLst>
          </a:prstGeom>
          <a:solidFill>
            <a:srgbClr val="4CAF50"/>
          </a:solidFill>
          <a:ln/>
        </p:spPr>
        <p:txBody>
          <a:bodyPr wrap="square" rtlCol="0" anchor="ctr"/>
          <a:lstStyle/>
          <a:p>
            <a:pPr indent="0" marL="0">
              <a:buNone/>
            </a:pPr>
            <a:endParaRPr lang="en-US" dirty="0"/>
          </a:p>
        </p:txBody>
      </p:sp>
      <p:sp>
        <p:nvSpPr>
          <p:cNvPr id="40" name="Text 38"/>
          <p:cNvSpPr/>
          <p:nvPr/>
        </p:nvSpPr>
        <p:spPr>
          <a:xfrm>
            <a:off x="6442918" y="1869728"/>
            <a:ext cx="2029780" cy="542925"/>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NEWTOWNの知見（開始直後フック・タグ戦略・4投稿シーケンス）を転用</a:t>
            </a:r>
            <a:endParaRPr lang="en-US" sz="950" dirty="0"/>
          </a:p>
        </p:txBody>
      </p:sp>
      <p:sp>
        <p:nvSpPr>
          <p:cNvPr id="41" name="Text 39"/>
          <p:cNvSpPr/>
          <p:nvPr/>
        </p:nvSpPr>
        <p:spPr>
          <a:xfrm>
            <a:off x="6265218" y="2539454"/>
            <a:ext cx="76200" cy="76200"/>
          </a:xfrm>
          <a:prstGeom prst="roundRect">
            <a:avLst>
              <a:gd name="adj" fmla="val 1200000"/>
            </a:avLst>
          </a:prstGeom>
          <a:solidFill>
            <a:srgbClr val="4CAF50"/>
          </a:solidFill>
          <a:ln/>
        </p:spPr>
        <p:txBody>
          <a:bodyPr wrap="square" rtlCol="0" anchor="ctr"/>
          <a:lstStyle/>
          <a:p>
            <a:pPr indent="0" marL="0">
              <a:buNone/>
            </a:pPr>
            <a:endParaRPr lang="en-US" dirty="0"/>
          </a:p>
        </p:txBody>
      </p:sp>
      <p:sp>
        <p:nvSpPr>
          <p:cNvPr id="42" name="Text 40"/>
          <p:cNvSpPr/>
          <p:nvPr/>
        </p:nvSpPr>
        <p:spPr>
          <a:xfrm>
            <a:off x="6442918" y="2514154"/>
            <a:ext cx="2029780"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イベント中にもフォロワー獲得につながる投稿を意識設計する</a:t>
            </a:r>
            <a:endParaRPr lang="en-US" sz="950" dirty="0"/>
          </a:p>
        </p:txBody>
      </p:sp>
      <p:sp>
        <p:nvSpPr>
          <p:cNvPr id="43" name="Text 41"/>
          <p:cNvSpPr/>
          <p:nvPr/>
        </p:nvSpPr>
        <p:spPr>
          <a:xfrm>
            <a:off x="6265218" y="3002905"/>
            <a:ext cx="76200" cy="76200"/>
          </a:xfrm>
          <a:prstGeom prst="roundRect">
            <a:avLst>
              <a:gd name="adj" fmla="val 1200000"/>
            </a:avLst>
          </a:prstGeom>
          <a:solidFill>
            <a:srgbClr val="4CAF50"/>
          </a:solidFill>
          <a:ln/>
        </p:spPr>
        <p:txBody>
          <a:bodyPr wrap="square" rtlCol="0" anchor="ctr"/>
          <a:lstStyle/>
          <a:p>
            <a:pPr indent="0" marL="0">
              <a:buNone/>
            </a:pPr>
            <a:endParaRPr lang="en-US" dirty="0"/>
          </a:p>
        </p:txBody>
      </p:sp>
      <p:sp>
        <p:nvSpPr>
          <p:cNvPr id="44" name="Text 42"/>
          <p:cNvSpPr/>
          <p:nvPr/>
        </p:nvSpPr>
        <p:spPr>
          <a:xfrm>
            <a:off x="6442918" y="2977604"/>
            <a:ext cx="2029780"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UTMパラメータ付与でGA計測を精緻化</a:t>
            </a:r>
            <a:endParaRPr lang="en-US" sz="950" dirty="0"/>
          </a:p>
        </p:txBody>
      </p:sp>
      <p:sp>
        <p:nvSpPr>
          <p:cNvPr id="45" name="Text 43"/>
          <p:cNvSpPr/>
          <p:nvPr/>
        </p:nvSpPr>
        <p:spPr>
          <a:xfrm>
            <a:off x="6265218" y="4207222"/>
            <a:ext cx="2167682" cy="555427"/>
          </a:xfrm>
          <a:prstGeom prst="roundRect">
            <a:avLst>
              <a:gd name="adj" fmla="val 13719"/>
            </a:avLst>
          </a:prstGeom>
          <a:solidFill>
            <a:srgbClr val="152515"/>
          </a:solidFill>
          <a:ln/>
        </p:spPr>
        <p:txBody>
          <a:bodyPr wrap="square" rtlCol="0" anchor="ctr"/>
          <a:lstStyle/>
          <a:p>
            <a:pPr indent="0" marL="0">
              <a:buNone/>
            </a:pPr>
            <a:endParaRPr lang="en-US" dirty="0"/>
          </a:p>
        </p:txBody>
      </p:sp>
      <p:sp>
        <p:nvSpPr>
          <p:cNvPr id="46" name="Text 44"/>
          <p:cNvSpPr/>
          <p:nvPr/>
        </p:nvSpPr>
        <p:spPr>
          <a:xfrm>
            <a:off x="6366718" y="4308723"/>
            <a:ext cx="2003974" cy="142875"/>
          </a:xfrm>
          <a:prstGeom prst="rect">
            <a:avLst/>
          </a:prstGeom>
          <a:noFill/>
          <a:ln/>
        </p:spPr>
        <p:txBody>
          <a:bodyPr wrap="square" lIns="0" tIns="0" rIns="0" bIns="0" rtlCol="0" anchor="t"/>
          <a:lstStyle/>
          <a:p>
            <a:pPr algn="l" indent="0" marL="0">
              <a:spcAft>
                <a:spcPts val="300"/>
              </a:spcAft>
              <a:buNone/>
            </a:pPr>
            <a:r>
              <a:rPr lang="en-US" sz="800" b="1" dirty="0">
                <a:solidFill>
                  <a:srgbClr val="80C880"/>
                </a:solidFill>
                <a:latin typeface="Arial" pitchFamily="34" charset="0"/>
                <a:ea typeface="Arial" pitchFamily="34" charset="-122"/>
                <a:cs typeface="Arial" pitchFamily="34" charset="-120"/>
              </a:rPr>
              <a:t>目標</a:t>
            </a:r>
            <a:endParaRPr lang="en-US" sz="800" dirty="0"/>
          </a:p>
        </p:txBody>
      </p:sp>
      <p:sp>
        <p:nvSpPr>
          <p:cNvPr id="47" name="Text 45"/>
          <p:cNvSpPr/>
          <p:nvPr/>
        </p:nvSpPr>
        <p:spPr>
          <a:xfrm>
            <a:off x="6366718" y="4489698"/>
            <a:ext cx="2003974"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イベント後もフォロワーが残る設計</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593675"/>
          </a:xfrm>
          <a:prstGeom prst="rect">
            <a:avLst/>
          </a:prstGeom>
          <a:solidFill>
            <a:srgbClr val="1E2A3A"/>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4" name="Text 2"/>
          <p:cNvSpPr/>
          <p:nvPr/>
        </p:nvSpPr>
        <p:spPr>
          <a:xfrm>
            <a:off x="736550" y="152400"/>
            <a:ext cx="3392379"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NEWTOWNから得た転用可能な知見</a:t>
            </a:r>
            <a:endParaRPr lang="en-US" sz="1600" dirty="0"/>
          </a:p>
        </p:txBody>
      </p:sp>
      <p:sp>
        <p:nvSpPr>
          <p:cNvPr id="5" name="Text 3"/>
          <p:cNvSpPr/>
          <p:nvPr/>
        </p:nvSpPr>
        <p:spPr>
          <a:xfrm>
            <a:off x="4214813" y="209550"/>
            <a:ext cx="1957977"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次のイベントにそのまま使える</a:t>
            </a:r>
            <a:endParaRPr lang="en-US" sz="1000" dirty="0"/>
          </a:p>
        </p:txBody>
      </p:sp>
      <p:sp>
        <p:nvSpPr>
          <p:cNvPr id="6" name="Text 4"/>
          <p:cNvSpPr/>
          <p:nvPr/>
        </p:nvSpPr>
        <p:spPr>
          <a:xfrm>
            <a:off x="507950" y="771376"/>
            <a:ext cx="4819040" cy="209550"/>
          </a:xfrm>
          <a:prstGeom prst="rect">
            <a:avLst/>
          </a:prstGeom>
          <a:noFill/>
          <a:ln/>
        </p:spPr>
        <p:txBody>
          <a:bodyPr wrap="square" lIns="0" tIns="0" rIns="0" bIns="0" rtlCol="0" anchor="t"/>
          <a:lstStyle/>
          <a:p>
            <a:pPr algn="l" indent="0" marL="0">
              <a:spcAft>
                <a:spcPts val="800"/>
              </a:spcAft>
              <a:buNone/>
            </a:pPr>
            <a:r>
              <a:rPr lang="en-US" sz="1100" b="1" dirty="0">
                <a:solidFill>
                  <a:srgbClr val="1E2A3A"/>
                </a:solidFill>
                <a:latin typeface="Arial" pitchFamily="34" charset="0"/>
                <a:ea typeface="Arial" pitchFamily="34" charset="-122"/>
                <a:cs typeface="Arial" pitchFamily="34" charset="-120"/>
              </a:rPr>
              <a:t>有効なフック型（再現性確認済み）</a:t>
            </a:r>
            <a:endParaRPr lang="en-US" sz="1100" dirty="0"/>
          </a:p>
        </p:txBody>
      </p:sp>
      <p:sp>
        <p:nvSpPr>
          <p:cNvPr id="7" name="Text 5"/>
          <p:cNvSpPr/>
          <p:nvPr/>
        </p:nvSpPr>
        <p:spPr>
          <a:xfrm>
            <a:off x="507950" y="1209377"/>
            <a:ext cx="4724549" cy="1470720"/>
          </a:xfrm>
          <a:prstGeom prst="roundRect">
            <a:avLst>
              <a:gd name="adj" fmla="val 6908"/>
            </a:avLst>
          </a:prstGeom>
          <a:solidFill>
            <a:srgbClr val="FFFFFF"/>
          </a:solidFill>
          <a:ln/>
          <a:effectLst>
            <a:outerShdw sx="100000" sy="100000" kx="0" ky="0" algn="bl" rotWithShape="0" blurRad="38100" dist="9525" dir="5400000">
              <a:srgbClr val="000000">
                <a:alpha val="7000"/>
              </a:srgbClr>
            </a:outerShdw>
          </a:effectLst>
        </p:spPr>
        <p:txBody>
          <a:bodyPr wrap="square" rtlCol="0" anchor="ctr"/>
          <a:lstStyle/>
          <a:p>
            <a:pPr indent="0" marL="0">
              <a:buNone/>
            </a:pPr>
            <a:endParaRPr lang="en-US" dirty="0"/>
          </a:p>
        </p:txBody>
      </p:sp>
      <p:sp>
        <p:nvSpPr>
          <p:cNvPr id="8" name="Text 6"/>
          <p:cNvSpPr/>
          <p:nvPr/>
        </p:nvSpPr>
        <p:spPr>
          <a:xfrm>
            <a:off x="660350" y="1361777"/>
            <a:ext cx="685502" cy="193477"/>
          </a:xfrm>
          <a:prstGeom prst="roundRect">
            <a:avLst>
              <a:gd name="adj" fmla="val 26256"/>
            </a:avLst>
          </a:prstGeom>
          <a:solidFill>
            <a:srgbClr val="E0F7FA"/>
          </a:solidFill>
          <a:ln/>
        </p:spPr>
        <p:txBody>
          <a:bodyPr wrap="square" rtlCol="0" anchor="ctr"/>
          <a:lstStyle/>
          <a:p>
            <a:pPr indent="0" marL="0">
              <a:buNone/>
            </a:pPr>
            <a:endParaRPr lang="en-US" dirty="0"/>
          </a:p>
        </p:txBody>
      </p:sp>
      <p:sp>
        <p:nvSpPr>
          <p:cNvPr id="9" name="Text 7"/>
          <p:cNvSpPr/>
          <p:nvPr/>
        </p:nvSpPr>
        <p:spPr>
          <a:xfrm>
            <a:off x="749201" y="1387078"/>
            <a:ext cx="517958" cy="142875"/>
          </a:xfrm>
          <a:prstGeom prst="rect">
            <a:avLst/>
          </a:prstGeom>
          <a:noFill/>
          <a:ln/>
        </p:spPr>
        <p:txBody>
          <a:bodyPr wrap="square" lIns="0" tIns="0" rIns="0" bIns="0" rtlCol="0" anchor="t"/>
          <a:lstStyle/>
          <a:p>
            <a:pPr algn="l" indent="0" marL="0">
              <a:buNone/>
            </a:pPr>
            <a:r>
              <a:rPr lang="en-US" sz="800" b="1" dirty="0">
                <a:solidFill>
                  <a:srgbClr val="00838F"/>
                </a:solidFill>
                <a:latin typeface="Arial" pitchFamily="34" charset="0"/>
                <a:ea typeface="Arial" pitchFamily="34" charset="-122"/>
                <a:cs typeface="Arial" pitchFamily="34" charset="-120"/>
              </a:rPr>
              <a:t>開始宣言型</a:t>
            </a:r>
            <a:endParaRPr lang="en-US" sz="800" dirty="0"/>
          </a:p>
        </p:txBody>
      </p:sp>
      <p:sp>
        <p:nvSpPr>
          <p:cNvPr id="10" name="Text 8"/>
          <p:cNvSpPr/>
          <p:nvPr/>
        </p:nvSpPr>
        <p:spPr>
          <a:xfrm>
            <a:off x="1447354" y="1361777"/>
            <a:ext cx="2816432" cy="337840"/>
          </a:xfrm>
          <a:prstGeom prst="rect">
            <a:avLst/>
          </a:prstGeom>
          <a:noFill/>
          <a:ln/>
        </p:spPr>
        <p:txBody>
          <a:bodyPr wrap="square" lIns="0" tIns="0" rIns="0" bIns="0" rtlCol="0" anchor="t"/>
          <a:lstStyle/>
          <a:p>
            <a:pPr algn="l" indent="0" marL="0">
              <a:lnSpc>
                <a:spcPts val="1330"/>
              </a:lnSpc>
              <a:buNone/>
            </a:pPr>
            <a:r>
              <a:rPr lang="en-US" sz="950" dirty="0">
                <a:solidFill>
                  <a:srgbClr val="3A4A5A"/>
                </a:solidFill>
                <a:latin typeface="Arial" pitchFamily="34" charset="0"/>
                <a:ea typeface="Arial" pitchFamily="34" charset="-122"/>
                <a:cs typeface="Arial" pitchFamily="34" charset="-120"/>
              </a:rPr>
              <a:t>[イベント名]が始まる👀 URLから[行動語]してみよう！</a:t>
            </a:r>
            <a:endParaRPr lang="en-US" sz="950" dirty="0"/>
          </a:p>
        </p:txBody>
      </p:sp>
      <p:sp>
        <p:nvSpPr>
          <p:cNvPr id="11" name="Text 9"/>
          <p:cNvSpPr/>
          <p:nvPr/>
        </p:nvSpPr>
        <p:spPr>
          <a:xfrm>
            <a:off x="4310063" y="1361777"/>
            <a:ext cx="785437" cy="257175"/>
          </a:xfrm>
          <a:prstGeom prst="rect">
            <a:avLst/>
          </a:prstGeom>
          <a:noFill/>
          <a:ln/>
        </p:spPr>
        <p:txBody>
          <a:bodyPr wrap="square" lIns="0" tIns="0" rIns="0" bIns="0" rtlCol="0" anchor="t"/>
          <a:lstStyle/>
          <a:p>
            <a:pPr algn="l" indent="0" marL="0">
              <a:buNone/>
            </a:pPr>
            <a:r>
              <a:rPr lang="en-US" sz="800" b="1" dirty="0">
                <a:solidFill>
                  <a:srgbClr val="4CAF50"/>
                </a:solidFill>
                <a:latin typeface="Arial" pitchFamily="34" charset="0"/>
                <a:ea typeface="Arial" pitchFamily="34" charset="-122"/>
                <a:cs typeface="Arial" pitchFamily="34" charset="-120"/>
              </a:rPr>
              <a:t>CTR 1.80〜2.22%</a:t>
            </a:r>
            <a:endParaRPr lang="en-US" sz="800" dirty="0"/>
          </a:p>
        </p:txBody>
      </p:sp>
      <p:sp>
        <p:nvSpPr>
          <p:cNvPr id="12" name="Text 10"/>
          <p:cNvSpPr/>
          <p:nvPr/>
        </p:nvSpPr>
        <p:spPr>
          <a:xfrm>
            <a:off x="660350" y="1775817"/>
            <a:ext cx="685502" cy="193477"/>
          </a:xfrm>
          <a:prstGeom prst="roundRect">
            <a:avLst>
              <a:gd name="adj" fmla="val 26256"/>
            </a:avLst>
          </a:prstGeom>
          <a:solidFill>
            <a:srgbClr val="EDE7F6"/>
          </a:solidFill>
          <a:ln/>
        </p:spPr>
        <p:txBody>
          <a:bodyPr wrap="square" rtlCol="0" anchor="ctr"/>
          <a:lstStyle/>
          <a:p>
            <a:pPr indent="0" marL="0">
              <a:buNone/>
            </a:pPr>
            <a:endParaRPr lang="en-US" dirty="0"/>
          </a:p>
        </p:txBody>
      </p:sp>
      <p:sp>
        <p:nvSpPr>
          <p:cNvPr id="13" name="Text 11"/>
          <p:cNvSpPr/>
          <p:nvPr/>
        </p:nvSpPr>
        <p:spPr>
          <a:xfrm>
            <a:off x="749201" y="1801118"/>
            <a:ext cx="517958" cy="142875"/>
          </a:xfrm>
          <a:prstGeom prst="rect">
            <a:avLst/>
          </a:prstGeom>
          <a:noFill/>
          <a:ln/>
        </p:spPr>
        <p:txBody>
          <a:bodyPr wrap="square" lIns="0" tIns="0" rIns="0" bIns="0" rtlCol="0" anchor="t"/>
          <a:lstStyle/>
          <a:p>
            <a:pPr algn="l" indent="0" marL="0">
              <a:buNone/>
            </a:pPr>
            <a:r>
              <a:rPr lang="en-US" sz="800" b="1" dirty="0">
                <a:solidFill>
                  <a:srgbClr val="5E35B1"/>
                </a:solidFill>
                <a:latin typeface="Arial" pitchFamily="34" charset="0"/>
                <a:ea typeface="Arial" pitchFamily="34" charset="-122"/>
                <a:cs typeface="Arial" pitchFamily="34" charset="-120"/>
              </a:rPr>
              <a:t>応援促進型</a:t>
            </a:r>
            <a:endParaRPr lang="en-US" sz="800" dirty="0"/>
          </a:p>
        </p:txBody>
      </p:sp>
      <p:sp>
        <p:nvSpPr>
          <p:cNvPr id="14" name="Text 12"/>
          <p:cNvSpPr/>
          <p:nvPr/>
        </p:nvSpPr>
        <p:spPr>
          <a:xfrm>
            <a:off x="1447354" y="1775817"/>
            <a:ext cx="2890209" cy="337840"/>
          </a:xfrm>
          <a:prstGeom prst="rect">
            <a:avLst/>
          </a:prstGeom>
          <a:noFill/>
          <a:ln/>
        </p:spPr>
        <p:txBody>
          <a:bodyPr wrap="square" lIns="0" tIns="0" rIns="0" bIns="0" rtlCol="0" anchor="t"/>
          <a:lstStyle/>
          <a:p>
            <a:pPr algn="l" indent="0" marL="0">
              <a:lnSpc>
                <a:spcPts val="1330"/>
              </a:lnSpc>
              <a:buNone/>
            </a:pPr>
            <a:r>
              <a:rPr lang="en-US" sz="950" dirty="0">
                <a:solidFill>
                  <a:srgbClr val="3A4A5A"/>
                </a:solidFill>
                <a:latin typeface="Arial" pitchFamily="34" charset="0"/>
                <a:ea typeface="Arial" pitchFamily="34" charset="-122"/>
                <a:cs typeface="Arial" pitchFamily="34" charset="-120"/>
              </a:rPr>
              <a:t>#[コミュニティ名] マルチビューを使って[名前]を応援しよう！</a:t>
            </a:r>
            <a:endParaRPr lang="en-US" sz="950" dirty="0"/>
          </a:p>
        </p:txBody>
      </p:sp>
      <p:sp>
        <p:nvSpPr>
          <p:cNvPr id="15" name="Text 13"/>
          <p:cNvSpPr/>
          <p:nvPr/>
        </p:nvSpPr>
        <p:spPr>
          <a:xfrm>
            <a:off x="4382393" y="1775817"/>
            <a:ext cx="711660" cy="257175"/>
          </a:xfrm>
          <a:prstGeom prst="rect">
            <a:avLst/>
          </a:prstGeom>
          <a:noFill/>
          <a:ln/>
        </p:spPr>
        <p:txBody>
          <a:bodyPr wrap="square" lIns="0" tIns="0" rIns="0" bIns="0" rtlCol="0" anchor="t"/>
          <a:lstStyle/>
          <a:p>
            <a:pPr algn="l" indent="0" marL="0">
              <a:buNone/>
            </a:pPr>
            <a:r>
              <a:rPr lang="en-US" sz="800" b="1" dirty="0">
                <a:solidFill>
                  <a:srgbClr val="4CAF50"/>
                </a:solidFill>
                <a:latin typeface="Arial" pitchFamily="34" charset="0"/>
                <a:ea typeface="Arial" pitchFamily="34" charset="-122"/>
                <a:cs typeface="Arial" pitchFamily="34" charset="-120"/>
              </a:rPr>
              <a:t>CTR 2.34〜3.91%</a:t>
            </a:r>
            <a:endParaRPr lang="en-US" sz="800" dirty="0"/>
          </a:p>
        </p:txBody>
      </p:sp>
      <p:sp>
        <p:nvSpPr>
          <p:cNvPr id="16" name="Text 14"/>
          <p:cNvSpPr/>
          <p:nvPr/>
        </p:nvSpPr>
        <p:spPr>
          <a:xfrm>
            <a:off x="660350" y="2189857"/>
            <a:ext cx="583853" cy="193477"/>
          </a:xfrm>
          <a:prstGeom prst="roundRect">
            <a:avLst>
              <a:gd name="adj" fmla="val 26256"/>
            </a:avLst>
          </a:prstGeom>
          <a:solidFill>
            <a:srgbClr val="FFF3E0"/>
          </a:solidFill>
          <a:ln/>
        </p:spPr>
        <p:txBody>
          <a:bodyPr wrap="square" rtlCol="0" anchor="ctr"/>
          <a:lstStyle/>
          <a:p>
            <a:pPr indent="0" marL="0">
              <a:buNone/>
            </a:pPr>
            <a:endParaRPr lang="en-US" dirty="0"/>
          </a:p>
        </p:txBody>
      </p:sp>
      <p:sp>
        <p:nvSpPr>
          <p:cNvPr id="17" name="Text 15"/>
          <p:cNvSpPr/>
          <p:nvPr/>
        </p:nvSpPr>
        <p:spPr>
          <a:xfrm>
            <a:off x="749201" y="2215158"/>
            <a:ext cx="414275" cy="142875"/>
          </a:xfrm>
          <a:prstGeom prst="rect">
            <a:avLst/>
          </a:prstGeom>
          <a:noFill/>
          <a:ln/>
        </p:spPr>
        <p:txBody>
          <a:bodyPr wrap="square" lIns="0" tIns="0" rIns="0" bIns="0" rtlCol="0" anchor="t"/>
          <a:lstStyle/>
          <a:p>
            <a:pPr algn="l" indent="0" marL="0">
              <a:buNone/>
            </a:pPr>
            <a:r>
              <a:rPr lang="en-US" sz="800" b="1" dirty="0">
                <a:solidFill>
                  <a:srgbClr val="E65100"/>
                </a:solidFill>
                <a:latin typeface="Arial" pitchFamily="34" charset="0"/>
                <a:ea typeface="Arial" pitchFamily="34" charset="-122"/>
                <a:cs typeface="Arial" pitchFamily="34" charset="-120"/>
              </a:rPr>
              <a:t>集大成型</a:t>
            </a:r>
            <a:endParaRPr lang="en-US" sz="800" dirty="0"/>
          </a:p>
        </p:txBody>
      </p:sp>
      <p:sp>
        <p:nvSpPr>
          <p:cNvPr id="18" name="Text 16"/>
          <p:cNvSpPr/>
          <p:nvPr/>
        </p:nvSpPr>
        <p:spPr>
          <a:xfrm>
            <a:off x="1345704" y="2189857"/>
            <a:ext cx="3229948" cy="337840"/>
          </a:xfrm>
          <a:prstGeom prst="rect">
            <a:avLst/>
          </a:prstGeom>
          <a:noFill/>
          <a:ln/>
        </p:spPr>
        <p:txBody>
          <a:bodyPr wrap="square" lIns="0" tIns="0" rIns="0" bIns="0" rtlCol="0" anchor="t"/>
          <a:lstStyle/>
          <a:p>
            <a:pPr algn="l" indent="0" marL="0">
              <a:lnSpc>
                <a:spcPts val="1330"/>
              </a:lnSpc>
              <a:buNone/>
            </a:pPr>
            <a:r>
              <a:rPr lang="en-US" sz="950" dirty="0">
                <a:solidFill>
                  <a:srgbClr val="3A4A5A"/>
                </a:solidFill>
                <a:latin typeface="Arial" pitchFamily="34" charset="0"/>
                <a:ea typeface="Arial" pitchFamily="34" charset="-122"/>
                <a:cs typeface="Arial" pitchFamily="34" charset="-120"/>
              </a:rPr>
              <a:t>[名前]が最後の[イベント名]を始めたみたい👀 最後を見守ろう！！</a:t>
            </a:r>
            <a:endParaRPr lang="en-US" sz="950" dirty="0"/>
          </a:p>
        </p:txBody>
      </p:sp>
      <p:sp>
        <p:nvSpPr>
          <p:cNvPr id="19" name="Text 17"/>
          <p:cNvSpPr/>
          <p:nvPr/>
        </p:nvSpPr>
        <p:spPr>
          <a:xfrm>
            <a:off x="4613821" y="2189857"/>
            <a:ext cx="475604" cy="228600"/>
          </a:xfrm>
          <a:prstGeom prst="rect">
            <a:avLst/>
          </a:prstGeom>
          <a:noFill/>
          <a:ln/>
        </p:spPr>
        <p:txBody>
          <a:bodyPr wrap="square" lIns="0" tIns="0" rIns="0" bIns="0" rtlCol="0" anchor="t"/>
          <a:lstStyle/>
          <a:p>
            <a:pPr algn="l" indent="0" marL="0">
              <a:buNone/>
            </a:pPr>
            <a:r>
              <a:rPr lang="en-US" sz="800" b="1" dirty="0">
                <a:solidFill>
                  <a:srgbClr val="4CAF50"/>
                </a:solidFill>
                <a:latin typeface="Arial" pitchFamily="34" charset="0"/>
                <a:ea typeface="Arial" pitchFamily="34" charset="-122"/>
                <a:cs typeface="Arial" pitchFamily="34" charset="-120"/>
              </a:rPr>
              <a:t>CTR 4.12%</a:t>
            </a:r>
            <a:endParaRPr lang="en-US" sz="800" dirty="0"/>
          </a:p>
        </p:txBody>
      </p:sp>
      <p:sp>
        <p:nvSpPr>
          <p:cNvPr id="20" name="Text 18"/>
          <p:cNvSpPr/>
          <p:nvPr/>
        </p:nvSpPr>
        <p:spPr>
          <a:xfrm>
            <a:off x="507950" y="2807047"/>
            <a:ext cx="4724549" cy="1187351"/>
          </a:xfrm>
          <a:prstGeom prst="roundRect">
            <a:avLst>
              <a:gd name="adj" fmla="val 8557"/>
            </a:avLst>
          </a:prstGeom>
          <a:solidFill>
            <a:srgbClr val="FFFFFF"/>
          </a:solidFill>
          <a:ln/>
          <a:effectLst>
            <a:outerShdw sx="100000" sy="100000" kx="0" ky="0" algn="bl" rotWithShape="0" blurRad="38100" dist="9525" dir="5400000">
              <a:srgbClr val="000000">
                <a:alpha val="7000"/>
              </a:srgbClr>
            </a:outerShdw>
          </a:effectLst>
        </p:spPr>
        <p:txBody>
          <a:bodyPr wrap="square" rtlCol="0" anchor="ctr"/>
          <a:lstStyle/>
          <a:p>
            <a:pPr indent="0" marL="0">
              <a:buNone/>
            </a:pPr>
            <a:endParaRPr lang="en-US" dirty="0"/>
          </a:p>
        </p:txBody>
      </p:sp>
      <p:sp>
        <p:nvSpPr>
          <p:cNvPr id="21" name="Text 19"/>
          <p:cNvSpPr/>
          <p:nvPr/>
        </p:nvSpPr>
        <p:spPr>
          <a:xfrm>
            <a:off x="660350" y="2959447"/>
            <a:ext cx="4508144" cy="209550"/>
          </a:xfrm>
          <a:prstGeom prst="rect">
            <a:avLst/>
          </a:prstGeom>
          <a:noFill/>
          <a:ln/>
        </p:spPr>
        <p:txBody>
          <a:bodyPr wrap="square" lIns="0" tIns="0" rIns="0" bIns="0" rtlCol="0" anchor="t"/>
          <a:lstStyle/>
          <a:p>
            <a:pPr algn="l" indent="0" marL="0">
              <a:spcAft>
                <a:spcPts val="800"/>
              </a:spcAft>
              <a:buNone/>
            </a:pPr>
            <a:r>
              <a:rPr lang="en-US" sz="1100" b="1" dirty="0">
                <a:solidFill>
                  <a:srgbClr val="1E2A3A"/>
                </a:solidFill>
                <a:latin typeface="Arial" pitchFamily="34" charset="0"/>
                <a:ea typeface="Arial" pitchFamily="34" charset="-122"/>
                <a:cs typeface="Arial" pitchFamily="34" charset="-120"/>
              </a:rPr>
              <a:t>タグ戦略</a:t>
            </a:r>
            <a:endParaRPr lang="en-US" sz="1100" dirty="0"/>
          </a:p>
        </p:txBody>
      </p:sp>
      <p:sp>
        <p:nvSpPr>
          <p:cNvPr id="22" name="Text 20"/>
          <p:cNvSpPr/>
          <p:nvPr/>
        </p:nvSpPr>
        <p:spPr>
          <a:xfrm>
            <a:off x="660350" y="3270498"/>
            <a:ext cx="2340025" cy="247650"/>
          </a:xfrm>
          <a:prstGeom prst="roundRect">
            <a:avLst>
              <a:gd name="adj" fmla="val 20513"/>
            </a:avLst>
          </a:prstGeom>
          <a:solidFill>
            <a:srgbClr val="E8F9FC"/>
          </a:solidFill>
          <a:ln/>
        </p:spPr>
        <p:txBody>
          <a:bodyPr wrap="square" rtlCol="0" anchor="ctr"/>
          <a:lstStyle/>
          <a:p>
            <a:pPr indent="0" marL="0">
              <a:buNone/>
            </a:pPr>
            <a:endParaRPr lang="en-US" dirty="0"/>
          </a:p>
        </p:txBody>
      </p:sp>
      <p:sp>
        <p:nvSpPr>
          <p:cNvPr id="23" name="Text 21"/>
          <p:cNvSpPr/>
          <p:nvPr/>
        </p:nvSpPr>
        <p:spPr>
          <a:xfrm>
            <a:off x="761851" y="3308598"/>
            <a:ext cx="2179764" cy="171450"/>
          </a:xfrm>
          <a:prstGeom prst="rect">
            <a:avLst/>
          </a:prstGeom>
          <a:noFill/>
          <a:ln/>
        </p:spPr>
        <p:txBody>
          <a:bodyPr wrap="square" lIns="0" tIns="0" rIns="0" bIns="0" rtlCol="0" anchor="t"/>
          <a:lstStyle/>
          <a:p>
            <a:pPr algn="l" indent="0" marL="0">
              <a:buNone/>
            </a:pPr>
            <a:r>
              <a:rPr lang="en-US" sz="900" b="1" dirty="0">
                <a:solidFill>
                  <a:srgbClr val="0088AA"/>
                </a:solidFill>
                <a:latin typeface="Arial" pitchFamily="34" charset="0"/>
                <a:ea typeface="Arial" pitchFamily="34" charset="-122"/>
                <a:cs typeface="Arial" pitchFamily="34" charset="-120"/>
              </a:rPr>
              <a:t>コミュニティ固有タグ + 上位タグ（2枚）</a:t>
            </a:r>
            <a:endParaRPr lang="en-US" sz="900" dirty="0"/>
          </a:p>
        </p:txBody>
      </p:sp>
      <p:sp>
        <p:nvSpPr>
          <p:cNvPr id="24" name="Text 22"/>
          <p:cNvSpPr/>
          <p:nvPr/>
        </p:nvSpPr>
        <p:spPr>
          <a:xfrm>
            <a:off x="3076575" y="3270498"/>
            <a:ext cx="888802" cy="247650"/>
          </a:xfrm>
          <a:prstGeom prst="roundRect">
            <a:avLst>
              <a:gd name="adj" fmla="val 20513"/>
            </a:avLst>
          </a:prstGeom>
          <a:solidFill>
            <a:srgbClr val="FFF8E1"/>
          </a:solidFill>
          <a:ln/>
        </p:spPr>
        <p:txBody>
          <a:bodyPr wrap="square" rtlCol="0" anchor="ctr"/>
          <a:lstStyle/>
          <a:p>
            <a:pPr indent="0" marL="0">
              <a:buNone/>
            </a:pPr>
            <a:endParaRPr lang="en-US" dirty="0"/>
          </a:p>
        </p:txBody>
      </p:sp>
      <p:sp>
        <p:nvSpPr>
          <p:cNvPr id="25" name="Text 23"/>
          <p:cNvSpPr/>
          <p:nvPr/>
        </p:nvSpPr>
        <p:spPr>
          <a:xfrm>
            <a:off x="3178076" y="3308598"/>
            <a:ext cx="699516" cy="171450"/>
          </a:xfrm>
          <a:prstGeom prst="rect">
            <a:avLst/>
          </a:prstGeom>
          <a:noFill/>
          <a:ln/>
        </p:spPr>
        <p:txBody>
          <a:bodyPr wrap="square" lIns="0" tIns="0" rIns="0" bIns="0" rtlCol="0" anchor="t"/>
          <a:lstStyle/>
          <a:p>
            <a:pPr algn="l" indent="0" marL="0">
              <a:buNone/>
            </a:pPr>
            <a:r>
              <a:rPr lang="en-US" sz="900" dirty="0">
                <a:solidFill>
                  <a:srgbClr val="B8860B"/>
                </a:solidFill>
                <a:latin typeface="Arial" pitchFamily="34" charset="0"/>
                <a:ea typeface="Arial" pitchFamily="34" charset="-122"/>
                <a:cs typeface="Arial" pitchFamily="34" charset="-120"/>
              </a:rPr>
              <a:t>固有タグ単体</a:t>
            </a:r>
            <a:endParaRPr lang="en-US" sz="900" dirty="0"/>
          </a:p>
        </p:txBody>
      </p:sp>
      <p:sp>
        <p:nvSpPr>
          <p:cNvPr id="26" name="Text 24"/>
          <p:cNvSpPr/>
          <p:nvPr/>
        </p:nvSpPr>
        <p:spPr>
          <a:xfrm>
            <a:off x="4041577" y="3270498"/>
            <a:ext cx="946398" cy="247650"/>
          </a:xfrm>
          <a:prstGeom prst="roundRect">
            <a:avLst>
              <a:gd name="adj" fmla="val 20513"/>
            </a:avLst>
          </a:prstGeom>
          <a:solidFill>
            <a:srgbClr val="FFEBEE"/>
          </a:solidFill>
          <a:ln/>
        </p:spPr>
        <p:txBody>
          <a:bodyPr wrap="square" rtlCol="0" anchor="ctr"/>
          <a:lstStyle/>
          <a:p>
            <a:pPr indent="0" marL="0">
              <a:buNone/>
            </a:pPr>
            <a:endParaRPr lang="en-US" dirty="0"/>
          </a:p>
        </p:txBody>
      </p:sp>
      <p:sp>
        <p:nvSpPr>
          <p:cNvPr id="27" name="Text 25"/>
          <p:cNvSpPr/>
          <p:nvPr/>
        </p:nvSpPr>
        <p:spPr>
          <a:xfrm>
            <a:off x="4143077" y="3308598"/>
            <a:ext cx="758264" cy="133350"/>
          </a:xfrm>
          <a:prstGeom prst="rect">
            <a:avLst/>
          </a:prstGeom>
          <a:noFill/>
          <a:ln/>
        </p:spPr>
        <p:txBody>
          <a:bodyPr wrap="square" lIns="0" tIns="0" rIns="0" bIns="0" rtlCol="0" anchor="t"/>
          <a:lstStyle/>
          <a:p>
            <a:pPr algn="l" indent="0" marL="0">
              <a:buNone/>
            </a:pPr>
            <a:r>
              <a:rPr lang="en-US" sz="900" dirty="0">
                <a:solidFill>
                  <a:srgbClr val="C62828"/>
                </a:solidFill>
                <a:latin typeface="Arial" pitchFamily="34" charset="0"/>
                <a:ea typeface="Arial" pitchFamily="34" charset="-122"/>
                <a:cs typeface="Arial" pitchFamily="34" charset="-120"/>
              </a:rPr>
              <a:t>#StreamerHub</a:t>
            </a:r>
            <a:endParaRPr lang="en-US" sz="900" dirty="0"/>
          </a:p>
        </p:txBody>
      </p:sp>
      <p:sp>
        <p:nvSpPr>
          <p:cNvPr id="28" name="Text 26"/>
          <p:cNvSpPr/>
          <p:nvPr/>
        </p:nvSpPr>
        <p:spPr>
          <a:xfrm>
            <a:off x="660350" y="3594348"/>
            <a:ext cx="1108918" cy="247650"/>
          </a:xfrm>
          <a:prstGeom prst="roundRect">
            <a:avLst>
              <a:gd name="adj" fmla="val 20513"/>
            </a:avLst>
          </a:prstGeom>
          <a:solidFill>
            <a:srgbClr val="FFEBEE"/>
          </a:solidFill>
          <a:ln/>
        </p:spPr>
        <p:txBody>
          <a:bodyPr wrap="square" rtlCol="0" anchor="ctr"/>
          <a:lstStyle/>
          <a:p>
            <a:pPr indent="0" marL="0">
              <a:buNone/>
            </a:pPr>
            <a:endParaRPr lang="en-US" dirty="0"/>
          </a:p>
        </p:txBody>
      </p:sp>
      <p:sp>
        <p:nvSpPr>
          <p:cNvPr id="29" name="Text 27"/>
          <p:cNvSpPr/>
          <p:nvPr/>
        </p:nvSpPr>
        <p:spPr>
          <a:xfrm>
            <a:off x="761851" y="3632448"/>
            <a:ext cx="924035" cy="171450"/>
          </a:xfrm>
          <a:prstGeom prst="rect">
            <a:avLst/>
          </a:prstGeom>
          <a:noFill/>
          <a:ln/>
        </p:spPr>
        <p:txBody>
          <a:bodyPr wrap="square" lIns="0" tIns="0" rIns="0" bIns="0" rtlCol="0" anchor="t"/>
          <a:lstStyle/>
          <a:p>
            <a:pPr algn="l" indent="0" marL="0">
              <a:buNone/>
            </a:pPr>
            <a:r>
              <a:rPr lang="en-US" sz="900" dirty="0">
                <a:solidFill>
                  <a:srgbClr val="C62828"/>
                </a:solidFill>
                <a:latin typeface="Arial" pitchFamily="34" charset="0"/>
                <a:ea typeface="Arial" pitchFamily="34" charset="-122"/>
                <a:cs typeface="Arial" pitchFamily="34" charset="-120"/>
              </a:rPr>
              <a:t>#NEWTOWN単体</a:t>
            </a:r>
            <a:endParaRPr lang="en-US" sz="900" dirty="0"/>
          </a:p>
        </p:txBody>
      </p:sp>
      <p:sp>
        <p:nvSpPr>
          <p:cNvPr id="30" name="Text 28"/>
          <p:cNvSpPr/>
          <p:nvPr/>
        </p:nvSpPr>
        <p:spPr>
          <a:xfrm>
            <a:off x="5486400" y="771376"/>
            <a:ext cx="3149650" cy="2567583"/>
          </a:xfrm>
          <a:prstGeom prst="roundRect">
            <a:avLst>
              <a:gd name="adj" fmla="val 3957"/>
            </a:avLst>
          </a:prstGeom>
          <a:solidFill>
            <a:srgbClr val="FFFFFF"/>
          </a:solidFill>
          <a:ln/>
          <a:effectLst>
            <a:outerShdw sx="100000" sy="100000" kx="0" ky="0" algn="bl" rotWithShape="0" blurRad="38100" dist="9525" dir="5400000">
              <a:srgbClr val="000000">
                <a:alpha val="7000"/>
              </a:srgbClr>
            </a:outerShdw>
          </a:effectLst>
        </p:spPr>
        <p:txBody>
          <a:bodyPr wrap="square" rtlCol="0" anchor="ctr"/>
          <a:lstStyle/>
          <a:p>
            <a:pPr indent="0" marL="0">
              <a:buNone/>
            </a:pPr>
            <a:endParaRPr lang="en-US" dirty="0"/>
          </a:p>
        </p:txBody>
      </p:sp>
      <p:sp>
        <p:nvSpPr>
          <p:cNvPr id="31" name="Text 29"/>
          <p:cNvSpPr/>
          <p:nvPr/>
        </p:nvSpPr>
        <p:spPr>
          <a:xfrm>
            <a:off x="5638800" y="923776"/>
            <a:ext cx="2901747" cy="209550"/>
          </a:xfrm>
          <a:prstGeom prst="rect">
            <a:avLst/>
          </a:prstGeom>
          <a:noFill/>
          <a:ln/>
        </p:spPr>
        <p:txBody>
          <a:bodyPr wrap="square" lIns="0" tIns="0" rIns="0" bIns="0" rtlCol="0" anchor="t"/>
          <a:lstStyle/>
          <a:p>
            <a:pPr algn="l" indent="0" marL="0">
              <a:spcAft>
                <a:spcPts val="800"/>
              </a:spcAft>
              <a:buNone/>
            </a:pPr>
            <a:r>
              <a:rPr lang="en-US" sz="1100" b="1" dirty="0">
                <a:solidFill>
                  <a:srgbClr val="1E2A3A"/>
                </a:solidFill>
                <a:latin typeface="Arial" pitchFamily="34" charset="0"/>
                <a:ea typeface="Arial" pitchFamily="34" charset="-122"/>
                <a:cs typeface="Arial" pitchFamily="34" charset="-120"/>
              </a:rPr>
              <a:t>4投稿シーケンス</a:t>
            </a:r>
            <a:endParaRPr lang="en-US" sz="1100" dirty="0"/>
          </a:p>
        </p:txBody>
      </p:sp>
      <p:sp>
        <p:nvSpPr>
          <p:cNvPr id="32" name="Text 30"/>
          <p:cNvSpPr/>
          <p:nvPr/>
        </p:nvSpPr>
        <p:spPr>
          <a:xfrm>
            <a:off x="5638800" y="1258639"/>
            <a:ext cx="207213" cy="133350"/>
          </a:xfrm>
          <a:prstGeom prst="rect">
            <a:avLst/>
          </a:prstGeom>
          <a:noFill/>
          <a:ln/>
        </p:spPr>
        <p:txBody>
          <a:bodyPr wrap="square" lIns="0" tIns="0" rIns="0" bIns="0" rtlCol="0" anchor="t"/>
          <a:lstStyle/>
          <a:p>
            <a:pPr algn="l" indent="0" marL="0">
              <a:buNone/>
            </a:pPr>
            <a:r>
              <a:rPr lang="en-US" sz="900" b="1" dirty="0">
                <a:solidFill>
                  <a:srgbClr val="00B4D8"/>
                </a:solidFill>
                <a:latin typeface="Arial" pitchFamily="34" charset="0"/>
                <a:ea typeface="Arial" pitchFamily="34" charset="-122"/>
                <a:cs typeface="Arial" pitchFamily="34" charset="-120"/>
              </a:rPr>
              <a:t>1</a:t>
            </a:r>
            <a:endParaRPr lang="en-US" sz="900" dirty="0"/>
          </a:p>
        </p:txBody>
      </p:sp>
      <p:sp>
        <p:nvSpPr>
          <p:cNvPr id="33" name="Text 31"/>
          <p:cNvSpPr/>
          <p:nvPr/>
        </p:nvSpPr>
        <p:spPr>
          <a:xfrm>
            <a:off x="5943451" y="1234827"/>
            <a:ext cx="1858848" cy="180975"/>
          </a:xfrm>
          <a:prstGeom prst="rect">
            <a:avLst/>
          </a:prstGeom>
          <a:noFill/>
          <a:ln/>
        </p:spPr>
        <p:txBody>
          <a:bodyPr wrap="square" lIns="0" tIns="0" rIns="0" bIns="0" rtlCol="0" anchor="t"/>
          <a:lstStyle/>
          <a:p>
            <a:pPr algn="l" indent="0" marL="0">
              <a:buNone/>
            </a:pPr>
            <a:r>
              <a:rPr lang="en-US" sz="950" dirty="0">
                <a:solidFill>
                  <a:srgbClr val="3A4A5A"/>
                </a:solidFill>
                <a:latin typeface="Arial" pitchFamily="34" charset="0"/>
                <a:ea typeface="Arial" pitchFamily="34" charset="-122"/>
                <a:cs typeface="Arial" pitchFamily="34" charset="-120"/>
              </a:rPr>
              <a:t>開始前告知（URLなし・60分前）</a:t>
            </a:r>
            <a:endParaRPr lang="en-US" sz="950" dirty="0"/>
          </a:p>
        </p:txBody>
      </p:sp>
      <p:sp>
        <p:nvSpPr>
          <p:cNvPr id="34" name="Text 32"/>
          <p:cNvSpPr/>
          <p:nvPr/>
        </p:nvSpPr>
        <p:spPr>
          <a:xfrm>
            <a:off x="5638800" y="1528465"/>
            <a:ext cx="207213" cy="133350"/>
          </a:xfrm>
          <a:prstGeom prst="rect">
            <a:avLst/>
          </a:prstGeom>
          <a:noFill/>
          <a:ln/>
        </p:spPr>
        <p:txBody>
          <a:bodyPr wrap="square" lIns="0" tIns="0" rIns="0" bIns="0" rtlCol="0" anchor="t"/>
          <a:lstStyle/>
          <a:p>
            <a:pPr algn="l" indent="0" marL="0">
              <a:buNone/>
            </a:pPr>
            <a:r>
              <a:rPr lang="en-US" sz="900" b="1" dirty="0">
                <a:solidFill>
                  <a:srgbClr val="00B4D8"/>
                </a:solidFill>
                <a:latin typeface="Arial" pitchFamily="34" charset="0"/>
                <a:ea typeface="Arial" pitchFamily="34" charset="-122"/>
                <a:cs typeface="Arial" pitchFamily="34" charset="-120"/>
              </a:rPr>
              <a:t>2</a:t>
            </a:r>
            <a:endParaRPr lang="en-US" sz="900" dirty="0"/>
          </a:p>
        </p:txBody>
      </p:sp>
      <p:sp>
        <p:nvSpPr>
          <p:cNvPr id="35" name="Text 33"/>
          <p:cNvSpPr/>
          <p:nvPr/>
        </p:nvSpPr>
        <p:spPr>
          <a:xfrm>
            <a:off x="5943451" y="1504652"/>
            <a:ext cx="1858848" cy="180975"/>
          </a:xfrm>
          <a:prstGeom prst="rect">
            <a:avLst/>
          </a:prstGeom>
          <a:noFill/>
          <a:ln/>
        </p:spPr>
        <p:txBody>
          <a:bodyPr wrap="square" lIns="0" tIns="0" rIns="0" bIns="0" rtlCol="0" anchor="t"/>
          <a:lstStyle/>
          <a:p>
            <a:pPr algn="l" indent="0" marL="0">
              <a:buNone/>
            </a:pPr>
            <a:r>
              <a:rPr lang="en-US" sz="950" dirty="0">
                <a:solidFill>
                  <a:srgbClr val="3A4A5A"/>
                </a:solidFill>
                <a:latin typeface="Arial" pitchFamily="34" charset="0"/>
                <a:ea typeface="Arial" pitchFamily="34" charset="-122"/>
                <a:cs typeface="Arial" pitchFamily="34" charset="-120"/>
              </a:rPr>
              <a:t>開始直後（3〜5分以内・最重要）</a:t>
            </a:r>
            <a:endParaRPr lang="en-US" sz="950" dirty="0"/>
          </a:p>
        </p:txBody>
      </p:sp>
      <p:sp>
        <p:nvSpPr>
          <p:cNvPr id="36" name="Text 34"/>
          <p:cNvSpPr/>
          <p:nvPr/>
        </p:nvSpPr>
        <p:spPr>
          <a:xfrm>
            <a:off x="5638800" y="1798290"/>
            <a:ext cx="207213" cy="133350"/>
          </a:xfrm>
          <a:prstGeom prst="rect">
            <a:avLst/>
          </a:prstGeom>
          <a:noFill/>
          <a:ln/>
        </p:spPr>
        <p:txBody>
          <a:bodyPr wrap="square" lIns="0" tIns="0" rIns="0" bIns="0" rtlCol="0" anchor="t"/>
          <a:lstStyle/>
          <a:p>
            <a:pPr algn="l" indent="0" marL="0">
              <a:buNone/>
            </a:pPr>
            <a:r>
              <a:rPr lang="en-US" sz="900" b="1" dirty="0">
                <a:solidFill>
                  <a:srgbClr val="00B4D8"/>
                </a:solidFill>
                <a:latin typeface="Arial" pitchFamily="34" charset="0"/>
                <a:ea typeface="Arial" pitchFamily="34" charset="-122"/>
                <a:cs typeface="Arial" pitchFamily="34" charset="-120"/>
              </a:rPr>
              <a:t>3</a:t>
            </a:r>
            <a:endParaRPr lang="en-US" sz="900" dirty="0"/>
          </a:p>
        </p:txBody>
      </p:sp>
      <p:sp>
        <p:nvSpPr>
          <p:cNvPr id="37" name="Text 35"/>
          <p:cNvSpPr/>
          <p:nvPr/>
        </p:nvSpPr>
        <p:spPr>
          <a:xfrm>
            <a:off x="5943451" y="1774478"/>
            <a:ext cx="1257702" cy="180975"/>
          </a:xfrm>
          <a:prstGeom prst="rect">
            <a:avLst/>
          </a:prstGeom>
          <a:noFill/>
          <a:ln/>
        </p:spPr>
        <p:txBody>
          <a:bodyPr wrap="square" lIns="0" tIns="0" rIns="0" bIns="0" rtlCol="0" anchor="t"/>
          <a:lstStyle/>
          <a:p>
            <a:pPr algn="l" indent="0" marL="0">
              <a:buNone/>
            </a:pPr>
            <a:r>
              <a:rPr lang="en-US" sz="950" dirty="0">
                <a:solidFill>
                  <a:srgbClr val="3A4A5A"/>
                </a:solidFill>
                <a:latin typeface="Arial" pitchFamily="34" charset="0"/>
                <a:ea typeface="Arial" pitchFamily="34" charset="-122"/>
                <a:cs typeface="Arial" pitchFamily="34" charset="-120"/>
              </a:rPr>
              <a:t>実行中（30〜45分後）</a:t>
            </a:r>
            <a:endParaRPr lang="en-US" sz="950" dirty="0"/>
          </a:p>
        </p:txBody>
      </p:sp>
      <p:sp>
        <p:nvSpPr>
          <p:cNvPr id="38" name="Text 36"/>
          <p:cNvSpPr/>
          <p:nvPr/>
        </p:nvSpPr>
        <p:spPr>
          <a:xfrm>
            <a:off x="5638800" y="2068116"/>
            <a:ext cx="207213" cy="133350"/>
          </a:xfrm>
          <a:prstGeom prst="rect">
            <a:avLst/>
          </a:prstGeom>
          <a:noFill/>
          <a:ln/>
        </p:spPr>
        <p:txBody>
          <a:bodyPr wrap="square" lIns="0" tIns="0" rIns="0" bIns="0" rtlCol="0" anchor="t"/>
          <a:lstStyle/>
          <a:p>
            <a:pPr algn="l" indent="0" marL="0">
              <a:buNone/>
            </a:pPr>
            <a:r>
              <a:rPr lang="en-US" sz="900" b="1" dirty="0">
                <a:solidFill>
                  <a:srgbClr val="00B4D8"/>
                </a:solidFill>
                <a:latin typeface="Arial" pitchFamily="34" charset="0"/>
                <a:ea typeface="Arial" pitchFamily="34" charset="-122"/>
                <a:cs typeface="Arial" pitchFamily="34" charset="-120"/>
              </a:rPr>
              <a:t>4</a:t>
            </a:r>
            <a:endParaRPr lang="en-US" sz="900" dirty="0"/>
          </a:p>
        </p:txBody>
      </p:sp>
      <p:sp>
        <p:nvSpPr>
          <p:cNvPr id="39" name="Text 37"/>
          <p:cNvSpPr/>
          <p:nvPr/>
        </p:nvSpPr>
        <p:spPr>
          <a:xfrm>
            <a:off x="5943451" y="2044303"/>
            <a:ext cx="1722072" cy="180975"/>
          </a:xfrm>
          <a:prstGeom prst="rect">
            <a:avLst/>
          </a:prstGeom>
          <a:noFill/>
          <a:ln/>
        </p:spPr>
        <p:txBody>
          <a:bodyPr wrap="square" lIns="0" tIns="0" rIns="0" bIns="0" rtlCol="0" anchor="t"/>
          <a:lstStyle/>
          <a:p>
            <a:pPr algn="l" indent="0" marL="0">
              <a:buNone/>
            </a:pPr>
            <a:r>
              <a:rPr lang="en-US" sz="950" dirty="0">
                <a:solidFill>
                  <a:srgbClr val="3A4A5A"/>
                </a:solidFill>
                <a:latin typeface="Arial" pitchFamily="34" charset="0"/>
                <a:ea typeface="Arial" pitchFamily="34" charset="-122"/>
                <a:cs typeface="Arial" pitchFamily="34" charset="-120"/>
              </a:rPr>
              <a:t>結果・余韻（終了直後〜翌日）</a:t>
            </a:r>
            <a:endParaRPr lang="en-US" sz="950" dirty="0"/>
          </a:p>
        </p:txBody>
      </p:sp>
      <p:sp>
        <p:nvSpPr>
          <p:cNvPr id="40" name="Text 38"/>
          <p:cNvSpPr/>
          <p:nvPr/>
        </p:nvSpPr>
        <p:spPr>
          <a:xfrm>
            <a:off x="5486400" y="3465909"/>
            <a:ext cx="3149650" cy="1499890"/>
          </a:xfrm>
          <a:prstGeom prst="roundRect">
            <a:avLst>
              <a:gd name="adj" fmla="val 6774"/>
            </a:avLst>
          </a:prstGeom>
          <a:solidFill>
            <a:srgbClr val="FFEBEE"/>
          </a:solidFill>
          <a:ln/>
        </p:spPr>
        <p:txBody>
          <a:bodyPr wrap="square" rtlCol="0" anchor="ctr"/>
          <a:lstStyle/>
          <a:p>
            <a:pPr indent="0" marL="0">
              <a:buNone/>
            </a:pPr>
            <a:endParaRPr lang="en-US" dirty="0"/>
          </a:p>
        </p:txBody>
      </p:sp>
      <p:sp>
        <p:nvSpPr>
          <p:cNvPr id="41" name="Shape 39"/>
          <p:cNvSpPr/>
          <p:nvPr/>
        </p:nvSpPr>
        <p:spPr>
          <a:xfrm>
            <a:off x="5510213" y="3465909"/>
            <a:ext cx="0" cy="1499890"/>
          </a:xfrm>
          <a:prstGeom prst="line">
            <a:avLst/>
          </a:prstGeom>
          <a:noFill/>
          <a:ln w="47625">
            <a:solidFill>
              <a:srgbClr val="E53935"/>
            </a:solidFill>
            <a:prstDash val="solid"/>
          </a:ln>
        </p:spPr>
      </p:sp>
      <p:sp>
        <p:nvSpPr>
          <p:cNvPr id="42" name="Text 40"/>
          <p:cNvSpPr/>
          <p:nvPr/>
        </p:nvSpPr>
        <p:spPr>
          <a:xfrm>
            <a:off x="5686425" y="3618309"/>
            <a:ext cx="2853169" cy="200025"/>
          </a:xfrm>
          <a:prstGeom prst="rect">
            <a:avLst/>
          </a:prstGeom>
          <a:noFill/>
          <a:ln/>
        </p:spPr>
        <p:txBody>
          <a:bodyPr wrap="square" lIns="0" tIns="0" rIns="0" bIns="0" rtlCol="0" anchor="t"/>
          <a:lstStyle/>
          <a:p>
            <a:pPr algn="l" indent="0" marL="0">
              <a:spcAft>
                <a:spcPts val="800"/>
              </a:spcAft>
              <a:buNone/>
            </a:pPr>
            <a:r>
              <a:rPr lang="en-US" sz="1000" b="1" dirty="0">
                <a:solidFill>
                  <a:srgbClr val="C62828"/>
                </a:solidFill>
                <a:latin typeface="Arial" pitchFamily="34" charset="0"/>
                <a:ea typeface="Arial" pitchFamily="34" charset="-122"/>
                <a:cs typeface="Arial" pitchFamily="34" charset="-120"/>
              </a:rPr>
              <a:t>やめること</a:t>
            </a:r>
            <a:endParaRPr lang="en-US" sz="1000" dirty="0"/>
          </a:p>
        </p:txBody>
      </p:sp>
      <p:sp>
        <p:nvSpPr>
          <p:cNvPr id="43" name="Text 41"/>
          <p:cNvSpPr/>
          <p:nvPr/>
        </p:nvSpPr>
        <p:spPr>
          <a:xfrm>
            <a:off x="5686425" y="3919835"/>
            <a:ext cx="75751" cy="159990"/>
          </a:xfrm>
          <a:prstGeom prst="rect">
            <a:avLst/>
          </a:prstGeom>
          <a:noFill/>
          <a:ln/>
        </p:spPr>
        <p:txBody>
          <a:bodyPr wrap="square" lIns="0" tIns="0" rIns="0" bIns="0" rtlCol="0" anchor="t"/>
          <a:lstStyle/>
          <a:p>
            <a:pPr algn="l" indent="0" marL="0">
              <a:buNone/>
            </a:pPr>
            <a:r>
              <a:rPr lang="en-US" sz="1000" b="1" dirty="0">
                <a:solidFill>
                  <a:srgbClr val="E53935"/>
                </a:solidFill>
                <a:latin typeface="Arial" pitchFamily="34" charset="0"/>
                <a:ea typeface="Arial" pitchFamily="34" charset="-122"/>
                <a:cs typeface="Arial" pitchFamily="34" charset="-120"/>
              </a:rPr>
              <a:t>×</a:t>
            </a:r>
            <a:endParaRPr lang="en-US" sz="1000" dirty="0"/>
          </a:p>
        </p:txBody>
      </p:sp>
      <p:sp>
        <p:nvSpPr>
          <p:cNvPr id="44" name="Text 42"/>
          <p:cNvSpPr/>
          <p:nvPr/>
        </p:nvSpPr>
        <p:spPr>
          <a:xfrm>
            <a:off x="5836890" y="3919835"/>
            <a:ext cx="1230681" cy="159990"/>
          </a:xfrm>
          <a:prstGeom prst="rect">
            <a:avLst/>
          </a:prstGeom>
          <a:noFill/>
          <a:ln/>
        </p:spPr>
        <p:txBody>
          <a:bodyPr wrap="square" lIns="0" tIns="0" rIns="0" bIns="0" rtlCol="0" anchor="t"/>
          <a:lstStyle/>
          <a:p>
            <a:pPr algn="l" indent="0" marL="0">
              <a:lnSpc>
                <a:spcPts val="1260"/>
              </a:lnSpc>
              <a:buNone/>
            </a:pPr>
            <a:r>
              <a:rPr lang="en-US" sz="900" dirty="0">
                <a:solidFill>
                  <a:srgbClr val="5A2020"/>
                </a:solidFill>
                <a:latin typeface="Arial" pitchFamily="34" charset="0"/>
                <a:ea typeface="Arial" pitchFamily="34" charset="-122"/>
                <a:cs typeface="Arial" pitchFamily="34" charset="-120"/>
              </a:rPr>
              <a:t>[修正報告]形式のフック</a:t>
            </a:r>
            <a:endParaRPr lang="en-US" sz="900" dirty="0"/>
          </a:p>
        </p:txBody>
      </p:sp>
      <p:sp>
        <p:nvSpPr>
          <p:cNvPr id="45" name="Text 43"/>
          <p:cNvSpPr/>
          <p:nvPr/>
        </p:nvSpPr>
        <p:spPr>
          <a:xfrm>
            <a:off x="5686425" y="4143226"/>
            <a:ext cx="75751" cy="159990"/>
          </a:xfrm>
          <a:prstGeom prst="rect">
            <a:avLst/>
          </a:prstGeom>
          <a:noFill/>
          <a:ln/>
        </p:spPr>
        <p:txBody>
          <a:bodyPr wrap="square" lIns="0" tIns="0" rIns="0" bIns="0" rtlCol="0" anchor="t"/>
          <a:lstStyle/>
          <a:p>
            <a:pPr algn="l" indent="0" marL="0">
              <a:buNone/>
            </a:pPr>
            <a:r>
              <a:rPr lang="en-US" sz="1000" b="1" dirty="0">
                <a:solidFill>
                  <a:srgbClr val="E53935"/>
                </a:solidFill>
                <a:latin typeface="Arial" pitchFamily="34" charset="0"/>
                <a:ea typeface="Arial" pitchFamily="34" charset="-122"/>
                <a:cs typeface="Arial" pitchFamily="34" charset="-120"/>
              </a:rPr>
              <a:t>×</a:t>
            </a:r>
            <a:endParaRPr lang="en-US" sz="1000" dirty="0"/>
          </a:p>
        </p:txBody>
      </p:sp>
      <p:sp>
        <p:nvSpPr>
          <p:cNvPr id="46" name="Text 44"/>
          <p:cNvSpPr/>
          <p:nvPr/>
        </p:nvSpPr>
        <p:spPr>
          <a:xfrm>
            <a:off x="5836890" y="4143226"/>
            <a:ext cx="2263408" cy="159990"/>
          </a:xfrm>
          <a:prstGeom prst="rect">
            <a:avLst/>
          </a:prstGeom>
          <a:noFill/>
          <a:ln/>
        </p:spPr>
        <p:txBody>
          <a:bodyPr wrap="square" lIns="0" tIns="0" rIns="0" bIns="0" rtlCol="0" anchor="t"/>
          <a:lstStyle/>
          <a:p>
            <a:pPr algn="l" indent="0" marL="0">
              <a:lnSpc>
                <a:spcPts val="1260"/>
              </a:lnSpc>
              <a:buNone/>
            </a:pPr>
            <a:r>
              <a:rPr lang="en-US" sz="900" dirty="0">
                <a:solidFill>
                  <a:srgbClr val="5A2020"/>
                </a:solidFill>
                <a:latin typeface="Arial" pitchFamily="34" charset="0"/>
                <a:ea typeface="Arial" pitchFamily="34" charset="-122"/>
                <a:cs typeface="Arial" pitchFamily="34" charset="-120"/>
              </a:rPr>
              <a:t>#StreamerHubタグをイベント投稿に入れる</a:t>
            </a:r>
            <a:endParaRPr lang="en-US" sz="900" dirty="0"/>
          </a:p>
        </p:txBody>
      </p:sp>
      <p:sp>
        <p:nvSpPr>
          <p:cNvPr id="47" name="Text 45"/>
          <p:cNvSpPr/>
          <p:nvPr/>
        </p:nvSpPr>
        <p:spPr>
          <a:xfrm>
            <a:off x="5686425" y="4366617"/>
            <a:ext cx="75751" cy="159990"/>
          </a:xfrm>
          <a:prstGeom prst="rect">
            <a:avLst/>
          </a:prstGeom>
          <a:noFill/>
          <a:ln/>
        </p:spPr>
        <p:txBody>
          <a:bodyPr wrap="square" lIns="0" tIns="0" rIns="0" bIns="0" rtlCol="0" anchor="t"/>
          <a:lstStyle/>
          <a:p>
            <a:pPr algn="l" indent="0" marL="0">
              <a:buNone/>
            </a:pPr>
            <a:r>
              <a:rPr lang="en-US" sz="1000" b="1" dirty="0">
                <a:solidFill>
                  <a:srgbClr val="E53935"/>
                </a:solidFill>
                <a:latin typeface="Arial" pitchFamily="34" charset="0"/>
                <a:ea typeface="Arial" pitchFamily="34" charset="-122"/>
                <a:cs typeface="Arial" pitchFamily="34" charset="-120"/>
              </a:rPr>
              <a:t>×</a:t>
            </a:r>
            <a:endParaRPr lang="en-US" sz="1000" dirty="0"/>
          </a:p>
        </p:txBody>
      </p:sp>
      <p:sp>
        <p:nvSpPr>
          <p:cNvPr id="48" name="Text 46"/>
          <p:cNvSpPr/>
          <p:nvPr/>
        </p:nvSpPr>
        <p:spPr>
          <a:xfrm>
            <a:off x="5836890" y="4366617"/>
            <a:ext cx="1923669" cy="159990"/>
          </a:xfrm>
          <a:prstGeom prst="rect">
            <a:avLst/>
          </a:prstGeom>
          <a:noFill/>
          <a:ln/>
        </p:spPr>
        <p:txBody>
          <a:bodyPr wrap="square" lIns="0" tIns="0" rIns="0" bIns="0" rtlCol="0" anchor="t"/>
          <a:lstStyle/>
          <a:p>
            <a:pPr algn="l" indent="0" marL="0">
              <a:lnSpc>
                <a:spcPts val="1260"/>
              </a:lnSpc>
              <a:buNone/>
            </a:pPr>
            <a:r>
              <a:rPr lang="en-US" sz="900" dirty="0">
                <a:solidFill>
                  <a:srgbClr val="5A2020"/>
                </a:solidFill>
                <a:latin typeface="Arial" pitchFamily="34" charset="0"/>
                <a:ea typeface="Arial" pitchFamily="34" charset="-122"/>
                <a:cs typeface="Arial" pitchFamily="34" charset="-120"/>
              </a:rPr>
              <a:t>感情先行フック（「傑作」一言のみ）</a:t>
            </a:r>
            <a:endParaRPr lang="en-US" sz="900" dirty="0"/>
          </a:p>
        </p:txBody>
      </p:sp>
      <p:sp>
        <p:nvSpPr>
          <p:cNvPr id="49" name="Text 47"/>
          <p:cNvSpPr/>
          <p:nvPr/>
        </p:nvSpPr>
        <p:spPr>
          <a:xfrm>
            <a:off x="5686425" y="4590008"/>
            <a:ext cx="75751" cy="159990"/>
          </a:xfrm>
          <a:prstGeom prst="rect">
            <a:avLst/>
          </a:prstGeom>
          <a:noFill/>
          <a:ln/>
        </p:spPr>
        <p:txBody>
          <a:bodyPr wrap="square" lIns="0" tIns="0" rIns="0" bIns="0" rtlCol="0" anchor="t"/>
          <a:lstStyle/>
          <a:p>
            <a:pPr algn="l" indent="0" marL="0">
              <a:buNone/>
            </a:pPr>
            <a:r>
              <a:rPr lang="en-US" sz="1000" b="1" dirty="0">
                <a:solidFill>
                  <a:srgbClr val="E53935"/>
                </a:solidFill>
                <a:latin typeface="Arial" pitchFamily="34" charset="0"/>
                <a:ea typeface="Arial" pitchFamily="34" charset="-122"/>
                <a:cs typeface="Arial" pitchFamily="34" charset="-120"/>
              </a:rPr>
              <a:t>×</a:t>
            </a:r>
            <a:endParaRPr lang="en-US" sz="1000" dirty="0"/>
          </a:p>
        </p:txBody>
      </p:sp>
      <p:sp>
        <p:nvSpPr>
          <p:cNvPr id="50" name="Text 48"/>
          <p:cNvSpPr/>
          <p:nvPr/>
        </p:nvSpPr>
        <p:spPr>
          <a:xfrm>
            <a:off x="5836890" y="4590008"/>
            <a:ext cx="1399184" cy="159990"/>
          </a:xfrm>
          <a:prstGeom prst="rect">
            <a:avLst/>
          </a:prstGeom>
          <a:noFill/>
          <a:ln/>
        </p:spPr>
        <p:txBody>
          <a:bodyPr wrap="square" lIns="0" tIns="0" rIns="0" bIns="0" rtlCol="0" anchor="t"/>
          <a:lstStyle/>
          <a:p>
            <a:pPr algn="l" indent="0" marL="0">
              <a:lnSpc>
                <a:spcPts val="1260"/>
              </a:lnSpc>
              <a:buNone/>
            </a:pPr>
            <a:r>
              <a:rPr lang="en-US" sz="900" dirty="0">
                <a:solidFill>
                  <a:srgbClr val="5A2020"/>
                </a:solidFill>
                <a:latin typeface="Arial" pitchFamily="34" charset="0"/>
                <a:ea typeface="Arial" pitchFamily="34" charset="-122"/>
                <a:cs typeface="Arial" pitchFamily="34" charset="-120"/>
              </a:rPr>
              <a:t>開始前告知にURLを入れる</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A3A"/>
        </a:solidFill>
      </p:bgPr>
    </p:bg>
    <p:spTree>
      <p:nvGrpSpPr>
        <p:cNvPr id="1" name=""/>
        <p:cNvGrpSpPr/>
        <p:nvPr/>
      </p:nvGrpSpPr>
      <p:grpSpPr>
        <a:xfrm>
          <a:off x="0" y="0"/>
          <a:ext cx="0" cy="0"/>
          <a:chOff x="0" y="0"/>
          <a:chExt cx="0" cy="0"/>
        </a:xfrm>
      </p:grpSpPr>
      <p:sp>
        <p:nvSpPr>
          <p:cNvPr id="2" name="Text 0"/>
          <p:cNvSpPr/>
          <p:nvPr/>
        </p:nvSpPr>
        <p:spPr>
          <a:xfrm>
            <a:off x="0" y="0"/>
            <a:ext cx="9144000" cy="593675"/>
          </a:xfrm>
          <a:prstGeom prst="rect">
            <a:avLst/>
          </a:prstGeom>
          <a:solidFill>
            <a:srgbClr val="243040"/>
          </a:solidFill>
          <a:ln/>
        </p:spPr>
        <p:txBody>
          <a:bodyPr wrap="square" rtlCol="0" anchor="ctr"/>
          <a:lstStyle/>
          <a:p>
            <a:pPr indent="0" marL="0">
              <a:buNone/>
            </a:pPr>
            <a:endParaRPr lang="en-US" dirty="0"/>
          </a:p>
        </p:txBody>
      </p:sp>
      <p:sp>
        <p:nvSpPr>
          <p:cNvPr id="3" name="Text 1"/>
          <p:cNvSpPr/>
          <p:nvPr/>
        </p:nvSpPr>
        <p:spPr>
          <a:xfrm>
            <a:off x="507950" y="271463"/>
            <a:ext cx="76200" cy="76200"/>
          </a:xfrm>
          <a:prstGeom prst="roundRect">
            <a:avLst>
              <a:gd name="adj" fmla="val 50000"/>
            </a:avLst>
          </a:prstGeom>
          <a:solidFill>
            <a:srgbClr val="00B4D8"/>
          </a:solidFill>
          <a:ln/>
        </p:spPr>
        <p:txBody>
          <a:bodyPr wrap="square" rtlCol="0" anchor="ctr"/>
          <a:lstStyle/>
          <a:p>
            <a:pPr indent="0" marL="0">
              <a:buNone/>
            </a:pPr>
            <a:endParaRPr lang="en-US" dirty="0"/>
          </a:p>
        </p:txBody>
      </p:sp>
      <p:sp>
        <p:nvSpPr>
          <p:cNvPr id="4" name="Text 2"/>
          <p:cNvSpPr/>
          <p:nvPr/>
        </p:nvSpPr>
        <p:spPr>
          <a:xfrm>
            <a:off x="736550" y="152400"/>
            <a:ext cx="1442448" cy="3143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次のアクション</a:t>
            </a:r>
            <a:endParaRPr lang="en-US" sz="1600" dirty="0"/>
          </a:p>
        </p:txBody>
      </p:sp>
      <p:sp>
        <p:nvSpPr>
          <p:cNvPr id="5" name="Text 3"/>
          <p:cNvSpPr/>
          <p:nvPr/>
        </p:nvSpPr>
        <p:spPr>
          <a:xfrm>
            <a:off x="2303115" y="209550"/>
            <a:ext cx="1590154" cy="200025"/>
          </a:xfrm>
          <a:prstGeom prst="rect">
            <a:avLst/>
          </a:prstGeom>
          <a:noFill/>
          <a:ln/>
        </p:spPr>
        <p:txBody>
          <a:bodyPr wrap="square" lIns="0" tIns="0" rIns="0" bIns="0" rtlCol="0" anchor="t"/>
          <a:lstStyle/>
          <a:p>
            <a:pPr algn="l" indent="0" marL="0">
              <a:buNone/>
            </a:pPr>
            <a:r>
              <a:rPr lang="en-US" sz="1000" dirty="0">
                <a:solidFill>
                  <a:srgbClr val="607080"/>
                </a:solidFill>
                <a:latin typeface="Arial" pitchFamily="34" charset="0"/>
                <a:ea typeface="Arial" pitchFamily="34" charset="-122"/>
                <a:cs typeface="Arial" pitchFamily="34" charset="-120"/>
              </a:rPr>
              <a:t>— 今週から動き始めること</a:t>
            </a:r>
            <a:endParaRPr lang="en-US" sz="1000" dirty="0"/>
          </a:p>
        </p:txBody>
      </p:sp>
      <p:sp>
        <p:nvSpPr>
          <p:cNvPr id="6" name="Text 4"/>
          <p:cNvSpPr/>
          <p:nvPr/>
        </p:nvSpPr>
        <p:spPr>
          <a:xfrm>
            <a:off x="507950" y="771376"/>
            <a:ext cx="4787920" cy="209550"/>
          </a:xfrm>
          <a:prstGeom prst="rect">
            <a:avLst/>
          </a:prstGeom>
          <a:noFill/>
          <a:ln/>
        </p:spPr>
        <p:txBody>
          <a:bodyPr wrap="square" lIns="0" tIns="0" rIns="0" bIns="0" rtlCol="0" anchor="t"/>
          <a:lstStyle/>
          <a:p>
            <a:pPr algn="l" indent="0" marL="0">
              <a:spcAft>
                <a:spcPts val="1200"/>
              </a:spcAft>
              <a:buNone/>
            </a:pPr>
            <a:r>
              <a:rPr lang="en-US" sz="1100" b="1" dirty="0">
                <a:solidFill>
                  <a:srgbClr val="A0B4C8"/>
                </a:solidFill>
                <a:latin typeface="Arial" pitchFamily="34" charset="0"/>
                <a:ea typeface="Arial" pitchFamily="34" charset="-122"/>
                <a:cs typeface="Arial" pitchFamily="34" charset="-120"/>
              </a:rPr>
              <a:t>即実行アクション</a:t>
            </a:r>
            <a:endParaRPr lang="en-US" sz="1100" dirty="0"/>
          </a:p>
        </p:txBody>
      </p:sp>
      <p:sp>
        <p:nvSpPr>
          <p:cNvPr id="7" name="Text 5"/>
          <p:cNvSpPr/>
          <p:nvPr/>
        </p:nvSpPr>
        <p:spPr>
          <a:xfrm>
            <a:off x="507950" y="1285726"/>
            <a:ext cx="4694039" cy="787152"/>
          </a:xfrm>
          <a:prstGeom prst="roundRect">
            <a:avLst>
              <a:gd name="adj" fmla="val 12907"/>
            </a:avLst>
          </a:prstGeom>
          <a:solidFill>
            <a:srgbClr val="243040"/>
          </a:solidFill>
          <a:ln/>
        </p:spPr>
        <p:txBody>
          <a:bodyPr wrap="square" rtlCol="0" anchor="ctr"/>
          <a:lstStyle/>
          <a:p>
            <a:pPr indent="0" marL="0">
              <a:buNone/>
            </a:pPr>
            <a:endParaRPr lang="en-US" dirty="0"/>
          </a:p>
        </p:txBody>
      </p:sp>
      <p:sp>
        <p:nvSpPr>
          <p:cNvPr id="8" name="Text 6"/>
          <p:cNvSpPr/>
          <p:nvPr/>
        </p:nvSpPr>
        <p:spPr>
          <a:xfrm>
            <a:off x="685651" y="1463427"/>
            <a:ext cx="304800" cy="304800"/>
          </a:xfrm>
          <a:prstGeom prst="roundRect">
            <a:avLst>
              <a:gd name="adj" fmla="val 300000"/>
            </a:avLst>
          </a:prstGeom>
          <a:solidFill>
            <a:srgbClr val="00B4D8"/>
          </a:solidFill>
          <a:ln/>
        </p:spPr>
        <p:txBody>
          <a:bodyPr wrap="square" rtlCol="0" anchor="ctr"/>
          <a:lstStyle/>
          <a:p>
            <a:pPr indent="0" marL="0">
              <a:buNone/>
            </a:pPr>
            <a:endParaRPr lang="en-US" dirty="0"/>
          </a:p>
        </p:txBody>
      </p:sp>
      <p:sp>
        <p:nvSpPr>
          <p:cNvPr id="9" name="Text 7"/>
          <p:cNvSpPr/>
          <p:nvPr/>
        </p:nvSpPr>
        <p:spPr>
          <a:xfrm>
            <a:off x="799207" y="1539627"/>
            <a:ext cx="79242"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1142851" y="1463427"/>
            <a:ext cx="3959066" cy="209550"/>
          </a:xfrm>
          <a:prstGeom prst="rect">
            <a:avLst/>
          </a:prstGeom>
          <a:noFill/>
          <a:ln/>
        </p:spPr>
        <p:txBody>
          <a:bodyPr wrap="square" lIns="0" tIns="0" rIns="0" bIns="0" rtlCol="0" anchor="t"/>
          <a:lstStyle/>
          <a:p>
            <a:pPr algn="l" indent="0" marL="0">
              <a:spcAft>
                <a:spcPts val="400"/>
              </a:spcAft>
              <a:buNone/>
            </a:pPr>
            <a:r>
              <a:rPr lang="en-US" sz="1100" b="1" dirty="0">
                <a:solidFill>
                  <a:srgbClr val="FFFFFF"/>
                </a:solidFill>
                <a:latin typeface="Arial" pitchFamily="34" charset="0"/>
                <a:ea typeface="Arial" pitchFamily="34" charset="-122"/>
                <a:cs typeface="Arial" pitchFamily="34" charset="-120"/>
              </a:rPr>
              <a:t>今週の投稿を1〜2本作成・投稿する</a:t>
            </a:r>
            <a:endParaRPr lang="en-US" sz="1100" dirty="0"/>
          </a:p>
        </p:txBody>
      </p:sp>
      <p:sp>
        <p:nvSpPr>
          <p:cNvPr id="11" name="Text 9"/>
          <p:cNvSpPr/>
          <p:nvPr/>
        </p:nvSpPr>
        <p:spPr>
          <a:xfrm>
            <a:off x="1142851" y="1723727"/>
            <a:ext cx="3959066"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マルチビューの使い方・画面紹介からスタート。アカウントを再起動する。</a:t>
            </a:r>
            <a:endParaRPr lang="en-US" sz="900" dirty="0"/>
          </a:p>
        </p:txBody>
      </p:sp>
      <p:sp>
        <p:nvSpPr>
          <p:cNvPr id="12" name="Text 10"/>
          <p:cNvSpPr/>
          <p:nvPr/>
        </p:nvSpPr>
        <p:spPr>
          <a:xfrm>
            <a:off x="507950" y="2225278"/>
            <a:ext cx="4694039" cy="996702"/>
          </a:xfrm>
          <a:prstGeom prst="roundRect">
            <a:avLst>
              <a:gd name="adj" fmla="val 10194"/>
            </a:avLst>
          </a:prstGeom>
          <a:solidFill>
            <a:srgbClr val="243040"/>
          </a:solidFill>
          <a:ln/>
        </p:spPr>
        <p:txBody>
          <a:bodyPr wrap="square" rtlCol="0" anchor="ctr"/>
          <a:lstStyle/>
          <a:p>
            <a:pPr indent="0" marL="0">
              <a:buNone/>
            </a:pPr>
            <a:endParaRPr lang="en-US" dirty="0"/>
          </a:p>
        </p:txBody>
      </p:sp>
      <p:sp>
        <p:nvSpPr>
          <p:cNvPr id="13" name="Text 11"/>
          <p:cNvSpPr/>
          <p:nvPr/>
        </p:nvSpPr>
        <p:spPr>
          <a:xfrm>
            <a:off x="685651" y="2402979"/>
            <a:ext cx="304800" cy="304800"/>
          </a:xfrm>
          <a:prstGeom prst="roundRect">
            <a:avLst>
              <a:gd name="adj" fmla="val 300000"/>
            </a:avLst>
          </a:prstGeom>
          <a:solidFill>
            <a:srgbClr val="00B4D8"/>
          </a:solidFill>
          <a:ln/>
        </p:spPr>
        <p:txBody>
          <a:bodyPr wrap="square" rtlCol="0" anchor="ctr"/>
          <a:lstStyle/>
          <a:p>
            <a:pPr indent="0" marL="0">
              <a:buNone/>
            </a:pPr>
            <a:endParaRPr lang="en-US" dirty="0"/>
          </a:p>
        </p:txBody>
      </p:sp>
      <p:sp>
        <p:nvSpPr>
          <p:cNvPr id="14" name="Text 12"/>
          <p:cNvSpPr/>
          <p:nvPr/>
        </p:nvSpPr>
        <p:spPr>
          <a:xfrm>
            <a:off x="799207" y="2479179"/>
            <a:ext cx="79242"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3"/>
          <p:cNvSpPr/>
          <p:nvPr/>
        </p:nvSpPr>
        <p:spPr>
          <a:xfrm>
            <a:off x="1142851" y="2402979"/>
            <a:ext cx="3959066" cy="419100"/>
          </a:xfrm>
          <a:prstGeom prst="rect">
            <a:avLst/>
          </a:prstGeom>
          <a:noFill/>
          <a:ln/>
        </p:spPr>
        <p:txBody>
          <a:bodyPr wrap="square" lIns="0" tIns="0" rIns="0" bIns="0" rtlCol="0" anchor="t"/>
          <a:lstStyle/>
          <a:p>
            <a:pPr algn="l" indent="0" marL="0">
              <a:spcAft>
                <a:spcPts val="400"/>
              </a:spcAft>
              <a:buNone/>
            </a:pPr>
            <a:r>
              <a:rPr lang="en-US" sz="1100" b="1" dirty="0">
                <a:solidFill>
                  <a:srgbClr val="FFFFFF"/>
                </a:solidFill>
                <a:latin typeface="Arial" pitchFamily="34" charset="0"/>
                <a:ea typeface="Arial" pitchFamily="34" charset="-122"/>
                <a:cs typeface="Arial" pitchFamily="34" charset="-120"/>
              </a:rPr>
              <a:t>タグ・トピックの整備状況を確認しながら発信フォーマットを設計する</a:t>
            </a:r>
            <a:endParaRPr lang="en-US" sz="1100" dirty="0"/>
          </a:p>
        </p:txBody>
      </p:sp>
      <p:sp>
        <p:nvSpPr>
          <p:cNvPr id="16" name="Text 14"/>
          <p:cNvSpPr/>
          <p:nvPr/>
        </p:nvSpPr>
        <p:spPr>
          <a:xfrm>
            <a:off x="1142851" y="2872829"/>
            <a:ext cx="3959066"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どのジャンル・配信者が中心になるかを見ながら、投稿テンプレを作る。</a:t>
            </a:r>
            <a:endParaRPr lang="en-US" sz="900" dirty="0"/>
          </a:p>
        </p:txBody>
      </p:sp>
      <p:sp>
        <p:nvSpPr>
          <p:cNvPr id="17" name="Text 15"/>
          <p:cNvSpPr/>
          <p:nvPr/>
        </p:nvSpPr>
        <p:spPr>
          <a:xfrm>
            <a:off x="507950" y="3374380"/>
            <a:ext cx="4694039" cy="787152"/>
          </a:xfrm>
          <a:prstGeom prst="roundRect">
            <a:avLst>
              <a:gd name="adj" fmla="val 12907"/>
            </a:avLst>
          </a:prstGeom>
          <a:solidFill>
            <a:srgbClr val="243040"/>
          </a:solidFill>
          <a:ln/>
        </p:spPr>
        <p:txBody>
          <a:bodyPr wrap="square" rtlCol="0" anchor="ctr"/>
          <a:lstStyle/>
          <a:p>
            <a:pPr indent="0" marL="0">
              <a:buNone/>
            </a:pPr>
            <a:endParaRPr lang="en-US" dirty="0"/>
          </a:p>
        </p:txBody>
      </p:sp>
      <p:sp>
        <p:nvSpPr>
          <p:cNvPr id="18" name="Text 16"/>
          <p:cNvSpPr/>
          <p:nvPr/>
        </p:nvSpPr>
        <p:spPr>
          <a:xfrm>
            <a:off x="685651" y="3552081"/>
            <a:ext cx="304800" cy="304800"/>
          </a:xfrm>
          <a:prstGeom prst="roundRect">
            <a:avLst>
              <a:gd name="adj" fmla="val 300000"/>
            </a:avLst>
          </a:prstGeom>
          <a:solidFill>
            <a:srgbClr val="00B4D8"/>
          </a:solidFill>
          <a:ln/>
        </p:spPr>
        <p:txBody>
          <a:bodyPr wrap="square" rtlCol="0" anchor="ctr"/>
          <a:lstStyle/>
          <a:p>
            <a:pPr indent="0" marL="0">
              <a:buNone/>
            </a:pPr>
            <a:endParaRPr lang="en-US" dirty="0"/>
          </a:p>
        </p:txBody>
      </p:sp>
      <p:sp>
        <p:nvSpPr>
          <p:cNvPr id="19" name="Text 17"/>
          <p:cNvSpPr/>
          <p:nvPr/>
        </p:nvSpPr>
        <p:spPr>
          <a:xfrm>
            <a:off x="799207" y="3628281"/>
            <a:ext cx="79242"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0" name="Text 18"/>
          <p:cNvSpPr/>
          <p:nvPr/>
        </p:nvSpPr>
        <p:spPr>
          <a:xfrm>
            <a:off x="1142851" y="3552081"/>
            <a:ext cx="3959066" cy="209550"/>
          </a:xfrm>
          <a:prstGeom prst="rect">
            <a:avLst/>
          </a:prstGeom>
          <a:noFill/>
          <a:ln/>
        </p:spPr>
        <p:txBody>
          <a:bodyPr wrap="square" lIns="0" tIns="0" rIns="0" bIns="0" rtlCol="0" anchor="t"/>
          <a:lstStyle/>
          <a:p>
            <a:pPr algn="l" indent="0" marL="0">
              <a:spcAft>
                <a:spcPts val="400"/>
              </a:spcAft>
              <a:buNone/>
            </a:pPr>
            <a:r>
              <a:rPr lang="en-US" sz="1100" b="1" dirty="0">
                <a:solidFill>
                  <a:srgbClr val="FFFFFF"/>
                </a:solidFill>
                <a:latin typeface="Arial" pitchFamily="34" charset="0"/>
                <a:ea typeface="Arial" pitchFamily="34" charset="-122"/>
                <a:cs typeface="Arial" pitchFamily="34" charset="-120"/>
              </a:rPr>
              <a:t>次のイベント候補をリサーチする</a:t>
            </a:r>
            <a:endParaRPr lang="en-US" sz="1100" dirty="0"/>
          </a:p>
        </p:txBody>
      </p:sp>
      <p:sp>
        <p:nvSpPr>
          <p:cNvPr id="21" name="Text 19"/>
          <p:cNvSpPr/>
          <p:nvPr/>
        </p:nvSpPr>
        <p:spPr>
          <a:xfrm>
            <a:off x="1142851" y="3812381"/>
            <a:ext cx="3959066" cy="171450"/>
          </a:xfrm>
          <a:prstGeom prst="rect">
            <a:avLst/>
          </a:prstGeom>
          <a:noFill/>
          <a:ln/>
        </p:spPr>
        <p:txBody>
          <a:bodyPr wrap="square" lIns="0" tIns="0" rIns="0" bIns="0" rtlCol="0" anchor="t"/>
          <a:lstStyle/>
          <a:p>
            <a:pPr algn="l" indent="0" marL="0">
              <a:buNone/>
            </a:pPr>
            <a:r>
              <a:rPr lang="en-US" sz="900" dirty="0">
                <a:solidFill>
                  <a:srgbClr val="A0B4C8"/>
                </a:solidFill>
                <a:latin typeface="Arial" pitchFamily="34" charset="0"/>
                <a:ea typeface="Arial" pitchFamily="34" charset="-122"/>
                <a:cs typeface="Arial" pitchFamily="34" charset="-120"/>
              </a:rPr>
              <a:t>VTuber・ストリーマー界隈で近く始まる大型コラボ・企画を探し始める。</a:t>
            </a:r>
            <a:endParaRPr lang="en-US" sz="900" dirty="0"/>
          </a:p>
        </p:txBody>
      </p:sp>
      <p:sp>
        <p:nvSpPr>
          <p:cNvPr id="22" name="Text 20"/>
          <p:cNvSpPr/>
          <p:nvPr/>
        </p:nvSpPr>
        <p:spPr>
          <a:xfrm>
            <a:off x="5506789" y="771376"/>
            <a:ext cx="3191845" cy="200025"/>
          </a:xfrm>
          <a:prstGeom prst="rect">
            <a:avLst/>
          </a:prstGeom>
          <a:noFill/>
          <a:ln/>
        </p:spPr>
        <p:txBody>
          <a:bodyPr wrap="square" lIns="0" tIns="0" rIns="0" bIns="0" rtlCol="0" anchor="t"/>
          <a:lstStyle/>
          <a:p>
            <a:pPr algn="l" indent="0" marL="0">
              <a:spcAft>
                <a:spcPts val="1000"/>
              </a:spcAft>
              <a:buNone/>
            </a:pPr>
            <a:r>
              <a:rPr lang="en-US" sz="1000" b="1" dirty="0">
                <a:solidFill>
                  <a:srgbClr val="607080"/>
                </a:solidFill>
                <a:latin typeface="Arial" pitchFamily="34" charset="0"/>
                <a:ea typeface="Arial" pitchFamily="34" charset="-122"/>
                <a:cs typeface="Arial" pitchFamily="34" charset="-120"/>
              </a:rPr>
              <a:t>情報収集が必要な項目</a:t>
            </a:r>
            <a:endParaRPr lang="en-US" sz="1000" dirty="0"/>
          </a:p>
        </p:txBody>
      </p:sp>
      <p:sp>
        <p:nvSpPr>
          <p:cNvPr id="23" name="Text 21"/>
          <p:cNvSpPr/>
          <p:nvPr/>
        </p:nvSpPr>
        <p:spPr>
          <a:xfrm>
            <a:off x="5506789" y="1136452"/>
            <a:ext cx="76200" cy="76200"/>
          </a:xfrm>
          <a:prstGeom prst="roundRect">
            <a:avLst>
              <a:gd name="adj" fmla="val 1200000"/>
            </a:avLst>
          </a:prstGeom>
          <a:solidFill>
            <a:srgbClr val="FFC107"/>
          </a:solidFill>
          <a:ln/>
        </p:spPr>
        <p:txBody>
          <a:bodyPr wrap="square" rtlCol="0" anchor="ctr"/>
          <a:lstStyle/>
          <a:p>
            <a:pPr indent="0" marL="0">
              <a:buNone/>
            </a:pPr>
            <a:endParaRPr lang="en-US" dirty="0"/>
          </a:p>
        </p:txBody>
      </p:sp>
      <p:sp>
        <p:nvSpPr>
          <p:cNvPr id="24" name="Text 22"/>
          <p:cNvSpPr/>
          <p:nvPr/>
        </p:nvSpPr>
        <p:spPr>
          <a:xfrm>
            <a:off x="5684490" y="1098352"/>
            <a:ext cx="3010591" cy="361950"/>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タグ・トピックにどんなコンテンツが整備されるか（ジャンル・配信者）</a:t>
            </a:r>
            <a:endParaRPr lang="en-US" sz="950" dirty="0"/>
          </a:p>
        </p:txBody>
      </p:sp>
      <p:sp>
        <p:nvSpPr>
          <p:cNvPr id="25" name="Text 23"/>
          <p:cNvSpPr/>
          <p:nvPr/>
        </p:nvSpPr>
        <p:spPr>
          <a:xfrm>
            <a:off x="5506789" y="1599902"/>
            <a:ext cx="76200" cy="76200"/>
          </a:xfrm>
          <a:prstGeom prst="roundRect">
            <a:avLst>
              <a:gd name="adj" fmla="val 1200000"/>
            </a:avLst>
          </a:prstGeom>
          <a:solidFill>
            <a:srgbClr val="FFC107"/>
          </a:solidFill>
          <a:ln/>
        </p:spPr>
        <p:txBody>
          <a:bodyPr wrap="square" rtlCol="0" anchor="ctr"/>
          <a:lstStyle/>
          <a:p>
            <a:pPr indent="0" marL="0">
              <a:buNone/>
            </a:pPr>
            <a:endParaRPr lang="en-US" dirty="0"/>
          </a:p>
        </p:txBody>
      </p:sp>
      <p:sp>
        <p:nvSpPr>
          <p:cNvPr id="26" name="Text 24"/>
          <p:cNvSpPr/>
          <p:nvPr/>
        </p:nvSpPr>
        <p:spPr>
          <a:xfrm>
            <a:off x="5684490" y="1561802"/>
            <a:ext cx="2559731" cy="180975"/>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次に注力できるイベントやコミュニティの候補</a:t>
            </a:r>
            <a:endParaRPr lang="en-US" sz="950" dirty="0"/>
          </a:p>
        </p:txBody>
      </p:sp>
      <p:sp>
        <p:nvSpPr>
          <p:cNvPr id="27" name="Text 25"/>
          <p:cNvSpPr/>
          <p:nvPr/>
        </p:nvSpPr>
        <p:spPr>
          <a:xfrm>
            <a:off x="5506789" y="1882378"/>
            <a:ext cx="76200" cy="76200"/>
          </a:xfrm>
          <a:prstGeom prst="roundRect">
            <a:avLst>
              <a:gd name="adj" fmla="val 1200000"/>
            </a:avLst>
          </a:prstGeom>
          <a:solidFill>
            <a:srgbClr val="FFC107"/>
          </a:solidFill>
          <a:ln/>
        </p:spPr>
        <p:txBody>
          <a:bodyPr wrap="square" rtlCol="0" anchor="ctr"/>
          <a:lstStyle/>
          <a:p>
            <a:pPr indent="0" marL="0">
              <a:buNone/>
            </a:pPr>
            <a:endParaRPr lang="en-US" dirty="0"/>
          </a:p>
        </p:txBody>
      </p:sp>
      <p:sp>
        <p:nvSpPr>
          <p:cNvPr id="28" name="Text 26"/>
          <p:cNvSpPr/>
          <p:nvPr/>
        </p:nvSpPr>
        <p:spPr>
          <a:xfrm>
            <a:off x="5684490" y="1844278"/>
            <a:ext cx="2963076" cy="180975"/>
          </a:xfrm>
          <a:prstGeom prst="rect">
            <a:avLst/>
          </a:prstGeom>
          <a:noFill/>
          <a:ln/>
        </p:spPr>
        <p:txBody>
          <a:bodyPr wrap="square" lIns="0" tIns="0" rIns="0" bIns="0" rtlCol="0" anchor="t"/>
          <a:lstStyle/>
          <a:p>
            <a:pPr algn="l" indent="0" marL="0">
              <a:lnSpc>
                <a:spcPts val="1425"/>
              </a:lnSpc>
              <a:buNone/>
            </a:pPr>
            <a:r>
              <a:rPr lang="en-US" sz="950" dirty="0">
                <a:solidFill>
                  <a:srgbClr val="A0B4C8"/>
                </a:solidFill>
                <a:latin typeface="Arial" pitchFamily="34" charset="0"/>
                <a:ea typeface="Arial" pitchFamily="34" charset="-122"/>
                <a:cs typeface="Arial" pitchFamily="34" charset="-120"/>
              </a:rPr>
              <a:t>NEWTOWN以外のサイトトラフィックのベースライン</a:t>
            </a:r>
            <a:endParaRPr lang="en-US" sz="950" dirty="0"/>
          </a:p>
        </p:txBody>
      </p:sp>
      <p:sp>
        <p:nvSpPr>
          <p:cNvPr id="29" name="Text 27"/>
          <p:cNvSpPr/>
          <p:nvPr/>
        </p:nvSpPr>
        <p:spPr>
          <a:xfrm>
            <a:off x="5506789" y="2279154"/>
            <a:ext cx="3129260" cy="975122"/>
          </a:xfrm>
          <a:prstGeom prst="roundRect">
            <a:avLst>
              <a:gd name="adj" fmla="val 13024"/>
            </a:avLst>
          </a:prstGeom>
          <a:solidFill>
            <a:srgbClr val="00B4D8"/>
          </a:solidFill>
          <a:ln/>
        </p:spPr>
        <p:txBody>
          <a:bodyPr wrap="square" rtlCol="0" anchor="ctr"/>
          <a:lstStyle/>
          <a:p>
            <a:pPr indent="0" marL="0">
              <a:buNone/>
            </a:pPr>
            <a:endParaRPr lang="en-US" dirty="0"/>
          </a:p>
        </p:txBody>
      </p:sp>
      <p:sp>
        <p:nvSpPr>
          <p:cNvPr id="30" name="Text 28"/>
          <p:cNvSpPr/>
          <p:nvPr/>
        </p:nvSpPr>
        <p:spPr>
          <a:xfrm>
            <a:off x="5735389" y="2507754"/>
            <a:ext cx="2725501" cy="517922"/>
          </a:xfrm>
          <a:prstGeom prst="rect">
            <a:avLst/>
          </a:prstGeom>
          <a:noFill/>
          <a:ln/>
        </p:spPr>
        <p:txBody>
          <a:bodyPr wrap="square" lIns="0" tIns="0" rIns="0" bIns="0" rtlCol="0" anchor="t"/>
          <a:lstStyle/>
          <a:p>
            <a:pPr algn="l" indent="0" marL="0">
              <a:lnSpc>
                <a:spcPts val="2040"/>
              </a:lnSpc>
              <a:buNone/>
            </a:pPr>
            <a:r>
              <a:rPr lang="en-US" sz="1200" b="1" dirty="0">
                <a:solidFill>
                  <a:srgbClr val="FFFFFF"/>
                </a:solidFill>
                <a:latin typeface="Arial" pitchFamily="34" charset="0"/>
                <a:ea typeface="Arial" pitchFamily="34" charset="-122"/>
                <a:cs typeface="Arial" pitchFamily="34" charset="-120"/>
              </a:rPr>
              <a:t>「NEWTOWNのときだけ」から抜け出す最初の投稿を、今週打つ。</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アカウント土台構築戦略</dc:title>
  <dc:subject>PptxGenJS Presentation</dc:subject>
  <dc:creator>StreamerHub Marketing</dc:creator>
  <cp:lastModifiedBy>StreamerHub Marketing</cp:lastModifiedBy>
  <cp:revision>1</cp:revision>
  <dcterms:created xsi:type="dcterms:W3CDTF">2026-03-07T19:37:12Z</dcterms:created>
  <dcterms:modified xsi:type="dcterms:W3CDTF">2026-03-07T19:37:12Z</dcterms:modified>
</cp:coreProperties>
</file>