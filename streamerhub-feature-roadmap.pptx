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0" y="-762000"/>
            <a:ext cx="3810000" cy="3810000"/>
          </a:xfrm>
          <a:prstGeom prst="roundRect">
            <a:avLst>
              <a:gd name="adj" fmla="val 24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3365450"/>
            <a:ext cx="2286000" cy="2286000"/>
          </a:xfrm>
          <a:prstGeom prst="roundRect">
            <a:avLst>
              <a:gd name="adj" fmla="val 4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53594" y="1435745"/>
            <a:ext cx="2017812" cy="244376"/>
          </a:xfrm>
          <a:prstGeom prst="roundRect">
            <a:avLst>
              <a:gd name="adj" fmla="val 20788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14671" y="1486495"/>
            <a:ext cx="1695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ROADMAP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725" y="1908721"/>
            <a:ext cx="4403550" cy="110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70"/>
              </a:lnSpc>
              <a:spcAft>
                <a:spcPts val="10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StreamerHub</a:t>
            </a:r>
            <a:endParaRPr lang="en-US" sz="3800" dirty="0"/>
          </a:p>
          <a:p>
            <a:pPr algn="ctr" indent="0" marL="0">
              <a:lnSpc>
                <a:spcPts val="4370"/>
              </a:lnSpc>
              <a:spcAft>
                <a:spcPts val="10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機能ロードマップ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60725" y="3145631"/>
            <a:ext cx="4403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StreamerHub自体を知ってもらうための機能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725" y="3507581"/>
            <a:ext cx="4403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2026年3月8日生成 ／ Phase1（8ペルソナ × 5機能 = 40機能）+ Phase2評価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4901" y="4783187"/>
            <a:ext cx="7874198" cy="0"/>
          </a:xfrm>
          <a:prstGeom prst="line">
            <a:avLst/>
          </a:prstGeom>
          <a:noFill/>
          <a:ln w="9525">
            <a:solidFill>
              <a:srgbClr val="2E354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57126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47601"/>
            <a:ext cx="9144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28600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4317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評価プロセスと全体像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1311027"/>
            <a:ext cx="25908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目線エージェント（並列8本）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736378"/>
            <a:ext cx="2540050" cy="1441103"/>
          </a:xfrm>
          <a:prstGeom prst="roundRect">
            <a:avLst>
              <a:gd name="adj" fmla="val 7050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1763" y="1736378"/>
            <a:ext cx="0" cy="1441103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726" y="1914079"/>
            <a:ext cx="21278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726" y="2234654"/>
            <a:ext cx="21278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ペルソナ × 各5機能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726" y="2485430"/>
            <a:ext cx="212784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駆け出し・伸び悩み・中規模・VTuber運営者・ファン・スポンサー・MCN・競合分析YouTuber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3329880"/>
            <a:ext cx="2540050" cy="1098203"/>
          </a:xfrm>
          <a:prstGeom prst="roundRect">
            <a:avLst>
              <a:gd name="adj" fmla="val 9252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3329880"/>
            <a:ext cx="0" cy="1098203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726" y="3507581"/>
            <a:ext cx="21278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8726" y="3828157"/>
            <a:ext cx="21278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アイデア総数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726" y="4078932"/>
            <a:ext cx="21278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多角的な視点から収集した全機能候補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01901" y="1311027"/>
            <a:ext cx="25910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評価エージェント（並列3本）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01901" y="1736378"/>
            <a:ext cx="2540198" cy="777627"/>
          </a:xfrm>
          <a:prstGeom prst="roundRect">
            <a:avLst>
              <a:gd name="adj" fmla="val 13065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25713" y="1736378"/>
            <a:ext cx="0" cy="777627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2676" y="1914079"/>
            <a:ext cx="2127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技術実現性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52676" y="2164854"/>
            <a:ext cx="21279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 / NestJS / YouTube API 観点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01901" y="2666405"/>
            <a:ext cx="2540198" cy="949077"/>
          </a:xfrm>
          <a:prstGeom prst="roundRect">
            <a:avLst>
              <a:gd name="adj" fmla="val 10705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325713" y="2666405"/>
            <a:ext cx="0" cy="949077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52676" y="2844105"/>
            <a:ext cx="2127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競合差別化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52676" y="3094881"/>
            <a:ext cx="21279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SocialBlade / TubeBuddy / VidIQ との比較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01901" y="3767882"/>
            <a:ext cx="2540198" cy="949077"/>
          </a:xfrm>
          <a:prstGeom prst="roundRect">
            <a:avLst>
              <a:gd name="adj" fmla="val 10705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325713" y="3767882"/>
            <a:ext cx="0" cy="949077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52676" y="3945582"/>
            <a:ext cx="2127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マネタイズ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52676" y="4196358"/>
            <a:ext cx="21279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B2B高単価 / サブスク課金 / フリーミアム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96000" y="1311027"/>
            <a:ext cx="25908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集約・ロードマップ生成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96000" y="1736378"/>
            <a:ext cx="2540050" cy="980777"/>
          </a:xfrm>
          <a:prstGeom prst="roundRect">
            <a:avLst>
              <a:gd name="adj" fmla="val 10359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119813" y="1736378"/>
            <a:ext cx="0" cy="980777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6775" y="1914079"/>
            <a:ext cx="21278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最優先 5機能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46775" y="2196554"/>
            <a:ext cx="21278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差別化スコア5 ＋ 実現可能性High/Mid ＋ マネタイズ可能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96000" y="2869555"/>
            <a:ext cx="2540050" cy="809327"/>
          </a:xfrm>
          <a:prstGeom prst="roundRect">
            <a:avLst>
              <a:gd name="adj" fmla="val 12554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119813" y="2869555"/>
            <a:ext cx="0" cy="809327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46775" y="3047256"/>
            <a:ext cx="21278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中期候補 7機能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46775" y="3329732"/>
            <a:ext cx="21278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複数ペルソナから要望が重複した機能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57126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47601"/>
            <a:ext cx="9144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28600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PRIORITY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4317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最優先機能 TOP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1260277"/>
            <a:ext cx="8128099" cy="577751"/>
          </a:xfrm>
          <a:prstGeom prst="roundRect">
            <a:avLst>
              <a:gd name="adj" fmla="val 13189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463427"/>
            <a:ext cx="24712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機能名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57674" y="1463427"/>
            <a:ext cx="14122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対象ユーザー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33569" y="1463427"/>
            <a:ext cx="8825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差別化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97125" y="1463427"/>
            <a:ext cx="10591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難易度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45882" y="1463427"/>
            <a:ext cx="22064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収益モデル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1838027"/>
            <a:ext cx="8128099" cy="609302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7950" y="2442567"/>
            <a:ext cx="8128099" cy="0"/>
          </a:xfrm>
          <a:prstGeom prst="line">
            <a:avLst/>
          </a:prstGeom>
          <a:noFill/>
          <a:ln w="9525">
            <a:solidFill>
              <a:srgbClr val="2A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901" y="2047429"/>
            <a:ext cx="24712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50"/>
              </a:spcBef>
              <a:spcAft>
                <a:spcPts val="9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推し成長アルバム / Fan Journal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57674" y="2041178"/>
            <a:ext cx="14122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コアファン視聴者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3569" y="2041178"/>
            <a:ext cx="882592" cy="193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97125" y="2041178"/>
            <a:ext cx="105914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45882" y="2041178"/>
            <a:ext cx="22064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フリーミアム / SNSバイラル認知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2447330"/>
            <a:ext cx="8128099" cy="609302"/>
          </a:xfrm>
          <a:prstGeom prst="rect">
            <a:avLst/>
          </a:prstGeom>
          <a:solidFill>
            <a:srgbClr val="1A1E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7950" y="3051870"/>
            <a:ext cx="8128099" cy="0"/>
          </a:xfrm>
          <a:prstGeom prst="line">
            <a:avLst/>
          </a:prstGeom>
          <a:noFill/>
          <a:ln w="9525">
            <a:solidFill>
              <a:srgbClr val="2A3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901" y="2656731"/>
            <a:ext cx="24712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50"/>
              </a:spcBef>
              <a:spcAft>
                <a:spcPts val="9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DealTracker（案件ダッシュボード）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57674" y="2650480"/>
            <a:ext cx="14122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中規模クリエイター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3569" y="2650480"/>
            <a:ext cx="882592" cy="193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97125" y="2650480"/>
            <a:ext cx="105914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45882" y="2650480"/>
            <a:ext cx="22064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サブスク ¥4,980〜9,800/月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950" y="3056632"/>
            <a:ext cx="8128099" cy="609302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07950" y="3661172"/>
            <a:ext cx="8128099" cy="0"/>
          </a:xfrm>
          <a:prstGeom prst="line">
            <a:avLst/>
          </a:prstGeom>
          <a:noFill/>
          <a:ln w="9525">
            <a:solidFill>
              <a:srgbClr val="2A3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901" y="3266033"/>
            <a:ext cx="24712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50"/>
              </a:spcBef>
              <a:spcAft>
                <a:spcPts val="9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アーリーサイン検知アラート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57674" y="3259782"/>
            <a:ext cx="14122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MCN・タレント事務所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3569" y="3259782"/>
            <a:ext cx="882592" cy="193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97125" y="3259782"/>
            <a:ext cx="105914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45882" y="3259782"/>
            <a:ext cx="22064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¥30,000〜80,000/月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950" y="3665934"/>
            <a:ext cx="8128099" cy="609302"/>
          </a:xfrm>
          <a:prstGeom prst="rect">
            <a:avLst/>
          </a:prstGeom>
          <a:solidFill>
            <a:srgbClr val="1A1E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07950" y="4270474"/>
            <a:ext cx="8128099" cy="0"/>
          </a:xfrm>
          <a:prstGeom prst="line">
            <a:avLst/>
          </a:prstGeom>
          <a:noFill/>
          <a:ln w="9525">
            <a:solidFill>
              <a:srgbClr val="2A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901" y="3875336"/>
            <a:ext cx="24712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50"/>
              </a:spcBef>
              <a:spcAft>
                <a:spcPts val="9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Estimator（CPM・CPE予測）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57674" y="3869085"/>
            <a:ext cx="14122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スポンサー企業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33569" y="3869085"/>
            <a:ext cx="882592" cy="193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97125" y="3869085"/>
            <a:ext cx="105914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45882" y="3869085"/>
            <a:ext cx="22064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¥50,000〜150,000/月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7950" y="4275237"/>
            <a:ext cx="8128099" cy="609302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07950" y="4879777"/>
            <a:ext cx="8128099" cy="0"/>
          </a:xfrm>
          <a:prstGeom prst="line">
            <a:avLst/>
          </a:prstGeom>
          <a:noFill/>
          <a:ln w="9525">
            <a:solidFill>
              <a:srgbClr val="2A3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901" y="4484638"/>
            <a:ext cx="24712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50"/>
              </a:spcBef>
              <a:spcAft>
                <a:spcPts val="9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離脱ポイント可視化マップ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057674" y="4478387"/>
            <a:ext cx="14122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伸び悩みYouTuber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33569" y="4478387"/>
            <a:ext cx="882592" cy="193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97125" y="4478387"/>
            <a:ext cx="105914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E0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45882" y="4478387"/>
            <a:ext cx="22064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サブスク ¥1,980〜2,980/月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69827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60302"/>
            <a:ext cx="9144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533251"/>
            <a:ext cx="4034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81236" y="447526"/>
            <a:ext cx="39223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— コアファン視聴者向け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1236" y="657076"/>
            <a:ext cx="392233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推し成長アルバム ／ Fan Journal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1672977"/>
            <a:ext cx="491057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ンが推しチャンネルの成長を「物語として記録・共有」できる機能。マイルストーン達成（登録者10万人突破など）を時系列でアルバム化し、「自分が応援し始めてから〇個の節目を一緒に迎えた」を可視化する。SNSシェアを前提に設計することで、ファンが自然に「StreamerHubで見た」と発信するバイラル構造を生む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800052"/>
            <a:ext cx="4910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差別化ポイント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7950" y="2993678"/>
            <a:ext cx="491057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競合（SocialBlade等）は「数字の推移を見せるだけ」。推し体験を感情・物語として届けるジャンルは世界的に存在しない。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7950" y="3482578"/>
            <a:ext cx="4910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27043" y="1672977"/>
            <a:ext cx="3009007" cy="682526"/>
          </a:xfrm>
          <a:prstGeom prst="roundRect">
            <a:avLst>
              <a:gd name="adj" fmla="val 11164"/>
            </a:avLst>
          </a:prstGeom>
          <a:solidFill>
            <a:srgbClr val="2E1A4A"/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14268" y="1809452"/>
            <a:ext cx="26872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収益モデル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14268" y="1990427"/>
            <a:ext cx="2687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フリーミアム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7043" y="2482453"/>
            <a:ext cx="3009007" cy="824657"/>
          </a:xfrm>
          <a:prstGeom prst="roundRect">
            <a:avLst>
              <a:gd name="adj" fmla="val 9240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46093" y="2482453"/>
            <a:ext cx="0" cy="824657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2843" y="2609404"/>
            <a:ext cx="2667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技術スタック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42843" y="2860179"/>
            <a:ext cx="26678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ClickHouseの時系列スナップショット ＋ BullMQによる通知処理。YouTube API quota消費ゼロ。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7043" y="3434060"/>
            <a:ext cx="3009007" cy="984647"/>
          </a:xfrm>
          <a:prstGeom prst="roundRect">
            <a:avLst>
              <a:gd name="adj" fmla="val 7739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646093" y="3434060"/>
            <a:ext cx="0" cy="984647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2843" y="3561011"/>
            <a:ext cx="2667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戦略的意義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42843" y="3811786"/>
            <a:ext cx="266781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広告費ゼロで認知獲得できる「エンジン」として最初に公開。ファン流入からクリエイター課金へ繋げるフェーズ1の要。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69827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60302"/>
            <a:ext cx="9144000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533251"/>
            <a:ext cx="4034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81236" y="447526"/>
            <a:ext cx="52287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 — 中規模クリエイター（10万〜100万人）向け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1236" y="657076"/>
            <a:ext cx="52287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DealTracker — ブランド案件ダッシュボード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1672977"/>
            <a:ext cx="491057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案件ステータス管理 ×  YouTube実績データ自動取得 × スポンサー向けPDF生成を一画面で完結。Notion・スプレッドシート・CRMツールはYouTubeデータと自動連携できないため、StreamerHubが「案件管理と実績データが一体化した唯一の場所」になれる。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600027"/>
            <a:ext cx="4910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競合にないポイント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7950" y="2793653"/>
            <a:ext cx="491057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案件管理 × YouTube実績自動取得 × PDFレポート出力の一気通貫は競合ゼロ。中規模クリエイターは既に月収を得ており課金意欲が高い。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7950" y="3282553"/>
            <a:ext cx="4910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27043" y="1672977"/>
            <a:ext cx="3009007" cy="873026"/>
          </a:xfrm>
          <a:prstGeom prst="roundRect">
            <a:avLst>
              <a:gd name="adj" fmla="val 8728"/>
            </a:avLst>
          </a:prstGeom>
          <a:solidFill>
            <a:srgbClr val="1A2E1A"/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14268" y="1809452"/>
            <a:ext cx="26872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収益モデル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14268" y="1990427"/>
            <a:ext cx="268724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サブスク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¥4,980〜9,800/月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7043" y="2672953"/>
            <a:ext cx="3009007" cy="824657"/>
          </a:xfrm>
          <a:prstGeom prst="roundRect">
            <a:avLst>
              <a:gd name="adj" fmla="val 9240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46093" y="2672953"/>
            <a:ext cx="0" cy="824657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2843" y="2799904"/>
            <a:ext cx="2667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機能セット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42843" y="3050679"/>
            <a:ext cx="26678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案件ステータス管理 / 公開後の実績データ自動取得 / スポンサー向けPDFレポート生成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7043" y="3624560"/>
            <a:ext cx="3009007" cy="984647"/>
          </a:xfrm>
          <a:prstGeom prst="roundRect">
            <a:avLst>
              <a:gd name="adj" fmla="val 7739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646093" y="3624560"/>
            <a:ext cx="0" cy="984647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2843" y="3751511"/>
            <a:ext cx="2667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ARRへの貢献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42843" y="4002286"/>
            <a:ext cx="266781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月額安定課金により年間定期収益の安定柱になり得る。「使い始めると離れられない」ロック効果あり。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69827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60302"/>
            <a:ext cx="9144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533251"/>
            <a:ext cx="4034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81236" y="447526"/>
            <a:ext cx="60100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 — MCN・タレント事務所向け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1236" y="657076"/>
            <a:ext cx="60100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アーリーサイン検知アラート（Early Signal Alert）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1672977"/>
            <a:ext cx="491057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伸びてから気づく」プル型の既存ツールを「伸びる前に自動で知らせる」プッシュ型に転換。登録者1,000〜5,000人の段階で急成長の予兆を自動検知してSlack/LINEに通知。MCN・事務所のスカウト担当者が競合より先に動けるようにす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600027"/>
            <a:ext cx="4910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競合にないポイント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7950" y="2793653"/>
            <a:ext cx="491057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SocialBlade等は「伸びた後に確認する」プル型。StreamerHubのClickHouseによる大量チャンネル一括集計が機能価値に直結し、参入障壁を形成する。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7950" y="3282553"/>
            <a:ext cx="4910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27043" y="1672977"/>
            <a:ext cx="3009007" cy="815876"/>
          </a:xfrm>
          <a:prstGeom prst="roundRect">
            <a:avLst>
              <a:gd name="adj" fmla="val 9340"/>
            </a:avLst>
          </a:prstGeom>
          <a:solidFill>
            <a:srgbClr val="2E1A4A"/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14268" y="1809452"/>
            <a:ext cx="26872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収益モデル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14268" y="1990427"/>
            <a:ext cx="268724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¥30,000〜80,000/月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7043" y="2615803"/>
            <a:ext cx="3009007" cy="824657"/>
          </a:xfrm>
          <a:prstGeom prst="roundRect">
            <a:avLst>
              <a:gd name="adj" fmla="val 9240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46093" y="2615803"/>
            <a:ext cx="0" cy="824657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2843" y="2742754"/>
            <a:ext cx="2667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検知シグナル例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42843" y="2993529"/>
            <a:ext cx="26678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登録者増加率の急変 / 再生数の急上昇 / コメント率の跳ね上がり / 成長軌跡の類似チャンネルとの照合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7043" y="3567410"/>
            <a:ext cx="3009007" cy="824657"/>
          </a:xfrm>
          <a:prstGeom prst="roundRect">
            <a:avLst>
              <a:gd name="adj" fmla="val 9240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646093" y="3567410"/>
            <a:ext cx="0" cy="824657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2843" y="3694361"/>
            <a:ext cx="2667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支払い意欲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42843" y="3945136"/>
            <a:ext cx="26678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「競合事務所より先に動ける」という競争優位に直結するため、支払い意欲が極めて高い。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06376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96851"/>
            <a:ext cx="9144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03150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4063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3フェーズ実装ロードマップ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1209526"/>
            <a:ext cx="1691134" cy="3756273"/>
          </a:xfrm>
          <a:prstGeom prst="roundRect">
            <a:avLst>
              <a:gd name="adj" fmla="val 6008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228576"/>
            <a:ext cx="1691134" cy="0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651" y="1425327"/>
            <a:ext cx="13624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651" y="1609427"/>
            <a:ext cx="13624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今すぐ〜6ヶ月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651" y="1920478"/>
            <a:ext cx="1335732" cy="634901"/>
          </a:xfrm>
          <a:prstGeom prst="roundRect">
            <a:avLst>
              <a:gd name="adj" fmla="val 8001"/>
            </a:avLst>
          </a:prstGeom>
          <a:solidFill>
            <a:srgbClr val="252B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7152" y="1996678"/>
            <a:ext cx="11553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推し成長アルバム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7152" y="2193429"/>
            <a:ext cx="11553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SNSバイラルで認知獲得エンジンに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651" y="2631579"/>
            <a:ext cx="1335732" cy="596801"/>
          </a:xfrm>
          <a:prstGeom prst="roundRect">
            <a:avLst>
              <a:gd name="adj" fmla="val 8512"/>
            </a:avLst>
          </a:prstGeom>
          <a:solidFill>
            <a:srgbClr val="252B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7152" y="2707779"/>
            <a:ext cx="1155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Journal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7152" y="2866430"/>
            <a:ext cx="11553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広告費ゼロでの流入基盤を構築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51484" y="1209526"/>
            <a:ext cx="1691283" cy="3756273"/>
          </a:xfrm>
          <a:prstGeom prst="roundRect">
            <a:avLst>
              <a:gd name="adj" fmla="val 6007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351484" y="1228576"/>
            <a:ext cx="1691283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9185" y="1425327"/>
            <a:ext cx="1362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29185" y="1609427"/>
            <a:ext cx="1362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6〜12ヶ月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29185" y="1920478"/>
            <a:ext cx="1335881" cy="663476"/>
          </a:xfrm>
          <a:prstGeom prst="roundRect">
            <a:avLst>
              <a:gd name="adj" fmla="val 7657"/>
            </a:avLst>
          </a:prstGeom>
          <a:solidFill>
            <a:srgbClr val="252B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30686" y="1996678"/>
            <a:ext cx="11555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離脱ポイント可視化マップ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30686" y="2364879"/>
            <a:ext cx="11555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¥1,980〜2,980/月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29185" y="2660154"/>
            <a:ext cx="1335881" cy="453926"/>
          </a:xfrm>
          <a:prstGeom prst="roundRect">
            <a:avLst>
              <a:gd name="adj" fmla="val 11191"/>
            </a:avLst>
          </a:prstGeom>
          <a:solidFill>
            <a:srgbClr val="252B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30686" y="2736354"/>
            <a:ext cx="11555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DealTracker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30686" y="2895005"/>
            <a:ext cx="11555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¥4,980〜9,800/月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95167" y="1209526"/>
            <a:ext cx="1691283" cy="3756273"/>
          </a:xfrm>
          <a:prstGeom prst="roundRect">
            <a:avLst>
              <a:gd name="adj" fmla="val 6007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195167" y="1228576"/>
            <a:ext cx="1691283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2868" y="1425327"/>
            <a:ext cx="1362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72868" y="1609427"/>
            <a:ext cx="1362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12ヶ月以降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72868" y="1920478"/>
            <a:ext cx="1335881" cy="663476"/>
          </a:xfrm>
          <a:prstGeom prst="roundRect">
            <a:avLst>
              <a:gd name="adj" fmla="val 7657"/>
            </a:avLst>
          </a:prstGeom>
          <a:solidFill>
            <a:srgbClr val="252B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74369" y="1996678"/>
            <a:ext cx="11555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アーリーサイン検知アラート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74369" y="2364879"/>
            <a:ext cx="11555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¥30,000〜80,000/月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72868" y="2660154"/>
            <a:ext cx="1335881" cy="596801"/>
          </a:xfrm>
          <a:prstGeom prst="roundRect">
            <a:avLst>
              <a:gd name="adj" fmla="val 8512"/>
            </a:avLst>
          </a:prstGeom>
          <a:solidFill>
            <a:srgbClr val="252B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474369" y="2736354"/>
            <a:ext cx="11555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Estimator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74369" y="2895005"/>
            <a:ext cx="11555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¥50,000〜150,000/月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1250" y="1489472"/>
            <a:ext cx="2444800" cy="1087487"/>
          </a:xfrm>
          <a:prstGeom prst="roundRect">
            <a:avLst>
              <a:gd name="adj" fmla="val 7007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210300" y="1489472"/>
            <a:ext cx="0" cy="1087487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1750" y="1616422"/>
            <a:ext cx="21439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の戦略的意図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81750" y="1810048"/>
            <a:ext cx="214393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コアファン → クリエイター流入という認知拡大の流れを先に作る。バイラル拡散でプラットフォームへの流入を確保する。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91250" y="2703909"/>
            <a:ext cx="2444800" cy="927497"/>
          </a:xfrm>
          <a:prstGeom prst="roundRect">
            <a:avLst>
              <a:gd name="adj" fmla="val 8216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210300" y="2703909"/>
            <a:ext cx="0" cy="927497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1750" y="2830860"/>
            <a:ext cx="21439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の戦略的意図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81750" y="3024485"/>
            <a:ext cx="21439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ファン経由で流入したクリエイター自身が「自分のチャンネルも分析したい」と思った時に課金転換できる状態を作る。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91250" y="3758357"/>
            <a:ext cx="2444800" cy="927497"/>
          </a:xfrm>
          <a:prstGeom prst="roundRect">
            <a:avLst>
              <a:gd name="adj" fmla="val 8216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210300" y="3758357"/>
            <a:ext cx="0" cy="927497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1750" y="3885307"/>
            <a:ext cx="21439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の戦略的意図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81750" y="4078932"/>
            <a:ext cx="21439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法人契約を積み上げてLTVを最大化。導入事例・プレスリリースがさらなる認知拡大につながるサイクルを形成する。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151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66626"/>
            <a:ext cx="9144000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 CANDIDATES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7950" y="358676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中期実装候補 — 7機能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1003102"/>
            <a:ext cx="2641699" cy="1050578"/>
          </a:xfrm>
          <a:prstGeom prst="roundRect">
            <a:avLst>
              <a:gd name="adj" fmla="val 7253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022152"/>
            <a:ext cx="2641699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1390204"/>
            <a:ext cx="24355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炎上リスクアラート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4901" y="1609279"/>
            <a:ext cx="24355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VTuber事務所 / スポンサー企業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4901" y="1790254"/>
            <a:ext cx="24355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¥20,000〜50,000/月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51150" y="1003102"/>
            <a:ext cx="2641699" cy="1050578"/>
          </a:xfrm>
          <a:prstGeom prst="roundRect">
            <a:avLst>
              <a:gd name="adj" fmla="val 7253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51150" y="1022152"/>
            <a:ext cx="2641699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101" y="1390204"/>
            <a:ext cx="24355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EQI / 熱量スコア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78101" y="1609279"/>
            <a:ext cx="24355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スポンサー + MCNスカウト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78101" y="1790254"/>
            <a:ext cx="24355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¥30,000〜150,000/月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94350" y="1003102"/>
            <a:ext cx="2641699" cy="1050578"/>
          </a:xfrm>
          <a:prstGeom prst="roundRect">
            <a:avLst>
              <a:gd name="adj" fmla="val 7253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94350" y="1022152"/>
            <a:ext cx="2641699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1301" y="1390204"/>
            <a:ext cx="24355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タレント統合ダッシュボード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1301" y="1609279"/>
            <a:ext cx="24355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VTuber事務所 + MCN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1301" y="1790254"/>
            <a:ext cx="24355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¥30,000〜80,000/月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7950" y="2155180"/>
            <a:ext cx="2641699" cy="1050578"/>
          </a:xfrm>
          <a:prstGeom prst="roundRect">
            <a:avLst>
              <a:gd name="adj" fmla="val 7253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7950" y="2174230"/>
            <a:ext cx="2641699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901" y="2542282"/>
            <a:ext cx="24355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競合チャンネル解剖レポート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4901" y="2761357"/>
            <a:ext cx="24355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伸び悩み + 競合分析YouTuber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4901" y="2942332"/>
            <a:ext cx="24355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¥1,980〜2,980/月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51150" y="2155180"/>
            <a:ext cx="2641699" cy="1050578"/>
          </a:xfrm>
          <a:prstGeom prst="roundRect">
            <a:avLst>
              <a:gd name="adj" fmla="val 7253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51150" y="2174230"/>
            <a:ext cx="2641699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8101" y="2542282"/>
            <a:ext cx="2435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 Countdown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78101" y="2713732"/>
            <a:ext cx="24355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コアファン + 駆け出しYouTuber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78101" y="2894707"/>
            <a:ext cx="24355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フリーミアム / ¥300〜500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94350" y="2155180"/>
            <a:ext cx="2641699" cy="1050578"/>
          </a:xfrm>
          <a:prstGeom prst="roundRect">
            <a:avLst>
              <a:gd name="adj" fmla="val 7253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994350" y="2174230"/>
            <a:ext cx="2641699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1301" y="2542282"/>
            <a:ext cx="2435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AudienceRadar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1301" y="2713732"/>
            <a:ext cx="24355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中規模 + 駆け出しYouTuber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1301" y="2894707"/>
            <a:ext cx="24355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¥2,980〜4,980/月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7950" y="3307259"/>
            <a:ext cx="8128099" cy="1050578"/>
          </a:xfrm>
          <a:prstGeom prst="roundRect">
            <a:avLst>
              <a:gd name="adj" fmla="val 7253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07950" y="3326309"/>
            <a:ext cx="8128099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901" y="3694361"/>
            <a:ext cx="80316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成長軌跡シミュレーター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4901" y="3913436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MCNスカウト + 駆け出しYouTuber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4901" y="4094411"/>
            <a:ext cx="80316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¥50,000〜100,000/月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06376"/>
          </a:xfrm>
          <a:prstGeom prst="rect">
            <a:avLst/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96851"/>
            <a:ext cx="9144000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03150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DIRECTION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4063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StreamerHubの差別化3軸 ＆ 次のアクション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1209526"/>
            <a:ext cx="46547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差別化の核心 — 3軸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634877"/>
            <a:ext cx="4563517" cy="786705"/>
          </a:xfrm>
          <a:prstGeom prst="roundRect">
            <a:avLst>
              <a:gd name="adj" fmla="val 9686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17491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3972" y="181734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6651" y="1749177"/>
            <a:ext cx="3929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ファン向けの感情・物語設計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6651" y="1987302"/>
            <a:ext cx="392946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数字を物語として見せることでファンがアンバサダーになる構造を作る。競合の発想にないジャンル。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573982"/>
            <a:ext cx="4563517" cy="786705"/>
          </a:xfrm>
          <a:prstGeom prst="roundRect">
            <a:avLst>
              <a:gd name="adj" fmla="val 9686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50" y="268828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3972" y="275644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6651" y="2688282"/>
            <a:ext cx="3929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組織業務の効率化（BtoBアプローチ）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6651" y="2926407"/>
            <a:ext cx="392946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YouTuber・事務所・スポンサーの業務フローに直接刺さる設計。月額課金の正当化がしやすく解約率が低い。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513088"/>
            <a:ext cx="4563517" cy="786705"/>
          </a:xfrm>
          <a:prstGeom prst="roundRect">
            <a:avLst>
              <a:gd name="adj" fmla="val 9686"/>
            </a:avLst>
          </a:prstGeom>
          <a:solidFill>
            <a:srgbClr val="1E23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0350" y="362738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3972" y="369555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66651" y="3627388"/>
            <a:ext cx="3929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複合要因の解釈・仮説生成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6651" y="3865513"/>
            <a:ext cx="392946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7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競合は「数値を見せる」にとどまる。「なぜ・次に何をすべきか」を提示するレイヤーが最大の差別化軸。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76267" y="1563886"/>
            <a:ext cx="3259782" cy="1269802"/>
          </a:xfrm>
          <a:prstGeom prst="roundRect">
            <a:avLst>
              <a:gd name="adj" fmla="val 8001"/>
            </a:avLst>
          </a:prstGeom>
          <a:solidFill>
            <a:srgbClr val="1A2E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00080" y="1563886"/>
            <a:ext cx="0" cy="1269802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7043" y="1767036"/>
            <a:ext cx="2861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27043" y="2001887"/>
            <a:ext cx="286197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「知ってもらう」だけでなく「使い続けてもらう」ために、この3軸を一貫させてプロダクト設計することが条件。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76267" y="2986088"/>
            <a:ext cx="3259782" cy="1599902"/>
          </a:xfrm>
          <a:prstGeom prst="roundRect">
            <a:avLst>
              <a:gd name="adj" fmla="val 6350"/>
            </a:avLst>
          </a:prstGeom>
          <a:solidFill>
            <a:srgbClr val="2E1A4A"/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63493" y="3173313"/>
            <a:ext cx="29430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次のアクション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63493" y="3446264"/>
            <a:ext cx="29430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詳細設計: /feature-proposal で各機能のKPI・MVPを落とし込む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63493" y="3922514"/>
            <a:ext cx="29430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別テーマ: 「スポンサー向け機能を深掘り」など絞ったテーマで再ブレスト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StreamerHub 機能ロードマップ 2026</dc:title>
  <dc:subject>PptxGenJS Presentation</dc:subject>
  <dc:creator>StreamerHub Marketing</dc:creator>
  <cp:lastModifiedBy>StreamerHub Marketing</cp:lastModifiedBy>
  <cp:revision>1</cp:revision>
  <dcterms:created xsi:type="dcterms:W3CDTF">2026-03-08T15:40:19Z</dcterms:created>
  <dcterms:modified xsi:type="dcterms:W3CDTF">2026-03-08T15:40:19Z</dcterms:modified>
</cp:coreProperties>
</file>